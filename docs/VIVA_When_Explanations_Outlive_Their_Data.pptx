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Mean completed journeys</c:v>
                </c:pt>
              </c:strCache>
            </c:strRef>
          </c:tx>
          <c:spPr>
            <a:solidFill>
              <a:srgbClr val="7E8C98"/>
            </a:solidFill>
            <a:effectLst/>
          </c:spPr>
          <c:invertIfNegative val="0"/>
          <c:dLbls>
            <c:numFmt formatCode="0.00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7E8C98"/>
              </a:solidFill>
              <a:effectLst/>
            </c:spPr>
          </c:dPt>
          <c:dPt>
            <c:idx val="1"/>
            <c:invertIfNegative val="0"/>
            <c:bubble3D val="0"/>
            <c:spPr>
              <a:solidFill>
                <a:srgbClr val="7E8C98"/>
              </a:solidFill>
              <a:effectLst/>
            </c:spPr>
          </c:dPt>
          <c:dPt>
            <c:idx val="2"/>
            <c:invertIfNegative val="0"/>
            <c:bubble3D val="0"/>
            <c:spPr>
              <a:solidFill>
                <a:srgbClr val="8FA6B5"/>
              </a:solidFill>
              <a:effectLst/>
            </c:spPr>
          </c:dPt>
          <c:dPt>
            <c:idx val="3"/>
            <c:invertIfNegative val="0"/>
            <c:bubble3D val="0"/>
            <c:spPr>
              <a:solidFill>
                <a:srgbClr val="35D6E8"/>
              </a:solidFill>
              <a:effectLst/>
            </c:spPr>
          </c:dPt>
          <c:dPt>
            <c:idx val="4"/>
            <c:invertIfNegative val="0"/>
            <c:bubble3D val="0"/>
            <c:spPr>
              <a:solidFill>
                <a:srgbClr val="F0A030"/>
              </a:solidFill>
              <a:effectLst/>
            </c:spPr>
          </c:dPt>
          <c:cat>
            <c:multiLvlStrRef>
              <c:f>Sheet1!$A$2:$A$6</c:f>
              <c:multiLvlStrCache>
                <c:ptCount val="5"/>
                <c:lvl>
                  <c:pt idx="0">
                    <c:v>Legal random</c:v>
                  </c:pt>
                  <c:pt idx="1">
                    <c:v>Greedy nearest</c:v>
                  </c:pt>
                  <c:pt idx="2">
                    <c:v>MLP</c:v>
                  </c:pt>
                  <c:pt idx="3">
                    <c:v>GAT</c:v>
                  </c:pt>
                  <c:pt idx="4">
                    <c:v>GAT-Outage</c:v>
                  </c:pt>
                </c:lvl>
              </c:multiLvlStrCache>
            </c:multiLvlStrRef>
          </c:cat>
          <c:val>
            <c:numRef>
              <c:f>Sheet1!$B$2:$B$6</c:f>
              <c:numCache>
                <c:formatCode>General</c:formatCode>
                <c:ptCount val="5"/>
                <c:pt idx="0">
                  <c:v>12.708</c:v>
                </c:pt>
                <c:pt idx="1">
                  <c:v>12</c:v>
                </c:pt>
                <c:pt idx="2">
                  <c:v>12.472</c:v>
                </c:pt>
                <c:pt idx="3">
                  <c:v>12.674</c:v>
                </c:pt>
                <c:pt idx="4">
                  <c:v>12.799</c:v>
                </c:pt>
              </c:numCache>
            </c:numRef>
          </c:val>
        </c:ser>
        <c:dLbls>
          <c:numFmt formatCode="0.00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max val="13.4"/>
          <c:min val="11.5"/>
        </c:scaling>
        <c:delete val="0"/>
        <c:axPos val="b"/>
        <c:majorGridlines>
          <c:spPr>
            <a:ln w="12700" cap="flat">
              <a:solidFill>
                <a:srgbClr val="4B5761"/>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AFBDC8"/>
                </a:solidFill>
                <a:latin typeface="Arial"/>
              </a:defRPr>
            </a:pPr>
            <a:endParaRPr lang="en-US"/>
          </a:p>
        </c:txPr>
        <c:crossAx val="2094734554"/>
        <c:crosses val="autoZero"/>
        <c:crossBetween val="between"/>
      </c:valAx>
      <c:spPr>
        <a:solidFill>
          <a:srgbClr val="2F3A43"/>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FFFFF"/>
                </a:solidFill>
                <a:latin typeface="Arial"/>
              </a:defRPr>
            </a:pPr>
            <a:r>
              <a:rPr sz="1200" b="0" i="0" u="none" strike="noStrike">
                <a:solidFill>
                  <a:srgbClr val="FFFFFF"/>
                </a:solidFill>
                <a:latin typeface="Arial"/>
              </a:rPr>
              <a:t>Stale exposure (WAMSN) rises with outage duration</a:t>
            </a:r>
          </a:p>
        </c:rich>
      </c:tx>
      <c:layout/>
      <c:overlay val="0"/>
    </c:title>
    <c:autoTitleDeleted val="0"/>
    <c:plotArea>
      <c:layout/>
      <c:lineChart>
        <c:varyColors val="0"/>
        <c:ser>
          <c:idx val="0"/>
          <c:order val="0"/>
          <c:tx>
            <c:strRef>
              <c:f>Sheet1!$B$1</c:f>
              <c:strCache>
                <c:ptCount val="1"/>
                <c:pt idx="0">
                  <c:v>WAMSN</c:v>
                </c:pt>
              </c:strCache>
            </c:strRef>
          </c:tx>
          <c:spPr>
            <a:solidFill>
              <a:srgbClr val="F0A030"/>
            </a:solidFill>
            <a:ln w="38100" cap="flat">
              <a:solidFill>
                <a:srgbClr val="F0A03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F0A030"/>
              </a:solidFill>
              <a:ln w="9525" cap="flat">
                <a:solidFill>
                  <a:srgbClr val="F0A030"/>
                </a:solidFill>
                <a:prstDash val="solid"/>
                <a:round/>
              </a:ln>
              <a:effectLst/>
            </c:spPr>
          </c:marker>
          <c:cat>
            <c:multiLvlStrRef>
              <c:f>Sheet1!$A$2:$A$6</c:f>
              <c:multiLvlStrCache>
                <c:ptCount val="5"/>
                <c:lvl>
                  <c:pt idx="0">
                    <c:v>0 s</c:v>
                  </c:pt>
                  <c:pt idx="1">
                    <c:v>10 s</c:v>
                  </c:pt>
                  <c:pt idx="2">
                    <c:v>20 s</c:v>
                  </c:pt>
                  <c:pt idx="3">
                    <c:v>30 s</c:v>
                  </c:pt>
                  <c:pt idx="4">
                    <c:v>60 s</c:v>
                  </c:pt>
                </c:lvl>
              </c:multiLvlStrCache>
            </c:multiLvlStrRef>
          </c:cat>
          <c:val>
            <c:numRef>
              <c:f>Sheet1!$B$2:$B$6</c:f>
              <c:numCache>
                <c:formatCode>General</c:formatCode>
                <c:ptCount val="5"/>
                <c:pt idx="0">
                  <c:v>0</c:v>
                </c:pt>
                <c:pt idx="1">
                  <c:v>0.028</c:v>
                </c:pt>
                <c:pt idx="2">
                  <c:v>0.04</c:v>
                </c:pt>
                <c:pt idx="3">
                  <c:v>0.054</c:v>
                </c:pt>
                <c:pt idx="4">
                  <c:v>0.074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4B5761"/>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AFBDC8"/>
                </a:solidFill>
                <a:latin typeface="Arial"/>
              </a:defRPr>
            </a:pPr>
            <a:endParaRPr lang="en-US"/>
          </a:p>
        </c:txPr>
        <c:crossAx val="2094734554"/>
        <c:crosses val="autoZero"/>
        <c:crossBetween val="between"/>
      </c:valAx>
      <c:spPr>
        <a:solidFill>
          <a:srgbClr val="2F3A43"/>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My dissertation asks one question: when vehicle telemetry becomes stale, can raw graph-attention weights still be trusted as explanations of a fleet-dispatch decision. Twenty minutes: problem, method, evidence,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taxi enters a tunnel. SUMO keeps moving the true vehicle, but the policy keeps its last valid position and Age of Information grows. The attention map is still rendered in full, so the explanation stays available after its evidence has expired. That gap is faithfulness decoupling.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central question, four operational questions. RQ1 is the clean baseline. RQ2 is the paired response to degradation. RQ3 is consistency across durations and checkpoints. RQ4 asks whether degradation-aware training fixes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literatures exist: attention as explanation, GNN faithfulness, and Age of Information. None puts freshness and faithfulness on the same decisions inside a graph-attention dispatch policy, and none turns that evidence into a release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SUMO microscopic simulation, twenty taxis, fifty passenger requests. Each taxi sees a local graph of itself, up to five peer taxis and up to five requests. GAT-MAPPO with centralised training and decentralised execution. Attention is read out read-only; the policy is never modified. The key detail: a request node is both information and an available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flaw in the standard faithfulness test. Occluding a request node deletes the action being explained, so the output collapses for a structural reason. Occluding a peer taxi removes information only. A uniform random baseline mixes the two and manufactures apparent faithfulness.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corrected protocol adds three controls. Type matching: the random subset has the same taxi and request mix. Chosen-action protection: the selected request is never deleted. Clamp logging: counterfactual margin clamps are counted so action deletion is detectable. Two extra baselines frame the result — leave-one-out as a positive control, gradient times input as an attention-free comparator.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Trigger and degradation are separate. Tunnel entry starts the outage; the outage exists only at the observation layer. SUMO keeps simulating the true state, and a read-only clean twin scores the same decision on that true state. Four fixed durations: ten, twenty, thirty and sixty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measures answering two different questions. DEF compares the attention top-k with a type-matched, action-protected random subset and asks whether removing it changes the decision more. WAMSN weights attention by normalised Age of Information and measures how much displayed attention sits on stale vehicle data. WAMSN contains AoI by definition, so it is a manipulation check, not a faithfulness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model conditions, three independent training seeds each. Validation selects one checkpoint per run; the test split is never read during selection. Checkpoints are frozen and the held-out evaluation never reselects. That gives 432 clean capability evaluations and 1,440 faithfulness sweep episodes, with five hypotheses declared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Capability first, as context. All three learned policies complete roughly twelve and a half to thirteen journeys per episode, inside the legal-random confidence interval and close to the greedy baseline. So the audited policies genuinely dispatch — they are worth auditing. It does not show that GAT beats the baselines, and it says nothing about the attention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result, and it appears before any degradation. Under clean telemetry raw attention margin-DEF is negative in all four model conditions, with every 95% interval below zero — attention does worse than a type-matched random subset. The same evaluator gives a clearly positive response to the leave-one-out ranking, so the instrument works. The failure belongs to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manipulation worked: conditional WAMSN rises from about 0.028 at ten seconds to 0.074 at sixty, supported in all six checkpoints with correlations of 0.458 to 0.477 after Holm correction. But the predicted decline in DEF never appears. H1 is zero of six, and H4's predicted negative association is also zero of six — every correlation is positive, the opposite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evidence. Same architecture, same thirty-second outage, six independently trained checkpoints, comparing each degraded decision with its exact clean twin. Three shift toward stale nodes, two shift away, and GAT seed 43 is inconclusive because its interval crosses zero. Direction follows the training seed, not the training condition — both seed-44 checkpoints are negative.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combined number hides the worse case. Dispatch is 80.2% of scorable decisions and its DEF moves positive; no-op is 19.8% and its DEF moves negative in every single checkpoint. The headline positive figure is carried entirely by the larger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single true attention map. Changing the head, the layer, or the aggregation rule changes the answer. Every one of the six checkpoints has at least one audited head, layer, maximum or rollout rule that reverses the direction of its declared stale-attention shift. That is why the extraction rule has to be declared before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RQ4 asked whether training with thirty-second outages repairs the instability. It does not. DEF still varies across checkpoints, the seed disagreement is not removed, and decision relevance still fails. One caution I state myself: the two configurations use different training budgets, so this comparison describes two fitted models and cannot isolate outage training as the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practical contribution. Nine release checks in six groups take frozen checkpoints and held-out evidence and return ELIGIBLE, WITHHOLD or INCOMPLETE. Applied to this study, the first three groups pass and the last three fail, so both model families and all six checkpoints return WITHHOLD. The framework governs release; it does not repair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answers, briefly. RQ1: no — margin-DEF is negative while LOO is positive. RQ2: it changes, but not in one direction. RQ3: exposure rises consistently while the predicted decline never appears, and the result varies by action type and extraction rule. RQ4: the tested outage-trained configuration does not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I state myself: one simulated district, twenty taxis, three seeds per model; a small local graph that compresses DEF resolution; LOO as a positive control rather than ground truth; fixed freezes rather than realistic delay or partial failure; and different training budgets between the two configurations. Future work runs on three levels: an explicit explanation objective in training, validation on multiple road networks and realistic loss processes, and a human-factors test of freshness warnings.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attention can outlive the data on which it was calculated, but its continued presence is not proof that it explains the decision. Four contributions — the paired benchmark, the action-aware protocol, freshness and faithfulness reported separately, and the release audit. Thank you; I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questions: the bounded claim, the predeclared aggregation, WITHHOLD as a working outcome, and why the design needs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9454F"/>
        </a:solidFill>
      </p:bgPr>
    </p:bg>
    <p:spTree>
      <p:nvGrpSpPr>
        <p:cNvPr id="1" name=""/>
        <p:cNvGrpSpPr/>
        <p:nvPr/>
      </p:nvGrpSpPr>
      <p:grpSpPr>
        <a:xfrm>
          <a:off x="0" y="0"/>
          <a:ext cx="0" cy="0"/>
          <a:chOff x="0" y="0"/>
          <a:chExt cx="0" cy="0"/>
        </a:xfrm>
      </p:grpSpPr>
      <p:sp>
        <p:nvSpPr>
          <p:cNvPr id="3" name="Shape 0"/>
          <p:cNvSpPr/>
          <p:nvPr/>
        </p:nvSpPr>
        <p:spPr>
          <a:xfrm>
            <a:off x="201168" y="201168"/>
            <a:ext cx="384048" cy="0"/>
          </a:xfrm>
          <a:prstGeom prst="line">
            <a:avLst/>
          </a:prstGeom>
          <a:noFill/>
          <a:ln w="12700">
            <a:solidFill>
              <a:srgbClr val="66757F"/>
            </a:solidFill>
            <a:prstDash val="solid"/>
          </a:ln>
        </p:spPr>
      </p:sp>
      <p:sp>
        <p:nvSpPr>
          <p:cNvPr id="4" name="Shape 1"/>
          <p:cNvSpPr/>
          <p:nvPr/>
        </p:nvSpPr>
        <p:spPr>
          <a:xfrm>
            <a:off x="201168" y="201168"/>
            <a:ext cx="0" cy="384048"/>
          </a:xfrm>
          <a:prstGeom prst="line">
            <a:avLst/>
          </a:prstGeom>
          <a:noFill/>
          <a:ln w="12700">
            <a:solidFill>
              <a:srgbClr val="66757F"/>
            </a:solidFill>
            <a:prstDash val="solid"/>
          </a:ln>
        </p:spPr>
      </p:sp>
      <p:sp>
        <p:nvSpPr>
          <p:cNvPr id="5" name="Shape 2"/>
          <p:cNvSpPr/>
          <p:nvPr/>
        </p:nvSpPr>
        <p:spPr>
          <a:xfrm flipH="1">
            <a:off x="11603736" y="201168"/>
            <a:ext cx="384048" cy="0"/>
          </a:xfrm>
          <a:prstGeom prst="line">
            <a:avLst/>
          </a:prstGeom>
          <a:noFill/>
          <a:ln w="12700">
            <a:solidFill>
              <a:srgbClr val="66757F"/>
            </a:solidFill>
            <a:prstDash val="solid"/>
          </a:ln>
        </p:spPr>
      </p:sp>
      <p:sp>
        <p:nvSpPr>
          <p:cNvPr id="6" name="Shape 3"/>
          <p:cNvSpPr/>
          <p:nvPr/>
        </p:nvSpPr>
        <p:spPr>
          <a:xfrm>
            <a:off x="11987784" y="201168"/>
            <a:ext cx="0" cy="384048"/>
          </a:xfrm>
          <a:prstGeom prst="line">
            <a:avLst/>
          </a:prstGeom>
          <a:noFill/>
          <a:ln w="12700">
            <a:solidFill>
              <a:srgbClr val="66757F"/>
            </a:solidFill>
            <a:prstDash val="solid"/>
          </a:ln>
        </p:spPr>
      </p:sp>
      <p:sp>
        <p:nvSpPr>
          <p:cNvPr id="7" name="Shape 4"/>
          <p:cNvSpPr/>
          <p:nvPr/>
        </p:nvSpPr>
        <p:spPr>
          <a:xfrm>
            <a:off x="201168" y="6656832"/>
            <a:ext cx="384048" cy="0"/>
          </a:xfrm>
          <a:prstGeom prst="line">
            <a:avLst/>
          </a:prstGeom>
          <a:noFill/>
          <a:ln w="12700">
            <a:solidFill>
              <a:srgbClr val="66757F"/>
            </a:solidFill>
            <a:prstDash val="solid"/>
          </a:ln>
        </p:spPr>
      </p:sp>
      <p:sp>
        <p:nvSpPr>
          <p:cNvPr id="8" name="Shape 5"/>
          <p:cNvSpPr/>
          <p:nvPr/>
        </p:nvSpPr>
        <p:spPr>
          <a:xfrm flipV="1">
            <a:off x="201168" y="6272784"/>
            <a:ext cx="0" cy="384048"/>
          </a:xfrm>
          <a:prstGeom prst="line">
            <a:avLst/>
          </a:prstGeom>
          <a:noFill/>
          <a:ln w="12700">
            <a:solidFill>
              <a:srgbClr val="66757F"/>
            </a:solidFill>
            <a:prstDash val="solid"/>
          </a:ln>
        </p:spPr>
      </p:sp>
      <p:sp>
        <p:nvSpPr>
          <p:cNvPr id="9" name="Shape 6"/>
          <p:cNvSpPr/>
          <p:nvPr/>
        </p:nvSpPr>
        <p:spPr>
          <a:xfrm flipH="1">
            <a:off x="11603736" y="6656832"/>
            <a:ext cx="384048" cy="0"/>
          </a:xfrm>
          <a:prstGeom prst="line">
            <a:avLst/>
          </a:prstGeom>
          <a:noFill/>
          <a:ln w="12700">
            <a:solidFill>
              <a:srgbClr val="66757F"/>
            </a:solidFill>
            <a:prstDash val="solid"/>
          </a:ln>
        </p:spPr>
      </p:sp>
      <p:sp>
        <p:nvSpPr>
          <p:cNvPr id="10" name="Shape 7"/>
          <p:cNvSpPr/>
          <p:nvPr/>
        </p:nvSpPr>
        <p:spPr>
          <a:xfrm flipV="1">
            <a:off x="11987784" y="6272784"/>
            <a:ext cx="0" cy="384048"/>
          </a:xfrm>
          <a:prstGeom prst="line">
            <a:avLst/>
          </a:prstGeom>
          <a:noFill/>
          <a:ln w="12700">
            <a:solidFill>
              <a:srgbClr val="66757F"/>
            </a:solidFill>
            <a:prstDash val="solid"/>
          </a:ln>
        </p:spPr>
      </p:sp>
      <p:sp>
        <p:nvSpPr>
          <p:cNvPr id="11" name="Shape 8"/>
          <p:cNvSpPr/>
          <p:nvPr/>
        </p:nvSpPr>
        <p:spPr>
          <a:xfrm>
            <a:off x="6003036" y="182880"/>
            <a:ext cx="182880" cy="0"/>
          </a:xfrm>
          <a:prstGeom prst="line">
            <a:avLst/>
          </a:prstGeom>
          <a:noFill/>
          <a:ln w="12700">
            <a:solidFill>
              <a:srgbClr val="66757F"/>
            </a:solidFill>
            <a:prstDash val="solid"/>
          </a:ln>
        </p:spPr>
      </p:sp>
      <p:sp>
        <p:nvSpPr>
          <p:cNvPr id="12" name="Shape 9"/>
          <p:cNvSpPr/>
          <p:nvPr/>
        </p:nvSpPr>
        <p:spPr>
          <a:xfrm>
            <a:off x="6094476" y="91440"/>
            <a:ext cx="0" cy="182880"/>
          </a:xfrm>
          <a:prstGeom prst="line">
            <a:avLst/>
          </a:prstGeom>
          <a:noFill/>
          <a:ln w="12700">
            <a:solidFill>
              <a:srgbClr val="66757F"/>
            </a:solidFill>
            <a:prstDash val="solid"/>
          </a:ln>
        </p:spPr>
      </p:sp>
      <p:sp>
        <p:nvSpPr>
          <p:cNvPr id="13" name="Shape 10"/>
          <p:cNvSpPr/>
          <p:nvPr/>
        </p:nvSpPr>
        <p:spPr>
          <a:xfrm>
            <a:off x="6003036" y="6675120"/>
            <a:ext cx="182880" cy="0"/>
          </a:xfrm>
          <a:prstGeom prst="line">
            <a:avLst/>
          </a:prstGeom>
          <a:noFill/>
          <a:ln w="12700">
            <a:solidFill>
              <a:srgbClr val="66757F"/>
            </a:solidFill>
            <a:prstDash val="solid"/>
          </a:ln>
        </p:spPr>
      </p:sp>
      <p:sp>
        <p:nvSpPr>
          <p:cNvPr id="14" name="Shape 11"/>
          <p:cNvSpPr/>
          <p:nvPr/>
        </p:nvSpPr>
        <p:spPr>
          <a:xfrm>
            <a:off x="6094476" y="6583680"/>
            <a:ext cx="0" cy="182880"/>
          </a:xfrm>
          <a:prstGeom prst="line">
            <a:avLst/>
          </a:prstGeom>
          <a:noFill/>
          <a:ln w="12700">
            <a:solidFill>
              <a:srgbClr val="66757F"/>
            </a:solidFill>
            <a:prstDash val="solid"/>
          </a:ln>
        </p:spPr>
      </p:sp>
      <p:sp>
        <p:nvSpPr>
          <p:cNvPr id="15" name="Shape 12"/>
          <p:cNvSpPr/>
          <p:nvPr/>
        </p:nvSpPr>
        <p:spPr>
          <a:xfrm>
            <a:off x="91440" y="3429000"/>
            <a:ext cx="182880" cy="0"/>
          </a:xfrm>
          <a:prstGeom prst="line">
            <a:avLst/>
          </a:prstGeom>
          <a:noFill/>
          <a:ln w="12700">
            <a:solidFill>
              <a:srgbClr val="66757F"/>
            </a:solidFill>
            <a:prstDash val="solid"/>
          </a:ln>
        </p:spPr>
      </p:sp>
      <p:sp>
        <p:nvSpPr>
          <p:cNvPr id="16" name="Shape 13"/>
          <p:cNvSpPr/>
          <p:nvPr/>
        </p:nvSpPr>
        <p:spPr>
          <a:xfrm>
            <a:off x="182880" y="3337560"/>
            <a:ext cx="0" cy="182880"/>
          </a:xfrm>
          <a:prstGeom prst="line">
            <a:avLst/>
          </a:prstGeom>
          <a:noFill/>
          <a:ln w="12700">
            <a:solidFill>
              <a:srgbClr val="66757F"/>
            </a:solidFill>
            <a:prstDash val="solid"/>
          </a:ln>
        </p:spPr>
      </p:sp>
      <p:sp>
        <p:nvSpPr>
          <p:cNvPr id="17" name="Shape 14"/>
          <p:cNvSpPr/>
          <p:nvPr/>
        </p:nvSpPr>
        <p:spPr>
          <a:xfrm>
            <a:off x="11914632" y="3429000"/>
            <a:ext cx="182880" cy="0"/>
          </a:xfrm>
          <a:prstGeom prst="line">
            <a:avLst/>
          </a:prstGeom>
          <a:noFill/>
          <a:ln w="12700">
            <a:solidFill>
              <a:srgbClr val="66757F"/>
            </a:solidFill>
            <a:prstDash val="solid"/>
          </a:ln>
        </p:spPr>
      </p:sp>
      <p:sp>
        <p:nvSpPr>
          <p:cNvPr id="18" name="Shape 15"/>
          <p:cNvSpPr/>
          <p:nvPr/>
        </p:nvSpPr>
        <p:spPr>
          <a:xfrm>
            <a:off x="12006072" y="3337560"/>
            <a:ext cx="0" cy="182880"/>
          </a:xfrm>
          <a:prstGeom prst="line">
            <a:avLst/>
          </a:prstGeom>
          <a:noFill/>
          <a:ln w="12700">
            <a:solidFill>
              <a:srgbClr val="66757F"/>
            </a:solidFill>
            <a:prstDash val="solid"/>
          </a:ln>
        </p:spPr>
      </p:sp>
      <p:sp>
        <p:nvSpPr>
          <p:cNvPr id="19" name="Text 16"/>
          <p:cNvSpPr txBox="1"/>
          <p:nvPr/>
        </p:nvSpPr>
        <p:spPr>
          <a:xfrm>
            <a:off x="822960" y="1417320"/>
            <a:ext cx="6766560" cy="77724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When Explanations</a:t>
            </a:r>
            <a:endParaRPr lang="en-US" sz="4400" dirty="0"/>
          </a:p>
        </p:txBody>
      </p:sp>
      <p:sp>
        <p:nvSpPr>
          <p:cNvPr id="20" name="Text 17"/>
          <p:cNvSpPr txBox="1"/>
          <p:nvPr/>
        </p:nvSpPr>
        <p:spPr>
          <a:xfrm>
            <a:off x="822960" y="2167128"/>
            <a:ext cx="6766560" cy="777240"/>
          </a:xfrm>
          <a:prstGeom prst="rect">
            <a:avLst/>
          </a:prstGeom>
          <a:noFill/>
          <a:ln/>
        </p:spPr>
        <p:txBody>
          <a:bodyPr wrap="square" lIns="0" tIns="0" rIns="0" bIns="0" rtlCol="0" anchor="t"/>
          <a:lstStyle/>
          <a:p>
            <a:pPr indent="0" marL="0">
              <a:buNone/>
            </a:pPr>
            <a:r>
              <a:rPr lang="en-US" sz="4400" b="1" dirty="0">
                <a:solidFill>
                  <a:srgbClr val="35D6E8"/>
                </a:solidFill>
                <a:latin typeface="Arial" pitchFamily="34" charset="0"/>
                <a:ea typeface="Arial" pitchFamily="34" charset="-122"/>
                <a:cs typeface="Arial" pitchFamily="34" charset="-120"/>
              </a:rPr>
              <a:t>Outlive Their Data</a:t>
            </a:r>
            <a:endParaRPr lang="en-US" sz="4400" dirty="0"/>
          </a:p>
        </p:txBody>
      </p:sp>
      <p:sp>
        <p:nvSpPr>
          <p:cNvPr id="21" name="Text 18"/>
          <p:cNvSpPr txBox="1"/>
          <p:nvPr/>
        </p:nvSpPr>
        <p:spPr>
          <a:xfrm>
            <a:off x="822960" y="3063240"/>
            <a:ext cx="6400800" cy="731520"/>
          </a:xfrm>
          <a:prstGeom prst="rect">
            <a:avLst/>
          </a:prstGeom>
          <a:noFill/>
          <a:ln/>
        </p:spPr>
        <p:txBody>
          <a:bodyPr wrap="square" lIns="0" tIns="0" rIns="0" bIns="0" rtlCol="0" anchor="t"/>
          <a:lstStyle/>
          <a:p>
            <a:pPr indent="0" marL="0">
              <a:lnSpc>
                <a:spcPct val="130000"/>
              </a:lnSpc>
              <a:buNone/>
            </a:pPr>
            <a:r>
              <a:rPr lang="en-US" sz="1500" dirty="0">
                <a:solidFill>
                  <a:srgbClr val="AFBDC8"/>
                </a:solidFill>
                <a:latin typeface="Arial" pitchFamily="34" charset="0"/>
                <a:ea typeface="Arial" pitchFamily="34" charset="-122"/>
                <a:cs typeface="Arial" pitchFamily="34" charset="-120"/>
              </a:rPr>
              <a:t>Faithfulness decoupling in graph-attention MARL fleet dispatch under telemetry degradation</a:t>
            </a:r>
            <a:endParaRPr lang="en-US" sz="1500" dirty="0"/>
          </a:p>
        </p:txBody>
      </p:sp>
      <p:sp>
        <p:nvSpPr>
          <p:cNvPr id="22" name="Shape 19"/>
          <p:cNvSpPr/>
          <p:nvPr/>
        </p:nvSpPr>
        <p:spPr>
          <a:xfrm>
            <a:off x="850392" y="4023360"/>
            <a:ext cx="2258568" cy="0"/>
          </a:xfrm>
          <a:prstGeom prst="line">
            <a:avLst/>
          </a:prstGeom>
          <a:noFill/>
          <a:ln w="25400">
            <a:solidFill>
              <a:srgbClr val="35D6E8"/>
            </a:solidFill>
            <a:prstDash val="solid"/>
          </a:ln>
        </p:spPr>
      </p:sp>
      <p:sp>
        <p:nvSpPr>
          <p:cNvPr id="23" name="Text 20"/>
          <p:cNvSpPr txBox="1"/>
          <p:nvPr/>
        </p:nvSpPr>
        <p:spPr>
          <a:xfrm>
            <a:off x="822960" y="4251960"/>
            <a:ext cx="6400800" cy="274320"/>
          </a:xfrm>
          <a:prstGeom prst="rect">
            <a:avLst/>
          </a:prstGeom>
          <a:noFill/>
          <a:ln/>
        </p:spPr>
        <p:txBody>
          <a:bodyPr wrap="square" lIns="0" tIns="0" rIns="0" bIns="0" rtlCol="0" anchor="t"/>
          <a:lstStyle/>
          <a:p>
            <a:pPr indent="0" marL="0">
              <a:buNone/>
            </a:pPr>
            <a:r>
              <a:rPr lang="en-US" sz="1200" b="1" dirty="0">
                <a:solidFill>
                  <a:srgbClr val="35D6E8"/>
                </a:solidFill>
                <a:latin typeface="Arial" pitchFamily="34" charset="0"/>
                <a:ea typeface="Arial" pitchFamily="34" charset="-122"/>
                <a:cs typeface="Arial" pitchFamily="34" charset="-120"/>
              </a:rPr>
              <a:t>MSc Artificial Intelligence  ·  VIVA</a:t>
            </a:r>
            <a:endParaRPr lang="en-US" sz="1200" dirty="0"/>
          </a:p>
        </p:txBody>
      </p:sp>
      <p:sp>
        <p:nvSpPr>
          <p:cNvPr id="24" name="Text 21"/>
          <p:cNvSpPr txBox="1"/>
          <p:nvPr/>
        </p:nvSpPr>
        <p:spPr>
          <a:xfrm>
            <a:off x="822960" y="4599432"/>
            <a:ext cx="6400800" cy="1005840"/>
          </a:xfrm>
          <a:prstGeom prst="rect">
            <a:avLst/>
          </a:prstGeom>
          <a:noFill/>
          <a:ln/>
        </p:spPr>
        <p:txBody>
          <a:bodyPr wrap="square" lIns="0" tIns="0" rIns="0" bIns="0" rtlCol="0" anchor="t"/>
          <a:lstStyle/>
          <a:p>
            <a:pPr indent="0" marL="0">
              <a:lnSpc>
                <a:spcPct val="135000"/>
              </a:lnSpc>
              <a:buNone/>
            </a:pPr>
            <a:r>
              <a:rPr lang="en-US" sz="1300" dirty="0">
                <a:solidFill>
                  <a:srgbClr val="FFFFFF"/>
                </a:solidFill>
                <a:latin typeface="Arial" pitchFamily="34" charset="0"/>
                <a:ea typeface="Arial" pitchFamily="34" charset="-122"/>
                <a:cs typeface="Arial" pitchFamily="34" charset="-120"/>
              </a:rPr>
              <a:t>Hongwei Lin  ·  P2982757</a:t>
            </a:r>
            <a:endParaRPr lang="en-US" sz="1300" dirty="0"/>
          </a:p>
          <a:p>
            <a:pPr indent="0" marL="0">
              <a:lnSpc>
                <a:spcPct val="135000"/>
              </a:lnSpc>
              <a:buNone/>
            </a:pPr>
            <a:r>
              <a:rPr lang="en-US" sz="1300" dirty="0">
                <a:solidFill>
                  <a:srgbClr val="FFFFFF"/>
                </a:solidFill>
                <a:latin typeface="Arial" pitchFamily="34" charset="0"/>
                <a:ea typeface="Arial" pitchFamily="34" charset="-122"/>
                <a:cs typeface="Arial" pitchFamily="34" charset="-120"/>
              </a:rPr>
              <a:t>Supervisor: Dr Farhan S. Ujager</a:t>
            </a:r>
            <a:endParaRPr lang="en-US" sz="1300" dirty="0"/>
          </a:p>
          <a:p>
            <a:pPr indent="0" marL="0">
              <a:lnSpc>
                <a:spcPct val="135000"/>
              </a:lnSpc>
              <a:buNone/>
            </a:pPr>
            <a:r>
              <a:rPr lang="en-US" sz="1300" dirty="0">
                <a:solidFill>
                  <a:srgbClr val="FFFFFF"/>
                </a:solidFill>
                <a:latin typeface="Arial" pitchFamily="34" charset="0"/>
                <a:ea typeface="Arial" pitchFamily="34" charset="-122"/>
                <a:cs typeface="Arial" pitchFamily="34" charset="-120"/>
              </a:rPr>
              <a:t>School of Computing, De Montfort University Dubai  ·  September 2026</a:t>
            </a:r>
            <a:endParaRPr lang="en-US" sz="1300" dirty="0"/>
          </a:p>
        </p:txBody>
      </p:sp>
      <p:sp>
        <p:nvSpPr>
          <p:cNvPr id="25" name="Shape 22"/>
          <p:cNvSpPr/>
          <p:nvPr/>
        </p:nvSpPr>
        <p:spPr>
          <a:xfrm flipV="1">
            <a:off x="9601200" y="1737360"/>
            <a:ext cx="1417320" cy="1645920"/>
          </a:xfrm>
          <a:prstGeom prst="line">
            <a:avLst/>
          </a:prstGeom>
          <a:noFill/>
          <a:ln w="19050">
            <a:solidFill>
              <a:srgbClr val="35D6E8"/>
            </a:solidFill>
            <a:prstDash val="solid"/>
          </a:ln>
        </p:spPr>
      </p:sp>
      <p:sp>
        <p:nvSpPr>
          <p:cNvPr id="26" name="Shape 23"/>
          <p:cNvSpPr/>
          <p:nvPr/>
        </p:nvSpPr>
        <p:spPr>
          <a:xfrm>
            <a:off x="10872216" y="1591056"/>
            <a:ext cx="292608" cy="292608"/>
          </a:xfrm>
          <a:prstGeom prst="ellipse">
            <a:avLst/>
          </a:prstGeom>
          <a:solidFill>
            <a:srgbClr val="35D6E8"/>
          </a:solidFill>
          <a:ln w="12700">
            <a:solidFill>
              <a:srgbClr val="35D6E8"/>
            </a:solidFill>
            <a:prstDash val="solid"/>
          </a:ln>
        </p:spPr>
      </p:sp>
      <p:sp>
        <p:nvSpPr>
          <p:cNvPr id="27" name="Shape 24"/>
          <p:cNvSpPr/>
          <p:nvPr/>
        </p:nvSpPr>
        <p:spPr>
          <a:xfrm flipH="1">
            <a:off x="8229600" y="3383280"/>
            <a:ext cx="1371600" cy="1463040"/>
          </a:xfrm>
          <a:prstGeom prst="line">
            <a:avLst/>
          </a:prstGeom>
          <a:noFill/>
          <a:ln w="19050">
            <a:solidFill>
              <a:srgbClr val="35D6E8"/>
            </a:solidFill>
            <a:prstDash val="solid"/>
          </a:ln>
        </p:spPr>
      </p:sp>
      <p:sp>
        <p:nvSpPr>
          <p:cNvPr id="28" name="Shape 25"/>
          <p:cNvSpPr/>
          <p:nvPr/>
        </p:nvSpPr>
        <p:spPr>
          <a:xfrm>
            <a:off x="8083296" y="4700016"/>
            <a:ext cx="292608" cy="292608"/>
          </a:xfrm>
          <a:prstGeom prst="ellipse">
            <a:avLst/>
          </a:prstGeom>
          <a:solidFill>
            <a:srgbClr val="35D6E8"/>
          </a:solidFill>
          <a:ln w="12700">
            <a:solidFill>
              <a:srgbClr val="35D6E8"/>
            </a:solidFill>
            <a:prstDash val="solid"/>
          </a:ln>
        </p:spPr>
      </p:sp>
      <p:sp>
        <p:nvSpPr>
          <p:cNvPr id="29" name="Shape 26"/>
          <p:cNvSpPr/>
          <p:nvPr/>
        </p:nvSpPr>
        <p:spPr>
          <a:xfrm>
            <a:off x="9601200" y="3383280"/>
            <a:ext cx="1280160" cy="1645920"/>
          </a:xfrm>
          <a:prstGeom prst="line">
            <a:avLst/>
          </a:prstGeom>
          <a:noFill/>
          <a:ln w="19050">
            <a:solidFill>
              <a:srgbClr val="35D6E8"/>
            </a:solidFill>
            <a:prstDash val="solid"/>
          </a:ln>
        </p:spPr>
      </p:sp>
      <p:sp>
        <p:nvSpPr>
          <p:cNvPr id="30" name="Shape 27"/>
          <p:cNvSpPr/>
          <p:nvPr/>
        </p:nvSpPr>
        <p:spPr>
          <a:xfrm>
            <a:off x="10735056" y="4882896"/>
            <a:ext cx="292608" cy="292608"/>
          </a:xfrm>
          <a:prstGeom prst="ellipse">
            <a:avLst/>
          </a:prstGeom>
          <a:solidFill>
            <a:srgbClr val="35D6E8"/>
          </a:solidFill>
          <a:ln w="12700">
            <a:solidFill>
              <a:srgbClr val="35D6E8"/>
            </a:solidFill>
            <a:prstDash val="solid"/>
          </a:ln>
        </p:spPr>
      </p:sp>
      <p:sp>
        <p:nvSpPr>
          <p:cNvPr id="31" name="Shape 28"/>
          <p:cNvSpPr/>
          <p:nvPr/>
        </p:nvSpPr>
        <p:spPr>
          <a:xfrm flipH="1" flipV="1">
            <a:off x="8092440" y="2240280"/>
            <a:ext cx="1508760" cy="1143000"/>
          </a:xfrm>
          <a:prstGeom prst="line">
            <a:avLst/>
          </a:prstGeom>
          <a:noFill/>
          <a:ln w="19050">
            <a:solidFill>
              <a:srgbClr val="35D6E8"/>
            </a:solidFill>
            <a:prstDash val="solid"/>
          </a:ln>
        </p:spPr>
      </p:sp>
      <p:sp>
        <p:nvSpPr>
          <p:cNvPr id="32" name="Shape 29"/>
          <p:cNvSpPr/>
          <p:nvPr/>
        </p:nvSpPr>
        <p:spPr>
          <a:xfrm>
            <a:off x="7946136" y="2093976"/>
            <a:ext cx="292608" cy="292608"/>
          </a:xfrm>
          <a:prstGeom prst="ellipse">
            <a:avLst/>
          </a:prstGeom>
          <a:solidFill>
            <a:srgbClr val="35D6E8"/>
          </a:solidFill>
          <a:ln w="12700">
            <a:solidFill>
              <a:srgbClr val="35D6E8"/>
            </a:solidFill>
            <a:prstDash val="solid"/>
          </a:ln>
        </p:spPr>
      </p:sp>
      <p:sp>
        <p:nvSpPr>
          <p:cNvPr id="33" name="Shape 30"/>
          <p:cNvSpPr/>
          <p:nvPr/>
        </p:nvSpPr>
        <p:spPr>
          <a:xfrm>
            <a:off x="9601200" y="3383280"/>
            <a:ext cx="2011680" cy="0"/>
          </a:xfrm>
          <a:prstGeom prst="line">
            <a:avLst/>
          </a:prstGeom>
          <a:noFill/>
          <a:ln w="25400">
            <a:solidFill>
              <a:srgbClr val="F0A030"/>
            </a:solidFill>
            <a:prstDash val="dash"/>
          </a:ln>
        </p:spPr>
      </p:sp>
      <p:sp>
        <p:nvSpPr>
          <p:cNvPr id="34" name="Shape 31"/>
          <p:cNvSpPr/>
          <p:nvPr/>
        </p:nvSpPr>
        <p:spPr>
          <a:xfrm>
            <a:off x="11448288" y="3218688"/>
            <a:ext cx="329184" cy="329184"/>
          </a:xfrm>
          <a:prstGeom prst="ellipse">
            <a:avLst/>
          </a:prstGeom>
          <a:solidFill>
            <a:srgbClr val="F0A030"/>
          </a:solidFill>
          <a:ln w="12700">
            <a:solidFill>
              <a:srgbClr val="F0A030"/>
            </a:solidFill>
            <a:prstDash val="solid"/>
          </a:ln>
        </p:spPr>
      </p:sp>
      <p:sp>
        <p:nvSpPr>
          <p:cNvPr id="35" name="Shape 32"/>
          <p:cNvSpPr/>
          <p:nvPr/>
        </p:nvSpPr>
        <p:spPr>
          <a:xfrm>
            <a:off x="11311128" y="3081528"/>
            <a:ext cx="603504" cy="603504"/>
          </a:xfrm>
          <a:prstGeom prst="ellipse">
            <a:avLst/>
          </a:prstGeom>
          <a:solidFill>
            <a:srgbClr val="39454F">
              <a:alpha val="0"/>
            </a:srgbClr>
          </a:solidFill>
          <a:ln w="19050">
            <a:solidFill>
              <a:srgbClr val="F0A030"/>
            </a:solidFill>
            <a:prstDash val="solid"/>
          </a:ln>
        </p:spPr>
      </p:sp>
      <p:sp>
        <p:nvSpPr>
          <p:cNvPr id="36" name="Shape 33"/>
          <p:cNvSpPr/>
          <p:nvPr/>
        </p:nvSpPr>
        <p:spPr>
          <a:xfrm>
            <a:off x="9354312" y="3136392"/>
            <a:ext cx="493776" cy="493776"/>
          </a:xfrm>
          <a:prstGeom prst="ellipse">
            <a:avLst/>
          </a:prstGeom>
          <a:solidFill>
            <a:srgbClr val="35D6E8"/>
          </a:solidFill>
          <a:ln w="12700">
            <a:solidFill>
              <a:srgbClr val="35D6E8"/>
            </a:solidFill>
            <a:prstDash val="solid"/>
          </a:ln>
        </p:spPr>
      </p:sp>
      <p:sp>
        <p:nvSpPr>
          <p:cNvPr id="37" name="Text 34"/>
          <p:cNvSpPr txBox="1"/>
          <p:nvPr/>
        </p:nvSpPr>
        <p:spPr>
          <a:xfrm>
            <a:off x="11247120" y="3803904"/>
            <a:ext cx="822960" cy="228600"/>
          </a:xfrm>
          <a:prstGeom prst="rect">
            <a:avLst/>
          </a:prstGeom>
          <a:noFill/>
          <a:ln/>
        </p:spPr>
        <p:txBody>
          <a:bodyPr wrap="square" lIns="0" tIns="0" rIns="0" bIns="0" rtlCol="0" anchor="t"/>
          <a:lstStyle/>
          <a:p>
            <a:pPr algn="ctr" indent="0" marL="0">
              <a:buNone/>
            </a:pPr>
            <a:r>
              <a:rPr lang="en-US" sz="1000" b="1" dirty="0">
                <a:solidFill>
                  <a:srgbClr val="F0A030"/>
                </a:solidFill>
                <a:latin typeface="Arial" pitchFamily="34" charset="0"/>
                <a:ea typeface="Arial" pitchFamily="34" charset="-122"/>
                <a:cs typeface="Arial" pitchFamily="34" charset="-120"/>
              </a:rPr>
              <a:t>stale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39454F"/>
        </a:solidFill>
      </p:bgPr>
    </p:bg>
    <p:spTree>
      <p:nvGrpSpPr>
        <p:cNvPr id="1" name=""/>
        <p:cNvGrpSpPr/>
        <p:nvPr/>
      </p:nvGrpSpPr>
      <p:grpSpPr>
        <a:xfrm>
          <a:off x="0" y="0"/>
          <a:ext cx="0" cy="0"/>
          <a:chOff x="0" y="0"/>
          <a:chExt cx="0" cy="0"/>
        </a:xfrm>
      </p:grpSpPr>
      <p:sp>
        <p:nvSpPr>
          <p:cNvPr id="3" name="Shape 0"/>
          <p:cNvSpPr/>
          <p:nvPr/>
        </p:nvSpPr>
        <p:spPr>
          <a:xfrm>
            <a:off x="201168" y="201168"/>
            <a:ext cx="384048" cy="0"/>
          </a:xfrm>
          <a:prstGeom prst="line">
            <a:avLst/>
          </a:prstGeom>
          <a:noFill/>
          <a:ln w="12700">
            <a:solidFill>
              <a:srgbClr val="66757F"/>
            </a:solidFill>
            <a:prstDash val="solid"/>
          </a:ln>
        </p:spPr>
      </p:sp>
      <p:sp>
        <p:nvSpPr>
          <p:cNvPr id="4" name="Shape 1"/>
          <p:cNvSpPr/>
          <p:nvPr/>
        </p:nvSpPr>
        <p:spPr>
          <a:xfrm>
            <a:off x="201168" y="201168"/>
            <a:ext cx="0" cy="384048"/>
          </a:xfrm>
          <a:prstGeom prst="line">
            <a:avLst/>
          </a:prstGeom>
          <a:noFill/>
          <a:ln w="12700">
            <a:solidFill>
              <a:srgbClr val="66757F"/>
            </a:solidFill>
            <a:prstDash val="solid"/>
          </a:ln>
        </p:spPr>
      </p:sp>
      <p:sp>
        <p:nvSpPr>
          <p:cNvPr id="5" name="Shape 2"/>
          <p:cNvSpPr/>
          <p:nvPr/>
        </p:nvSpPr>
        <p:spPr>
          <a:xfrm flipH="1">
            <a:off x="11603736" y="201168"/>
            <a:ext cx="384048" cy="0"/>
          </a:xfrm>
          <a:prstGeom prst="line">
            <a:avLst/>
          </a:prstGeom>
          <a:noFill/>
          <a:ln w="12700">
            <a:solidFill>
              <a:srgbClr val="66757F"/>
            </a:solidFill>
            <a:prstDash val="solid"/>
          </a:ln>
        </p:spPr>
      </p:sp>
      <p:sp>
        <p:nvSpPr>
          <p:cNvPr id="6" name="Shape 3"/>
          <p:cNvSpPr/>
          <p:nvPr/>
        </p:nvSpPr>
        <p:spPr>
          <a:xfrm>
            <a:off x="11987784" y="201168"/>
            <a:ext cx="0" cy="384048"/>
          </a:xfrm>
          <a:prstGeom prst="line">
            <a:avLst/>
          </a:prstGeom>
          <a:noFill/>
          <a:ln w="12700">
            <a:solidFill>
              <a:srgbClr val="66757F"/>
            </a:solidFill>
            <a:prstDash val="solid"/>
          </a:ln>
        </p:spPr>
      </p:sp>
      <p:sp>
        <p:nvSpPr>
          <p:cNvPr id="7" name="Shape 4"/>
          <p:cNvSpPr/>
          <p:nvPr/>
        </p:nvSpPr>
        <p:spPr>
          <a:xfrm>
            <a:off x="201168" y="6656832"/>
            <a:ext cx="384048" cy="0"/>
          </a:xfrm>
          <a:prstGeom prst="line">
            <a:avLst/>
          </a:prstGeom>
          <a:noFill/>
          <a:ln w="12700">
            <a:solidFill>
              <a:srgbClr val="66757F"/>
            </a:solidFill>
            <a:prstDash val="solid"/>
          </a:ln>
        </p:spPr>
      </p:sp>
      <p:sp>
        <p:nvSpPr>
          <p:cNvPr id="8" name="Shape 5"/>
          <p:cNvSpPr/>
          <p:nvPr/>
        </p:nvSpPr>
        <p:spPr>
          <a:xfrm flipV="1">
            <a:off x="201168" y="6272784"/>
            <a:ext cx="0" cy="384048"/>
          </a:xfrm>
          <a:prstGeom prst="line">
            <a:avLst/>
          </a:prstGeom>
          <a:noFill/>
          <a:ln w="12700">
            <a:solidFill>
              <a:srgbClr val="66757F"/>
            </a:solidFill>
            <a:prstDash val="solid"/>
          </a:ln>
        </p:spPr>
      </p:sp>
      <p:sp>
        <p:nvSpPr>
          <p:cNvPr id="9" name="Shape 6"/>
          <p:cNvSpPr/>
          <p:nvPr/>
        </p:nvSpPr>
        <p:spPr>
          <a:xfrm flipH="1">
            <a:off x="11603736" y="6656832"/>
            <a:ext cx="384048" cy="0"/>
          </a:xfrm>
          <a:prstGeom prst="line">
            <a:avLst/>
          </a:prstGeom>
          <a:noFill/>
          <a:ln w="12700">
            <a:solidFill>
              <a:srgbClr val="66757F"/>
            </a:solidFill>
            <a:prstDash val="solid"/>
          </a:ln>
        </p:spPr>
      </p:sp>
      <p:sp>
        <p:nvSpPr>
          <p:cNvPr id="10" name="Shape 7"/>
          <p:cNvSpPr/>
          <p:nvPr/>
        </p:nvSpPr>
        <p:spPr>
          <a:xfrm flipV="1">
            <a:off x="11987784" y="6272784"/>
            <a:ext cx="0" cy="384048"/>
          </a:xfrm>
          <a:prstGeom prst="line">
            <a:avLst/>
          </a:prstGeom>
          <a:noFill/>
          <a:ln w="12700">
            <a:solidFill>
              <a:srgbClr val="66757F"/>
            </a:solidFill>
            <a:prstDash val="solid"/>
          </a:ln>
        </p:spPr>
      </p:sp>
      <p:sp>
        <p:nvSpPr>
          <p:cNvPr id="11" name="Shape 8"/>
          <p:cNvSpPr/>
          <p:nvPr/>
        </p:nvSpPr>
        <p:spPr>
          <a:xfrm>
            <a:off x="6003036" y="182880"/>
            <a:ext cx="182880" cy="0"/>
          </a:xfrm>
          <a:prstGeom prst="line">
            <a:avLst/>
          </a:prstGeom>
          <a:noFill/>
          <a:ln w="12700">
            <a:solidFill>
              <a:srgbClr val="66757F"/>
            </a:solidFill>
            <a:prstDash val="solid"/>
          </a:ln>
        </p:spPr>
      </p:sp>
      <p:sp>
        <p:nvSpPr>
          <p:cNvPr id="12" name="Shape 9"/>
          <p:cNvSpPr/>
          <p:nvPr/>
        </p:nvSpPr>
        <p:spPr>
          <a:xfrm>
            <a:off x="6094476" y="91440"/>
            <a:ext cx="0" cy="182880"/>
          </a:xfrm>
          <a:prstGeom prst="line">
            <a:avLst/>
          </a:prstGeom>
          <a:noFill/>
          <a:ln w="12700">
            <a:solidFill>
              <a:srgbClr val="66757F"/>
            </a:solidFill>
            <a:prstDash val="solid"/>
          </a:ln>
        </p:spPr>
      </p:sp>
      <p:sp>
        <p:nvSpPr>
          <p:cNvPr id="13" name="Shape 10"/>
          <p:cNvSpPr/>
          <p:nvPr/>
        </p:nvSpPr>
        <p:spPr>
          <a:xfrm>
            <a:off x="6003036" y="6675120"/>
            <a:ext cx="182880" cy="0"/>
          </a:xfrm>
          <a:prstGeom prst="line">
            <a:avLst/>
          </a:prstGeom>
          <a:noFill/>
          <a:ln w="12700">
            <a:solidFill>
              <a:srgbClr val="66757F"/>
            </a:solidFill>
            <a:prstDash val="solid"/>
          </a:ln>
        </p:spPr>
      </p:sp>
      <p:sp>
        <p:nvSpPr>
          <p:cNvPr id="14" name="Shape 11"/>
          <p:cNvSpPr/>
          <p:nvPr/>
        </p:nvSpPr>
        <p:spPr>
          <a:xfrm>
            <a:off x="6094476" y="6583680"/>
            <a:ext cx="0" cy="182880"/>
          </a:xfrm>
          <a:prstGeom prst="line">
            <a:avLst/>
          </a:prstGeom>
          <a:noFill/>
          <a:ln w="12700">
            <a:solidFill>
              <a:srgbClr val="66757F"/>
            </a:solidFill>
            <a:prstDash val="solid"/>
          </a:ln>
        </p:spPr>
      </p:sp>
      <p:sp>
        <p:nvSpPr>
          <p:cNvPr id="15" name="Shape 12"/>
          <p:cNvSpPr/>
          <p:nvPr/>
        </p:nvSpPr>
        <p:spPr>
          <a:xfrm>
            <a:off x="91440" y="3429000"/>
            <a:ext cx="182880" cy="0"/>
          </a:xfrm>
          <a:prstGeom prst="line">
            <a:avLst/>
          </a:prstGeom>
          <a:noFill/>
          <a:ln w="12700">
            <a:solidFill>
              <a:srgbClr val="66757F"/>
            </a:solidFill>
            <a:prstDash val="solid"/>
          </a:ln>
        </p:spPr>
      </p:sp>
      <p:sp>
        <p:nvSpPr>
          <p:cNvPr id="16" name="Shape 13"/>
          <p:cNvSpPr/>
          <p:nvPr/>
        </p:nvSpPr>
        <p:spPr>
          <a:xfrm>
            <a:off x="182880" y="3337560"/>
            <a:ext cx="0" cy="182880"/>
          </a:xfrm>
          <a:prstGeom prst="line">
            <a:avLst/>
          </a:prstGeom>
          <a:noFill/>
          <a:ln w="12700">
            <a:solidFill>
              <a:srgbClr val="66757F"/>
            </a:solidFill>
            <a:prstDash val="solid"/>
          </a:ln>
        </p:spPr>
      </p:sp>
      <p:sp>
        <p:nvSpPr>
          <p:cNvPr id="17" name="Shape 14"/>
          <p:cNvSpPr/>
          <p:nvPr/>
        </p:nvSpPr>
        <p:spPr>
          <a:xfrm>
            <a:off x="11914632" y="3429000"/>
            <a:ext cx="182880" cy="0"/>
          </a:xfrm>
          <a:prstGeom prst="line">
            <a:avLst/>
          </a:prstGeom>
          <a:noFill/>
          <a:ln w="12700">
            <a:solidFill>
              <a:srgbClr val="66757F"/>
            </a:solidFill>
            <a:prstDash val="solid"/>
          </a:ln>
        </p:spPr>
      </p:sp>
      <p:sp>
        <p:nvSpPr>
          <p:cNvPr id="18" name="Shape 15"/>
          <p:cNvSpPr/>
          <p:nvPr/>
        </p:nvSpPr>
        <p:spPr>
          <a:xfrm>
            <a:off x="12006072" y="3337560"/>
            <a:ext cx="0" cy="182880"/>
          </a:xfrm>
          <a:prstGeom prst="line">
            <a:avLst/>
          </a:prstGeom>
          <a:noFill/>
          <a:ln w="12700">
            <a:solidFill>
              <a:srgbClr val="66757F"/>
            </a:solidFill>
            <a:prstDash val="solid"/>
          </a:ln>
        </p:spPr>
      </p:sp>
      <p:sp>
        <p:nvSpPr>
          <p:cNvPr id="19" name="Text 16"/>
          <p:cNvSpPr txBox="1"/>
          <p:nvPr/>
        </p:nvSpPr>
        <p:spPr>
          <a:xfrm>
            <a:off x="566928" y="329184"/>
            <a:ext cx="11064240" cy="566928"/>
          </a:xfrm>
          <a:prstGeom prst="rect">
            <a:avLst/>
          </a:prstGeom>
          <a:noFill/>
          <a:ln/>
        </p:spPr>
        <p:txBody>
          <a:bodyPr wrap="square" lIns="0" tIns="0" rIns="0" bIns="0" rtlCol="0" anchor="t"/>
          <a:lstStyle/>
          <a:p>
            <a:pPr indent="0" marL="0">
              <a:buNone/>
            </a:pPr>
            <a:r>
              <a:rPr lang="en-US" sz="2900" b="1" dirty="0">
                <a:solidFill>
                  <a:srgbClr val="FFFFFF"/>
                </a:solidFill>
                <a:latin typeface="Arial" pitchFamily="34" charset="0"/>
                <a:ea typeface="Arial" pitchFamily="34" charset="-122"/>
                <a:cs typeface="Arial" pitchFamily="34" charset="-120"/>
              </a:rPr>
              <a:t>The Core Problem: Faithfulness Decoupling</a:t>
            </a:r>
            <a:endParaRPr lang="en-US" sz="2900" dirty="0"/>
          </a:p>
        </p:txBody>
      </p:sp>
      <p:sp>
        <p:nvSpPr>
          <p:cNvPr id="20" name="Shape 17"/>
          <p:cNvSpPr/>
          <p:nvPr/>
        </p:nvSpPr>
        <p:spPr>
          <a:xfrm>
            <a:off x="548640" y="1143000"/>
            <a:ext cx="7818120" cy="4251960"/>
          </a:xfrm>
          <a:prstGeom prst="roundRect">
            <a:avLst>
              <a:gd name="adj" fmla="val 1290"/>
            </a:avLst>
          </a:prstGeom>
          <a:solidFill>
            <a:srgbClr val="2F3A43"/>
          </a:solidFill>
          <a:ln w="12700">
            <a:solidFill>
              <a:srgbClr val="5A6772"/>
            </a:solidFill>
            <a:prstDash val="solid"/>
          </a:ln>
        </p:spPr>
      </p:sp>
      <p:sp>
        <p:nvSpPr>
          <p:cNvPr id="21" name="Text 18"/>
          <p:cNvSpPr txBox="1"/>
          <p:nvPr/>
        </p:nvSpPr>
        <p:spPr>
          <a:xfrm>
            <a:off x="777240" y="1920240"/>
            <a:ext cx="1691640" cy="457200"/>
          </a:xfrm>
          <a:prstGeom prst="rect">
            <a:avLst/>
          </a:prstGeom>
          <a:noFill/>
          <a:ln/>
        </p:spPr>
        <p:txBody>
          <a:bodyPr wrap="square" lIns="0" tIns="0" rIns="0" bIns="0" rtlCol="0" anchor="t"/>
          <a:lstStyle/>
          <a:p>
            <a:pPr indent="0" marL="0">
              <a:lnSpc>
                <a:spcPct val="115000"/>
              </a:lnSpc>
              <a:buNone/>
            </a:pPr>
            <a:r>
              <a:rPr lang="en-US" sz="1200" b="1" dirty="0">
                <a:solidFill>
                  <a:srgbClr val="5FC98B"/>
                </a:solidFill>
                <a:latin typeface="Arial" pitchFamily="34" charset="0"/>
                <a:ea typeface="Arial" pitchFamily="34" charset="-122"/>
                <a:cs typeface="Arial" pitchFamily="34" charset="-120"/>
              </a:rPr>
              <a:t>SUMO true state</a:t>
            </a:r>
            <a:endParaRPr lang="en-US" sz="1200" dirty="0"/>
          </a:p>
        </p:txBody>
      </p:sp>
      <p:sp>
        <p:nvSpPr>
          <p:cNvPr id="22" name="Text 19"/>
          <p:cNvSpPr txBox="1"/>
          <p:nvPr/>
        </p:nvSpPr>
        <p:spPr>
          <a:xfrm>
            <a:off x="777240" y="3703320"/>
            <a:ext cx="1691640" cy="457200"/>
          </a:xfrm>
          <a:prstGeom prst="rect">
            <a:avLst/>
          </a:prstGeom>
          <a:noFill/>
          <a:ln/>
        </p:spPr>
        <p:txBody>
          <a:bodyPr wrap="square" lIns="0" tIns="0" rIns="0" bIns="0" rtlCol="0" anchor="t"/>
          <a:lstStyle/>
          <a:p>
            <a:pPr indent="0" marL="0">
              <a:lnSpc>
                <a:spcPct val="115000"/>
              </a:lnSpc>
              <a:buNone/>
            </a:pPr>
            <a:r>
              <a:rPr lang="en-US" sz="1200" b="1" dirty="0">
                <a:solidFill>
                  <a:srgbClr val="F0A030"/>
                </a:solidFill>
                <a:latin typeface="Arial" pitchFamily="34" charset="0"/>
                <a:ea typeface="Arial" pitchFamily="34" charset="-122"/>
                <a:cs typeface="Arial" pitchFamily="34" charset="-120"/>
              </a:rPr>
              <a:t>Policy observation</a:t>
            </a:r>
            <a:endParaRPr lang="en-US" sz="1200" dirty="0"/>
          </a:p>
        </p:txBody>
      </p:sp>
      <p:sp>
        <p:nvSpPr>
          <p:cNvPr id="23" name="Shape 20"/>
          <p:cNvSpPr/>
          <p:nvPr/>
        </p:nvSpPr>
        <p:spPr>
          <a:xfrm>
            <a:off x="2606040" y="1417320"/>
            <a:ext cx="0" cy="3794760"/>
          </a:xfrm>
          <a:prstGeom prst="line">
            <a:avLst/>
          </a:prstGeom>
          <a:noFill/>
          <a:ln w="12700">
            <a:solidFill>
              <a:srgbClr val="5A6772"/>
            </a:solidFill>
            <a:prstDash val="solid"/>
          </a:ln>
        </p:spPr>
      </p:sp>
      <p:sp>
        <p:nvSpPr>
          <p:cNvPr id="24" name="Shape 21"/>
          <p:cNvSpPr/>
          <p:nvPr/>
        </p:nvSpPr>
        <p:spPr>
          <a:xfrm>
            <a:off x="685800" y="3200400"/>
            <a:ext cx="7543800" cy="0"/>
          </a:xfrm>
          <a:prstGeom prst="line">
            <a:avLst/>
          </a:prstGeom>
          <a:noFill/>
          <a:ln w="12700">
            <a:solidFill>
              <a:srgbClr val="5A6772"/>
            </a:solidFill>
            <a:prstDash val="solid"/>
          </a:ln>
        </p:spPr>
      </p:sp>
      <p:sp>
        <p:nvSpPr>
          <p:cNvPr id="25" name="Shape 22"/>
          <p:cNvSpPr/>
          <p:nvPr/>
        </p:nvSpPr>
        <p:spPr>
          <a:xfrm>
            <a:off x="2880360" y="2395728"/>
            <a:ext cx="5120640" cy="64008"/>
          </a:xfrm>
          <a:prstGeom prst="rect">
            <a:avLst/>
          </a:prstGeom>
          <a:solidFill>
            <a:srgbClr val="6B7A86"/>
          </a:solidFill>
          <a:ln w="12700">
            <a:solidFill>
              <a:srgbClr val="6B7A86"/>
            </a:solidFill>
            <a:prstDash val="solid"/>
          </a:ln>
        </p:spPr>
      </p:sp>
      <p:sp>
        <p:nvSpPr>
          <p:cNvPr id="26" name="Shape 23"/>
          <p:cNvSpPr/>
          <p:nvPr/>
        </p:nvSpPr>
        <p:spPr>
          <a:xfrm>
            <a:off x="4800600" y="1481328"/>
            <a:ext cx="1554480" cy="1097280"/>
          </a:xfrm>
          <a:prstGeom prst="blockArc">
            <a:avLst/>
          </a:prstGeom>
          <a:solidFill>
            <a:srgbClr val="6B7A86"/>
          </a:solidFill>
          <a:ln w="12700">
            <a:solidFill>
              <a:srgbClr val="6B7A86"/>
            </a:solidFill>
            <a:prstDash val="solid"/>
          </a:ln>
        </p:spPr>
      </p:sp>
      <p:sp>
        <p:nvSpPr>
          <p:cNvPr id="27" name="Shape 24"/>
          <p:cNvSpPr/>
          <p:nvPr/>
        </p:nvSpPr>
        <p:spPr>
          <a:xfrm>
            <a:off x="3063240" y="2103120"/>
            <a:ext cx="713232" cy="242499"/>
          </a:xfrm>
          <a:prstGeom prst="roundRect">
            <a:avLst>
              <a:gd name="adj" fmla="val 113122"/>
            </a:avLst>
          </a:prstGeom>
          <a:solidFill>
            <a:srgbClr val="5FC98B"/>
          </a:solidFill>
          <a:ln w="12700">
            <a:solidFill>
              <a:srgbClr val="5FC98B"/>
            </a:solidFill>
            <a:prstDash val="solid"/>
          </a:ln>
        </p:spPr>
      </p:sp>
      <p:sp>
        <p:nvSpPr>
          <p:cNvPr id="28" name="Shape 25"/>
          <p:cNvSpPr/>
          <p:nvPr/>
        </p:nvSpPr>
        <p:spPr>
          <a:xfrm>
            <a:off x="3205886" y="1962471"/>
            <a:ext cx="392278" cy="160049"/>
          </a:xfrm>
          <a:prstGeom prst="roundRect">
            <a:avLst>
              <a:gd name="adj" fmla="val 171398"/>
            </a:avLst>
          </a:prstGeom>
          <a:solidFill>
            <a:srgbClr val="5FC98B"/>
          </a:solidFill>
          <a:ln w="12700">
            <a:solidFill>
              <a:srgbClr val="5FC98B"/>
            </a:solidFill>
            <a:prstDash val="solid"/>
          </a:ln>
        </p:spPr>
      </p:sp>
      <p:sp>
        <p:nvSpPr>
          <p:cNvPr id="29" name="Shape 26"/>
          <p:cNvSpPr/>
          <p:nvPr/>
        </p:nvSpPr>
        <p:spPr>
          <a:xfrm>
            <a:off x="3181066" y="2292269"/>
            <a:ext cx="106700" cy="106700"/>
          </a:xfrm>
          <a:prstGeom prst="ellipse">
            <a:avLst/>
          </a:prstGeom>
          <a:solidFill>
            <a:srgbClr val="1F2830"/>
          </a:solidFill>
          <a:ln w="12700">
            <a:solidFill>
              <a:srgbClr val="1F2830"/>
            </a:solidFill>
            <a:prstDash val="solid"/>
          </a:ln>
        </p:spPr>
      </p:sp>
      <p:sp>
        <p:nvSpPr>
          <p:cNvPr id="30" name="Shape 27"/>
          <p:cNvSpPr/>
          <p:nvPr/>
        </p:nvSpPr>
        <p:spPr>
          <a:xfrm>
            <a:off x="3551947" y="2292269"/>
            <a:ext cx="106700" cy="106700"/>
          </a:xfrm>
          <a:prstGeom prst="ellipse">
            <a:avLst/>
          </a:prstGeom>
          <a:solidFill>
            <a:srgbClr val="1F2830"/>
          </a:solidFill>
          <a:ln w="12700">
            <a:solidFill>
              <a:srgbClr val="1F2830"/>
            </a:solidFill>
            <a:prstDash val="solid"/>
          </a:ln>
        </p:spPr>
      </p:sp>
      <p:sp>
        <p:nvSpPr>
          <p:cNvPr id="31" name="Shape 28"/>
          <p:cNvSpPr/>
          <p:nvPr/>
        </p:nvSpPr>
        <p:spPr>
          <a:xfrm>
            <a:off x="6903720" y="2103120"/>
            <a:ext cx="713232" cy="242499"/>
          </a:xfrm>
          <a:prstGeom prst="roundRect">
            <a:avLst>
              <a:gd name="adj" fmla="val 113122"/>
            </a:avLst>
          </a:prstGeom>
          <a:solidFill>
            <a:srgbClr val="5FC98B"/>
          </a:solidFill>
          <a:ln w="12700">
            <a:solidFill>
              <a:srgbClr val="5FC98B"/>
            </a:solidFill>
            <a:prstDash val="solid"/>
          </a:ln>
        </p:spPr>
      </p:sp>
      <p:sp>
        <p:nvSpPr>
          <p:cNvPr id="32" name="Shape 29"/>
          <p:cNvSpPr/>
          <p:nvPr/>
        </p:nvSpPr>
        <p:spPr>
          <a:xfrm>
            <a:off x="7046366" y="1962471"/>
            <a:ext cx="392278" cy="160049"/>
          </a:xfrm>
          <a:prstGeom prst="roundRect">
            <a:avLst>
              <a:gd name="adj" fmla="val 171398"/>
            </a:avLst>
          </a:prstGeom>
          <a:solidFill>
            <a:srgbClr val="5FC98B"/>
          </a:solidFill>
          <a:ln w="12700">
            <a:solidFill>
              <a:srgbClr val="5FC98B"/>
            </a:solidFill>
            <a:prstDash val="solid"/>
          </a:ln>
        </p:spPr>
      </p:sp>
      <p:sp>
        <p:nvSpPr>
          <p:cNvPr id="33" name="Shape 30"/>
          <p:cNvSpPr/>
          <p:nvPr/>
        </p:nvSpPr>
        <p:spPr>
          <a:xfrm>
            <a:off x="7021546" y="2292269"/>
            <a:ext cx="106700" cy="106700"/>
          </a:xfrm>
          <a:prstGeom prst="ellipse">
            <a:avLst/>
          </a:prstGeom>
          <a:solidFill>
            <a:srgbClr val="1F2830"/>
          </a:solidFill>
          <a:ln w="12700">
            <a:solidFill>
              <a:srgbClr val="1F2830"/>
            </a:solidFill>
            <a:prstDash val="solid"/>
          </a:ln>
        </p:spPr>
      </p:sp>
      <p:sp>
        <p:nvSpPr>
          <p:cNvPr id="34" name="Shape 31"/>
          <p:cNvSpPr/>
          <p:nvPr/>
        </p:nvSpPr>
        <p:spPr>
          <a:xfrm>
            <a:off x="7392427" y="2292269"/>
            <a:ext cx="106700" cy="106700"/>
          </a:xfrm>
          <a:prstGeom prst="ellipse">
            <a:avLst/>
          </a:prstGeom>
          <a:solidFill>
            <a:srgbClr val="1F2830"/>
          </a:solidFill>
          <a:ln w="12700">
            <a:solidFill>
              <a:srgbClr val="1F2830"/>
            </a:solidFill>
            <a:prstDash val="solid"/>
          </a:ln>
        </p:spPr>
      </p:sp>
      <p:sp>
        <p:nvSpPr>
          <p:cNvPr id="35" name="Text 32"/>
          <p:cNvSpPr txBox="1"/>
          <p:nvPr/>
        </p:nvSpPr>
        <p:spPr>
          <a:xfrm>
            <a:off x="2880360" y="1737360"/>
            <a:ext cx="1554480" cy="256032"/>
          </a:xfrm>
          <a:prstGeom prst="rect">
            <a:avLst/>
          </a:prstGeom>
          <a:noFill/>
          <a:ln/>
        </p:spPr>
        <p:txBody>
          <a:bodyPr wrap="square" lIns="0" tIns="0" rIns="0" bIns="0" rtlCol="0" anchor="t"/>
          <a:lstStyle/>
          <a:p>
            <a:pPr indent="0" marL="0">
              <a:buNone/>
            </a:pPr>
            <a:r>
              <a:rPr lang="en-US" sz="1000" b="1" dirty="0">
                <a:solidFill>
                  <a:srgbClr val="5FC98B"/>
                </a:solidFill>
                <a:latin typeface="Arial" pitchFamily="34" charset="0"/>
                <a:ea typeface="Arial" pitchFamily="34" charset="-122"/>
                <a:cs typeface="Arial" pitchFamily="34" charset="-120"/>
              </a:rPr>
              <a:t>actual position</a:t>
            </a:r>
            <a:endParaRPr lang="en-US" sz="1000" dirty="0"/>
          </a:p>
        </p:txBody>
      </p:sp>
      <p:sp>
        <p:nvSpPr>
          <p:cNvPr id="36" name="Shape 33"/>
          <p:cNvSpPr/>
          <p:nvPr/>
        </p:nvSpPr>
        <p:spPr>
          <a:xfrm>
            <a:off x="2880360" y="4160520"/>
            <a:ext cx="5120640" cy="64008"/>
          </a:xfrm>
          <a:prstGeom prst="rect">
            <a:avLst/>
          </a:prstGeom>
          <a:solidFill>
            <a:srgbClr val="6B7A86"/>
          </a:solidFill>
          <a:ln w="12700">
            <a:solidFill>
              <a:srgbClr val="6B7A86"/>
            </a:solidFill>
            <a:prstDash val="solid"/>
          </a:ln>
        </p:spPr>
      </p:sp>
      <p:sp>
        <p:nvSpPr>
          <p:cNvPr id="37" name="Shape 34"/>
          <p:cNvSpPr/>
          <p:nvPr/>
        </p:nvSpPr>
        <p:spPr>
          <a:xfrm>
            <a:off x="3886200" y="3246120"/>
            <a:ext cx="1554480" cy="1097280"/>
          </a:xfrm>
          <a:prstGeom prst="blockArc">
            <a:avLst/>
          </a:prstGeom>
          <a:solidFill>
            <a:srgbClr val="6B7A86"/>
          </a:solidFill>
          <a:ln w="12700">
            <a:solidFill>
              <a:srgbClr val="6B7A86"/>
            </a:solidFill>
            <a:prstDash val="solid"/>
          </a:ln>
        </p:spPr>
      </p:sp>
      <p:sp>
        <p:nvSpPr>
          <p:cNvPr id="38" name="Shape 35"/>
          <p:cNvSpPr/>
          <p:nvPr/>
        </p:nvSpPr>
        <p:spPr>
          <a:xfrm>
            <a:off x="4315968" y="3867912"/>
            <a:ext cx="713232" cy="242499"/>
          </a:xfrm>
          <a:prstGeom prst="roundRect">
            <a:avLst>
              <a:gd name="adj" fmla="val 113122"/>
            </a:avLst>
          </a:prstGeom>
          <a:solidFill>
            <a:srgbClr val="F0A030"/>
          </a:solidFill>
          <a:ln w="12700">
            <a:solidFill>
              <a:srgbClr val="F0A030"/>
            </a:solidFill>
            <a:prstDash val="solid"/>
          </a:ln>
        </p:spPr>
      </p:sp>
      <p:sp>
        <p:nvSpPr>
          <p:cNvPr id="39" name="Shape 36"/>
          <p:cNvSpPr/>
          <p:nvPr/>
        </p:nvSpPr>
        <p:spPr>
          <a:xfrm>
            <a:off x="4458614" y="3727263"/>
            <a:ext cx="392278" cy="160049"/>
          </a:xfrm>
          <a:prstGeom prst="roundRect">
            <a:avLst>
              <a:gd name="adj" fmla="val 171398"/>
            </a:avLst>
          </a:prstGeom>
          <a:solidFill>
            <a:srgbClr val="F0A030"/>
          </a:solidFill>
          <a:ln w="12700">
            <a:solidFill>
              <a:srgbClr val="F0A030"/>
            </a:solidFill>
            <a:prstDash val="solid"/>
          </a:ln>
        </p:spPr>
      </p:sp>
      <p:sp>
        <p:nvSpPr>
          <p:cNvPr id="40" name="Shape 37"/>
          <p:cNvSpPr/>
          <p:nvPr/>
        </p:nvSpPr>
        <p:spPr>
          <a:xfrm>
            <a:off x="4433794" y="4057061"/>
            <a:ext cx="106700" cy="106700"/>
          </a:xfrm>
          <a:prstGeom prst="ellipse">
            <a:avLst/>
          </a:prstGeom>
          <a:solidFill>
            <a:srgbClr val="1F2830"/>
          </a:solidFill>
          <a:ln w="12700">
            <a:solidFill>
              <a:srgbClr val="1F2830"/>
            </a:solidFill>
            <a:prstDash val="solid"/>
          </a:ln>
        </p:spPr>
      </p:sp>
      <p:sp>
        <p:nvSpPr>
          <p:cNvPr id="41" name="Shape 38"/>
          <p:cNvSpPr/>
          <p:nvPr/>
        </p:nvSpPr>
        <p:spPr>
          <a:xfrm>
            <a:off x="4804675" y="4057061"/>
            <a:ext cx="106700" cy="106700"/>
          </a:xfrm>
          <a:prstGeom prst="ellipse">
            <a:avLst/>
          </a:prstGeom>
          <a:solidFill>
            <a:srgbClr val="1F2830"/>
          </a:solidFill>
          <a:ln w="12700">
            <a:solidFill>
              <a:srgbClr val="1F2830"/>
            </a:solidFill>
            <a:prstDash val="solid"/>
          </a:ln>
        </p:spPr>
      </p:sp>
      <p:sp>
        <p:nvSpPr>
          <p:cNvPr id="42" name="Shape 39"/>
          <p:cNvSpPr/>
          <p:nvPr/>
        </p:nvSpPr>
        <p:spPr>
          <a:xfrm>
            <a:off x="4892040" y="3977640"/>
            <a:ext cx="2971800" cy="0"/>
          </a:xfrm>
          <a:prstGeom prst="line">
            <a:avLst/>
          </a:prstGeom>
          <a:noFill/>
          <a:ln w="19050">
            <a:solidFill>
              <a:srgbClr val="F0A030"/>
            </a:solidFill>
            <a:prstDash val="dash"/>
          </a:ln>
        </p:spPr>
      </p:sp>
      <p:sp>
        <p:nvSpPr>
          <p:cNvPr id="43" name="Text 40"/>
          <p:cNvSpPr txBox="1"/>
          <p:nvPr/>
        </p:nvSpPr>
        <p:spPr>
          <a:xfrm>
            <a:off x="2880360" y="4572000"/>
            <a:ext cx="2926080" cy="274320"/>
          </a:xfrm>
          <a:prstGeom prst="rect">
            <a:avLst/>
          </a:prstGeom>
          <a:noFill/>
          <a:ln/>
        </p:spPr>
        <p:txBody>
          <a:bodyPr wrap="square" lIns="0" tIns="0" rIns="0" bIns="0" rtlCol="0" anchor="t"/>
          <a:lstStyle/>
          <a:p>
            <a:pPr indent="0" marL="0">
              <a:buNone/>
            </a:pPr>
            <a:r>
              <a:rPr lang="en-US" sz="1000" b="1" dirty="0">
                <a:solidFill>
                  <a:srgbClr val="F0A030"/>
                </a:solidFill>
                <a:latin typeface="Arial" pitchFamily="34" charset="0"/>
                <a:ea typeface="Arial" pitchFamily="34" charset="-122"/>
                <a:cs typeface="Arial" pitchFamily="34" charset="-120"/>
              </a:rPr>
              <a:t>stale data — frozen last reading</a:t>
            </a:r>
            <a:endParaRPr lang="en-US" sz="1000" dirty="0"/>
          </a:p>
        </p:txBody>
      </p:sp>
      <p:sp>
        <p:nvSpPr>
          <p:cNvPr id="44" name="Shape 41"/>
          <p:cNvSpPr/>
          <p:nvPr/>
        </p:nvSpPr>
        <p:spPr>
          <a:xfrm flipV="1">
            <a:off x="5669280" y="3401568"/>
            <a:ext cx="2011680" cy="484632"/>
          </a:xfrm>
          <a:prstGeom prst="line">
            <a:avLst/>
          </a:prstGeom>
          <a:noFill/>
          <a:ln w="25400">
            <a:solidFill>
              <a:srgbClr val="F0A030"/>
            </a:solidFill>
            <a:prstDash val="solid"/>
          </a:ln>
        </p:spPr>
      </p:sp>
      <p:sp>
        <p:nvSpPr>
          <p:cNvPr id="45" name="Shape 42"/>
          <p:cNvSpPr/>
          <p:nvPr/>
        </p:nvSpPr>
        <p:spPr>
          <a:xfrm rot="3600000">
            <a:off x="7635240" y="3273552"/>
            <a:ext cx="237744" cy="219456"/>
          </a:xfrm>
          <a:prstGeom prst="triangle">
            <a:avLst/>
          </a:prstGeom>
          <a:solidFill>
            <a:srgbClr val="F0A030"/>
          </a:solidFill>
          <a:ln w="12700">
            <a:solidFill>
              <a:srgbClr val="F0A030"/>
            </a:solidFill>
            <a:prstDash val="solid"/>
          </a:ln>
        </p:spPr>
      </p:sp>
      <p:sp>
        <p:nvSpPr>
          <p:cNvPr id="46" name="Text 43"/>
          <p:cNvSpPr txBox="1"/>
          <p:nvPr/>
        </p:nvSpPr>
        <p:spPr>
          <a:xfrm>
            <a:off x="6720840" y="3566160"/>
            <a:ext cx="1280160" cy="256032"/>
          </a:xfrm>
          <a:prstGeom prst="rect">
            <a:avLst/>
          </a:prstGeom>
          <a:noFill/>
          <a:ln/>
        </p:spPr>
        <p:txBody>
          <a:bodyPr wrap="square" lIns="0" tIns="0" rIns="0" bIns="0" rtlCol="0" anchor="t"/>
          <a:lstStyle/>
          <a:p>
            <a:pPr indent="0" marL="0">
              <a:buNone/>
            </a:pPr>
            <a:r>
              <a:rPr lang="en-US" sz="1050" b="1" dirty="0">
                <a:solidFill>
                  <a:srgbClr val="F0A030"/>
                </a:solidFill>
                <a:latin typeface="Arial" pitchFamily="34" charset="0"/>
                <a:ea typeface="Arial" pitchFamily="34" charset="-122"/>
                <a:cs typeface="Arial" pitchFamily="34" charset="-120"/>
              </a:rPr>
              <a:t>AoI rises</a:t>
            </a:r>
            <a:endParaRPr lang="en-US" sz="1050" dirty="0"/>
          </a:p>
        </p:txBody>
      </p:sp>
      <p:sp>
        <p:nvSpPr>
          <p:cNvPr id="47" name="Text 44"/>
          <p:cNvSpPr txBox="1"/>
          <p:nvPr/>
        </p:nvSpPr>
        <p:spPr>
          <a:xfrm>
            <a:off x="2880360" y="4937760"/>
            <a:ext cx="5212080" cy="274320"/>
          </a:xfrm>
          <a:prstGeom prst="rect">
            <a:avLst/>
          </a:prstGeom>
          <a:noFill/>
          <a:ln/>
        </p:spPr>
        <p:txBody>
          <a:bodyPr wrap="square" lIns="0" tIns="0" rIns="0" bIns="0" rtlCol="0" anchor="t"/>
          <a:lstStyle/>
          <a:p>
            <a:pPr indent="0" marL="0">
              <a:buNone/>
            </a:pPr>
            <a:r>
              <a:rPr lang="en-US" sz="1050" i="1" dirty="0">
                <a:solidFill>
                  <a:srgbClr val="AFBDC8"/>
                </a:solidFill>
                <a:latin typeface="Arial" pitchFamily="34" charset="0"/>
                <a:ea typeface="Arial" pitchFamily="34" charset="-122"/>
                <a:cs typeface="Arial" pitchFamily="34" charset="-120"/>
              </a:rPr>
              <a:t>one simulation step, two observations</a:t>
            </a:r>
            <a:endParaRPr lang="en-US" sz="1050" dirty="0"/>
          </a:p>
        </p:txBody>
      </p:sp>
      <p:sp>
        <p:nvSpPr>
          <p:cNvPr id="48" name="Shape 45"/>
          <p:cNvSpPr/>
          <p:nvPr/>
        </p:nvSpPr>
        <p:spPr>
          <a:xfrm>
            <a:off x="8641080" y="1143000"/>
            <a:ext cx="2999232" cy="4251960"/>
          </a:xfrm>
          <a:prstGeom prst="roundRect">
            <a:avLst>
              <a:gd name="adj" fmla="val 1829"/>
            </a:avLst>
          </a:prstGeom>
          <a:solidFill>
            <a:srgbClr val="2F3A43"/>
          </a:solidFill>
          <a:ln w="12700">
            <a:solidFill>
              <a:srgbClr val="35D6E8"/>
            </a:solidFill>
            <a:prstDash val="solid"/>
          </a:ln>
        </p:spPr>
      </p:sp>
      <p:sp>
        <p:nvSpPr>
          <p:cNvPr id="49" name="Text 46"/>
          <p:cNvSpPr txBox="1"/>
          <p:nvPr/>
        </p:nvSpPr>
        <p:spPr>
          <a:xfrm>
            <a:off x="8869680" y="1325880"/>
            <a:ext cx="2606040" cy="594360"/>
          </a:xfrm>
          <a:prstGeom prst="rect">
            <a:avLst/>
          </a:prstGeom>
          <a:noFill/>
          <a:ln/>
        </p:spPr>
        <p:txBody>
          <a:bodyPr wrap="square" lIns="0" tIns="0" rIns="0" bIns="0" rtlCol="0" anchor="t"/>
          <a:lstStyle/>
          <a:p>
            <a:pPr algn="ctr" indent="0" marL="0">
              <a:lnSpc>
                <a:spcPct val="115000"/>
              </a:lnSpc>
              <a:buNone/>
            </a:pPr>
            <a:r>
              <a:rPr lang="en-US" sz="1400" b="1" dirty="0">
                <a:solidFill>
                  <a:srgbClr val="35D6E8"/>
                </a:solidFill>
                <a:latin typeface="Arial" pitchFamily="34" charset="0"/>
                <a:ea typeface="Arial" pitchFamily="34" charset="-122"/>
                <a:cs typeface="Arial" pitchFamily="34" charset="-120"/>
              </a:rPr>
              <a:t>Explanation still</a:t>
            </a:r>
            <a:endParaRPr lang="en-US" sz="1400" dirty="0"/>
          </a:p>
          <a:p>
            <a:pPr algn="ctr" indent="0" marL="0">
              <a:lnSpc>
                <a:spcPct val="115000"/>
              </a:lnSpc>
              <a:buNone/>
            </a:pPr>
            <a:r>
              <a:rPr lang="en-US" sz="1400" b="1" dirty="0">
                <a:solidFill>
                  <a:srgbClr val="35D6E8"/>
                </a:solidFill>
                <a:latin typeface="Arial" pitchFamily="34" charset="0"/>
                <a:ea typeface="Arial" pitchFamily="34" charset="-122"/>
                <a:cs typeface="Arial" pitchFamily="34" charset="-120"/>
              </a:rPr>
              <a:t>available</a:t>
            </a:r>
            <a:endParaRPr lang="en-US" sz="1400" dirty="0"/>
          </a:p>
        </p:txBody>
      </p:sp>
      <p:sp>
        <p:nvSpPr>
          <p:cNvPr id="50" name="Shape 47"/>
          <p:cNvSpPr/>
          <p:nvPr/>
        </p:nvSpPr>
        <p:spPr>
          <a:xfrm flipV="1">
            <a:off x="10149840" y="2276856"/>
            <a:ext cx="868680" cy="694944"/>
          </a:xfrm>
          <a:prstGeom prst="line">
            <a:avLst/>
          </a:prstGeom>
          <a:noFill/>
          <a:ln w="31750">
            <a:solidFill>
              <a:srgbClr val="35D6E8"/>
            </a:solidFill>
            <a:prstDash val="solid"/>
          </a:ln>
        </p:spPr>
      </p:sp>
      <p:sp>
        <p:nvSpPr>
          <p:cNvPr id="51" name="Shape 48"/>
          <p:cNvSpPr/>
          <p:nvPr/>
        </p:nvSpPr>
        <p:spPr>
          <a:xfrm>
            <a:off x="10888218" y="2146554"/>
            <a:ext cx="260604" cy="260604"/>
          </a:xfrm>
          <a:prstGeom prst="ellipse">
            <a:avLst/>
          </a:prstGeom>
          <a:solidFill>
            <a:srgbClr val="35D6E8"/>
          </a:solidFill>
          <a:ln w="12700">
            <a:solidFill>
              <a:srgbClr val="35D6E8"/>
            </a:solidFill>
            <a:prstDash val="solid"/>
          </a:ln>
        </p:spPr>
      </p:sp>
      <p:sp>
        <p:nvSpPr>
          <p:cNvPr id="52" name="Shape 49"/>
          <p:cNvSpPr/>
          <p:nvPr/>
        </p:nvSpPr>
        <p:spPr>
          <a:xfrm>
            <a:off x="10149840" y="2971800"/>
            <a:ext cx="781812" cy="738378"/>
          </a:xfrm>
          <a:prstGeom prst="line">
            <a:avLst/>
          </a:prstGeom>
          <a:noFill/>
          <a:ln w="12700">
            <a:solidFill>
              <a:srgbClr val="6B7A86"/>
            </a:solidFill>
            <a:prstDash val="solid"/>
          </a:ln>
        </p:spPr>
      </p:sp>
      <p:sp>
        <p:nvSpPr>
          <p:cNvPr id="53" name="Shape 50"/>
          <p:cNvSpPr/>
          <p:nvPr/>
        </p:nvSpPr>
        <p:spPr>
          <a:xfrm>
            <a:off x="10801350" y="3579876"/>
            <a:ext cx="260604" cy="260604"/>
          </a:xfrm>
          <a:prstGeom prst="ellipse">
            <a:avLst/>
          </a:prstGeom>
          <a:solidFill>
            <a:srgbClr val="6B7A86"/>
          </a:solidFill>
          <a:ln w="12700">
            <a:solidFill>
              <a:srgbClr val="6B7A86"/>
            </a:solidFill>
            <a:prstDash val="solid"/>
          </a:ln>
        </p:spPr>
      </p:sp>
      <p:sp>
        <p:nvSpPr>
          <p:cNvPr id="54" name="Shape 51"/>
          <p:cNvSpPr/>
          <p:nvPr/>
        </p:nvSpPr>
        <p:spPr>
          <a:xfrm flipH="1" flipV="1">
            <a:off x="9324594" y="2320290"/>
            <a:ext cx="825246" cy="651510"/>
          </a:xfrm>
          <a:prstGeom prst="line">
            <a:avLst/>
          </a:prstGeom>
          <a:noFill/>
          <a:ln w="12700">
            <a:solidFill>
              <a:srgbClr val="6B7A86"/>
            </a:solidFill>
            <a:prstDash val="solid"/>
          </a:ln>
        </p:spPr>
      </p:sp>
      <p:sp>
        <p:nvSpPr>
          <p:cNvPr id="55" name="Shape 52"/>
          <p:cNvSpPr/>
          <p:nvPr/>
        </p:nvSpPr>
        <p:spPr>
          <a:xfrm>
            <a:off x="9194292" y="2189988"/>
            <a:ext cx="260604" cy="260604"/>
          </a:xfrm>
          <a:prstGeom prst="ellipse">
            <a:avLst/>
          </a:prstGeom>
          <a:solidFill>
            <a:srgbClr val="6B7A86"/>
          </a:solidFill>
          <a:ln w="12700">
            <a:solidFill>
              <a:srgbClr val="6B7A86"/>
            </a:solidFill>
            <a:prstDash val="solid"/>
          </a:ln>
        </p:spPr>
      </p:sp>
      <p:sp>
        <p:nvSpPr>
          <p:cNvPr id="56" name="Shape 53"/>
          <p:cNvSpPr/>
          <p:nvPr/>
        </p:nvSpPr>
        <p:spPr>
          <a:xfrm flipH="1">
            <a:off x="9411462" y="2971800"/>
            <a:ext cx="738378" cy="781812"/>
          </a:xfrm>
          <a:prstGeom prst="line">
            <a:avLst/>
          </a:prstGeom>
          <a:noFill/>
          <a:ln w="12700">
            <a:solidFill>
              <a:srgbClr val="6B7A86"/>
            </a:solidFill>
            <a:prstDash val="solid"/>
          </a:ln>
        </p:spPr>
      </p:sp>
      <p:sp>
        <p:nvSpPr>
          <p:cNvPr id="57" name="Shape 54"/>
          <p:cNvSpPr/>
          <p:nvPr/>
        </p:nvSpPr>
        <p:spPr>
          <a:xfrm>
            <a:off x="9281160" y="3623310"/>
            <a:ext cx="260604" cy="260604"/>
          </a:xfrm>
          <a:prstGeom prst="ellipse">
            <a:avLst/>
          </a:prstGeom>
          <a:solidFill>
            <a:srgbClr val="6B7A86"/>
          </a:solidFill>
          <a:ln w="12700">
            <a:solidFill>
              <a:srgbClr val="6B7A86"/>
            </a:solidFill>
            <a:prstDash val="solid"/>
          </a:ln>
        </p:spPr>
      </p:sp>
      <p:sp>
        <p:nvSpPr>
          <p:cNvPr id="58" name="Shape 55"/>
          <p:cNvSpPr/>
          <p:nvPr/>
        </p:nvSpPr>
        <p:spPr>
          <a:xfrm flipH="1">
            <a:off x="8977122" y="2971800"/>
            <a:ext cx="1172718" cy="0"/>
          </a:xfrm>
          <a:prstGeom prst="line">
            <a:avLst/>
          </a:prstGeom>
          <a:noFill/>
          <a:ln w="25400">
            <a:solidFill>
              <a:srgbClr val="F0A030"/>
            </a:solidFill>
            <a:prstDash val="dash"/>
          </a:ln>
        </p:spPr>
      </p:sp>
      <p:sp>
        <p:nvSpPr>
          <p:cNvPr id="59" name="Shape 56"/>
          <p:cNvSpPr/>
          <p:nvPr/>
        </p:nvSpPr>
        <p:spPr>
          <a:xfrm>
            <a:off x="8846820" y="2841498"/>
            <a:ext cx="260604" cy="260604"/>
          </a:xfrm>
          <a:prstGeom prst="ellipse">
            <a:avLst/>
          </a:prstGeom>
          <a:solidFill>
            <a:srgbClr val="F0A030"/>
          </a:solidFill>
          <a:ln w="12700">
            <a:solidFill>
              <a:srgbClr val="F0A030"/>
            </a:solidFill>
            <a:prstDash val="solid"/>
          </a:ln>
        </p:spPr>
      </p:sp>
      <p:sp>
        <p:nvSpPr>
          <p:cNvPr id="60" name="Shape 57"/>
          <p:cNvSpPr/>
          <p:nvPr/>
        </p:nvSpPr>
        <p:spPr>
          <a:xfrm>
            <a:off x="8738235" y="2732913"/>
            <a:ext cx="477774" cy="477774"/>
          </a:xfrm>
          <a:prstGeom prst="ellipse">
            <a:avLst/>
          </a:prstGeom>
          <a:solidFill>
            <a:srgbClr val="39454F">
              <a:alpha val="0"/>
            </a:srgbClr>
          </a:solidFill>
          <a:ln w="15240">
            <a:solidFill>
              <a:srgbClr val="F0A030"/>
            </a:solidFill>
            <a:prstDash val="solid"/>
          </a:ln>
        </p:spPr>
      </p:sp>
      <p:sp>
        <p:nvSpPr>
          <p:cNvPr id="61" name="Shape 58"/>
          <p:cNvSpPr/>
          <p:nvPr/>
        </p:nvSpPr>
        <p:spPr>
          <a:xfrm>
            <a:off x="9954387" y="2776347"/>
            <a:ext cx="390906" cy="390906"/>
          </a:xfrm>
          <a:prstGeom prst="ellipse">
            <a:avLst/>
          </a:prstGeom>
          <a:solidFill>
            <a:srgbClr val="35D6E8"/>
          </a:solidFill>
          <a:ln w="12700">
            <a:solidFill>
              <a:srgbClr val="35D6E8"/>
            </a:solidFill>
            <a:prstDash val="solid"/>
          </a:ln>
        </p:spPr>
      </p:sp>
      <p:sp>
        <p:nvSpPr>
          <p:cNvPr id="62" name="Text 59"/>
          <p:cNvSpPr txBox="1"/>
          <p:nvPr/>
        </p:nvSpPr>
        <p:spPr>
          <a:xfrm>
            <a:off x="8869680" y="4160520"/>
            <a:ext cx="2560320" cy="822960"/>
          </a:xfrm>
          <a:prstGeom prst="rect">
            <a:avLst/>
          </a:prstGeom>
          <a:noFill/>
          <a:ln/>
        </p:spPr>
        <p:txBody>
          <a:bodyPr wrap="square" lIns="0" tIns="0" rIns="0" bIns="0" rtlCol="0" anchor="t"/>
          <a:lstStyle/>
          <a:p>
            <a:pPr algn="ctr" indent="0" marL="0">
              <a:lnSpc>
                <a:spcPct val="125000"/>
              </a:lnSpc>
              <a:buNone/>
            </a:pPr>
            <a:r>
              <a:rPr lang="en-US" sz="1150" dirty="0">
                <a:solidFill>
                  <a:srgbClr val="FFFFFF"/>
                </a:solidFill>
                <a:latin typeface="Arial" pitchFamily="34" charset="0"/>
                <a:ea typeface="Arial" pitchFamily="34" charset="-122"/>
                <a:cs typeface="Arial" pitchFamily="34" charset="-120"/>
              </a:rPr>
              <a:t>Nothing on screen marks which evidence has expired.</a:t>
            </a:r>
            <a:endParaRPr lang="en-US" sz="1150" dirty="0"/>
          </a:p>
        </p:txBody>
      </p:sp>
      <p:sp>
        <p:nvSpPr>
          <p:cNvPr id="63" name="Shape 60"/>
          <p:cNvSpPr/>
          <p:nvPr/>
        </p:nvSpPr>
        <p:spPr>
          <a:xfrm>
            <a:off x="548640" y="5559552"/>
            <a:ext cx="11091672" cy="694944"/>
          </a:xfrm>
          <a:prstGeom prst="roundRect">
            <a:avLst>
              <a:gd name="adj" fmla="val 7895"/>
            </a:avLst>
          </a:prstGeom>
          <a:solidFill>
            <a:srgbClr val="44515C"/>
          </a:solidFill>
          <a:ln w="12700">
            <a:solidFill>
              <a:srgbClr val="F0A030"/>
            </a:solidFill>
            <a:prstDash val="solid"/>
          </a:ln>
        </p:spPr>
      </p:sp>
      <p:sp>
        <p:nvSpPr>
          <p:cNvPr id="64" name="Text 61"/>
          <p:cNvSpPr txBox="1"/>
          <p:nvPr/>
        </p:nvSpPr>
        <p:spPr>
          <a:xfrm>
            <a:off x="822960" y="5751576"/>
            <a:ext cx="10515600" cy="36576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The explanation outlives the data that supports it — and stable dispatch performance cannot validate it.</a:t>
            </a:r>
            <a:endParaRPr lang="en-US" sz="1400" dirty="0"/>
          </a:p>
        </p:txBody>
      </p:sp>
      <p:sp>
        <p:nvSpPr>
          <p:cNvPr id="65" name="Text 62"/>
          <p:cNvSpPr txBox="1"/>
          <p:nvPr/>
        </p:nvSpPr>
        <p:spPr>
          <a:xfrm>
            <a:off x="11365992" y="6382512"/>
            <a:ext cx="365760" cy="274320"/>
          </a:xfrm>
          <a:prstGeom prst="rect">
            <a:avLst/>
          </a:prstGeom>
          <a:noFill/>
          <a:ln/>
        </p:spPr>
        <p:txBody>
          <a:bodyPr wrap="square" lIns="0" tIns="0" rIns="0" bIns="0" rtlCol="0" anchor="ctr"/>
          <a:lstStyle/>
          <a:p>
            <a:pPr algn="r" indent="0" marL="0">
              <a:buNone/>
            </a:pPr>
            <a:r>
              <a:rPr lang="en-US" sz="900" dirty="0">
                <a:solidFill>
                  <a:srgbClr val="7C8B96"/>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9454F"/>
        </a:solidFill>
      </p:bgPr>
    </p:bg>
    <p:spTree>
      <p:nvGrpSpPr>
        <p:cNvPr id="1" name=""/>
        <p:cNvGrpSpPr/>
        <p:nvPr/>
      </p:nvGrpSpPr>
      <p:grpSpPr>
        <a:xfrm>
          <a:off x="0" y="0"/>
          <a:ext cx="0" cy="0"/>
          <a:chOff x="0" y="0"/>
          <a:chExt cx="0" cy="0"/>
        </a:xfrm>
      </p:grpSpPr>
      <p:sp>
        <p:nvSpPr>
          <p:cNvPr id="3" name="Shape 0"/>
          <p:cNvSpPr/>
          <p:nvPr/>
        </p:nvSpPr>
        <p:spPr>
          <a:xfrm>
            <a:off x="201168" y="201168"/>
            <a:ext cx="384048" cy="0"/>
          </a:xfrm>
          <a:prstGeom prst="line">
            <a:avLst/>
          </a:prstGeom>
          <a:noFill/>
          <a:ln w="12700">
            <a:solidFill>
              <a:srgbClr val="66757F"/>
            </a:solidFill>
            <a:prstDash val="solid"/>
          </a:ln>
        </p:spPr>
      </p:sp>
      <p:sp>
        <p:nvSpPr>
          <p:cNvPr id="4" name="Shape 1"/>
          <p:cNvSpPr/>
          <p:nvPr/>
        </p:nvSpPr>
        <p:spPr>
          <a:xfrm>
            <a:off x="201168" y="201168"/>
            <a:ext cx="0" cy="384048"/>
          </a:xfrm>
          <a:prstGeom prst="line">
            <a:avLst/>
          </a:prstGeom>
          <a:noFill/>
          <a:ln w="12700">
            <a:solidFill>
              <a:srgbClr val="66757F"/>
            </a:solidFill>
            <a:prstDash val="solid"/>
          </a:ln>
        </p:spPr>
      </p:sp>
      <p:sp>
        <p:nvSpPr>
          <p:cNvPr id="5" name="Shape 2"/>
          <p:cNvSpPr/>
          <p:nvPr/>
        </p:nvSpPr>
        <p:spPr>
          <a:xfrm flipH="1">
            <a:off x="11603736" y="201168"/>
            <a:ext cx="384048" cy="0"/>
          </a:xfrm>
          <a:prstGeom prst="line">
            <a:avLst/>
          </a:prstGeom>
          <a:noFill/>
          <a:ln w="12700">
            <a:solidFill>
              <a:srgbClr val="66757F"/>
            </a:solidFill>
            <a:prstDash val="solid"/>
          </a:ln>
        </p:spPr>
      </p:sp>
      <p:sp>
        <p:nvSpPr>
          <p:cNvPr id="6" name="Shape 3"/>
          <p:cNvSpPr/>
          <p:nvPr/>
        </p:nvSpPr>
        <p:spPr>
          <a:xfrm>
            <a:off x="11987784" y="201168"/>
            <a:ext cx="0" cy="384048"/>
          </a:xfrm>
          <a:prstGeom prst="line">
            <a:avLst/>
          </a:prstGeom>
          <a:noFill/>
          <a:ln w="12700">
            <a:solidFill>
              <a:srgbClr val="66757F"/>
            </a:solidFill>
            <a:prstDash val="solid"/>
          </a:ln>
        </p:spPr>
      </p:sp>
      <p:sp>
        <p:nvSpPr>
          <p:cNvPr id="7" name="Shape 4"/>
          <p:cNvSpPr/>
          <p:nvPr/>
        </p:nvSpPr>
        <p:spPr>
          <a:xfrm>
            <a:off x="201168" y="6656832"/>
            <a:ext cx="384048" cy="0"/>
          </a:xfrm>
          <a:prstGeom prst="line">
            <a:avLst/>
          </a:prstGeom>
          <a:noFill/>
          <a:ln w="12700">
            <a:solidFill>
              <a:srgbClr val="66757F"/>
            </a:solidFill>
            <a:prstDash val="solid"/>
          </a:ln>
        </p:spPr>
      </p:sp>
      <p:sp>
        <p:nvSpPr>
          <p:cNvPr id="8" name="Shape 5"/>
          <p:cNvSpPr/>
          <p:nvPr/>
        </p:nvSpPr>
        <p:spPr>
          <a:xfrm flipV="1">
            <a:off x="201168" y="6272784"/>
            <a:ext cx="0" cy="384048"/>
          </a:xfrm>
          <a:prstGeom prst="line">
            <a:avLst/>
          </a:prstGeom>
          <a:noFill/>
          <a:ln w="12700">
            <a:solidFill>
              <a:srgbClr val="66757F"/>
            </a:solidFill>
            <a:prstDash val="solid"/>
          </a:ln>
        </p:spPr>
      </p:sp>
      <p:sp>
        <p:nvSpPr>
          <p:cNvPr id="9" name="Shape 6"/>
          <p:cNvSpPr/>
          <p:nvPr/>
        </p:nvSpPr>
        <p:spPr>
          <a:xfrm flipH="1">
            <a:off x="11603736" y="6656832"/>
            <a:ext cx="384048" cy="0"/>
          </a:xfrm>
          <a:prstGeom prst="line">
            <a:avLst/>
          </a:prstGeom>
          <a:noFill/>
          <a:ln w="12700">
            <a:solidFill>
              <a:srgbClr val="66757F"/>
            </a:solidFill>
            <a:prstDash val="solid"/>
          </a:ln>
        </p:spPr>
      </p:sp>
      <p:sp>
        <p:nvSpPr>
          <p:cNvPr id="10" name="Shape 7"/>
          <p:cNvSpPr/>
          <p:nvPr/>
        </p:nvSpPr>
        <p:spPr>
          <a:xfrm flipV="1">
            <a:off x="11987784" y="6272784"/>
            <a:ext cx="0" cy="384048"/>
          </a:xfrm>
          <a:prstGeom prst="line">
            <a:avLst/>
          </a:prstGeom>
          <a:noFill/>
          <a:ln w="12700">
            <a:solidFill>
              <a:srgbClr val="66757F"/>
            </a:solidFill>
            <a:prstDash val="solid"/>
          </a:ln>
        </p:spPr>
      </p:sp>
      <p:sp>
        <p:nvSpPr>
          <p:cNvPr id="11" name="Shape 8"/>
          <p:cNvSpPr/>
          <p:nvPr/>
        </p:nvSpPr>
        <p:spPr>
          <a:xfrm>
            <a:off x="6003036" y="182880"/>
            <a:ext cx="182880" cy="0"/>
          </a:xfrm>
          <a:prstGeom prst="line">
            <a:avLst/>
          </a:prstGeom>
          <a:noFill/>
          <a:ln w="12700">
            <a:solidFill>
              <a:srgbClr val="66757F"/>
            </a:solidFill>
            <a:prstDash val="solid"/>
          </a:ln>
        </p:spPr>
      </p:sp>
      <p:sp>
        <p:nvSpPr>
          <p:cNvPr id="12" name="Shape 9"/>
          <p:cNvSpPr/>
          <p:nvPr/>
        </p:nvSpPr>
        <p:spPr>
          <a:xfrm>
            <a:off x="6094476" y="91440"/>
            <a:ext cx="0" cy="182880"/>
          </a:xfrm>
          <a:prstGeom prst="line">
            <a:avLst/>
          </a:prstGeom>
          <a:noFill/>
          <a:ln w="12700">
            <a:solidFill>
              <a:srgbClr val="66757F"/>
            </a:solidFill>
            <a:prstDash val="solid"/>
          </a:ln>
        </p:spPr>
      </p:sp>
      <p:sp>
        <p:nvSpPr>
          <p:cNvPr id="13" name="Shape 10"/>
          <p:cNvSpPr/>
          <p:nvPr/>
        </p:nvSpPr>
        <p:spPr>
          <a:xfrm>
            <a:off x="6003036" y="6675120"/>
            <a:ext cx="182880" cy="0"/>
          </a:xfrm>
          <a:prstGeom prst="line">
            <a:avLst/>
          </a:prstGeom>
          <a:noFill/>
          <a:ln w="12700">
            <a:solidFill>
              <a:srgbClr val="66757F"/>
            </a:solidFill>
            <a:prstDash val="solid"/>
          </a:ln>
        </p:spPr>
      </p:sp>
      <p:sp>
        <p:nvSpPr>
          <p:cNvPr id="14" name="Shape 11"/>
          <p:cNvSpPr/>
          <p:nvPr/>
        </p:nvSpPr>
        <p:spPr>
          <a:xfrm>
            <a:off x="6094476" y="6583680"/>
            <a:ext cx="0" cy="182880"/>
          </a:xfrm>
          <a:prstGeom prst="line">
            <a:avLst/>
          </a:prstGeom>
          <a:noFill/>
          <a:ln w="12700">
            <a:solidFill>
              <a:srgbClr val="66757F"/>
            </a:solidFill>
            <a:prstDash val="solid"/>
          </a:ln>
        </p:spPr>
      </p:sp>
      <p:sp>
        <p:nvSpPr>
          <p:cNvPr id="15" name="Shape 12"/>
          <p:cNvSpPr/>
          <p:nvPr/>
        </p:nvSpPr>
        <p:spPr>
          <a:xfrm>
            <a:off x="91440" y="3429000"/>
            <a:ext cx="182880" cy="0"/>
          </a:xfrm>
          <a:prstGeom prst="line">
            <a:avLst/>
          </a:prstGeom>
          <a:noFill/>
          <a:ln w="12700">
            <a:solidFill>
              <a:srgbClr val="66757F"/>
            </a:solidFill>
            <a:prstDash val="solid"/>
          </a:ln>
        </p:spPr>
      </p:sp>
      <p:sp>
        <p:nvSpPr>
          <p:cNvPr id="16" name="Shape 13"/>
          <p:cNvSpPr/>
          <p:nvPr/>
        </p:nvSpPr>
        <p:spPr>
          <a:xfrm>
            <a:off x="182880" y="3337560"/>
            <a:ext cx="0" cy="182880"/>
          </a:xfrm>
          <a:prstGeom prst="line">
            <a:avLst/>
          </a:prstGeom>
          <a:noFill/>
          <a:ln w="12700">
            <a:solidFill>
              <a:srgbClr val="66757F"/>
            </a:solidFill>
            <a:prstDash val="solid"/>
          </a:ln>
        </p:spPr>
      </p:sp>
      <p:sp>
        <p:nvSpPr>
          <p:cNvPr id="17" name="Shape 14"/>
          <p:cNvSpPr/>
          <p:nvPr/>
        </p:nvSpPr>
        <p:spPr>
          <a:xfrm>
            <a:off x="11914632" y="3429000"/>
            <a:ext cx="182880" cy="0"/>
          </a:xfrm>
          <a:prstGeom prst="line">
            <a:avLst/>
          </a:prstGeom>
          <a:noFill/>
          <a:ln w="12700">
            <a:solidFill>
              <a:srgbClr val="66757F"/>
            </a:solidFill>
            <a:prstDash val="solid"/>
          </a:ln>
        </p:spPr>
      </p:sp>
      <p:sp>
        <p:nvSpPr>
          <p:cNvPr id="18" name="Shape 15"/>
          <p:cNvSpPr/>
          <p:nvPr/>
        </p:nvSpPr>
        <p:spPr>
          <a:xfrm>
            <a:off x="12006072" y="3337560"/>
            <a:ext cx="0" cy="182880"/>
          </a:xfrm>
          <a:prstGeom prst="line">
            <a:avLst/>
          </a:prstGeom>
          <a:noFill/>
          <a:ln w="12700">
            <a:solidFill>
              <a:srgbClr val="66757F"/>
            </a:solidFill>
            <a:prstDash val="solid"/>
          </a:ln>
        </p:spPr>
      </p:sp>
      <p:sp>
        <p:nvSpPr>
          <p:cNvPr id="19" name="Text 16"/>
          <p:cNvSpPr txBox="1"/>
          <p:nvPr/>
        </p:nvSpPr>
        <p:spPr>
          <a:xfrm>
            <a:off x="566928" y="329184"/>
            <a:ext cx="11064240" cy="566928"/>
          </a:xfrm>
          <a:prstGeom prst="rect">
            <a:avLst/>
          </a:prstGeom>
          <a:noFill/>
          <a:ln/>
        </p:spPr>
        <p:txBody>
          <a:bodyPr wrap="square" lIns="0" tIns="0" rIns="0" bIns="0" rtlCol="0" anchor="t"/>
          <a:lstStyle/>
          <a:p>
            <a:pPr indent="0" marL="0">
              <a:buNone/>
            </a:pPr>
            <a:r>
              <a:rPr lang="en-US" sz="2900" b="1" dirty="0">
                <a:solidFill>
                  <a:srgbClr val="FFFFFF"/>
                </a:solidFill>
                <a:latin typeface="Arial" pitchFamily="34" charset="0"/>
                <a:ea typeface="Arial" pitchFamily="34" charset="-122"/>
                <a:cs typeface="Arial" pitchFamily="34" charset="-120"/>
              </a:rPr>
              <a:t>Research Questions</a:t>
            </a:r>
            <a:endParaRPr lang="en-US" sz="2900" dirty="0"/>
          </a:p>
        </p:txBody>
      </p:sp>
      <p:sp>
        <p:nvSpPr>
          <p:cNvPr id="20" name="Shape 17"/>
          <p:cNvSpPr/>
          <p:nvPr/>
        </p:nvSpPr>
        <p:spPr>
          <a:xfrm>
            <a:off x="548640" y="1188720"/>
            <a:ext cx="5486400" cy="2240280"/>
          </a:xfrm>
          <a:prstGeom prst="roundRect">
            <a:avLst>
              <a:gd name="adj" fmla="val 2449"/>
            </a:avLst>
          </a:prstGeom>
          <a:solidFill>
            <a:srgbClr val="2F3A43"/>
          </a:solidFill>
          <a:ln w="12700">
            <a:solidFill>
              <a:srgbClr val="35D6E8"/>
            </a:solidFill>
            <a:prstDash val="solid"/>
          </a:ln>
        </p:spPr>
      </p:sp>
      <p:sp>
        <p:nvSpPr>
          <p:cNvPr id="21" name="Text 18"/>
          <p:cNvSpPr txBox="1"/>
          <p:nvPr/>
        </p:nvSpPr>
        <p:spPr>
          <a:xfrm>
            <a:off x="804672" y="1371600"/>
            <a:ext cx="914400" cy="365760"/>
          </a:xfrm>
          <a:prstGeom prst="rect">
            <a:avLst/>
          </a:prstGeom>
          <a:noFill/>
          <a:ln/>
        </p:spPr>
        <p:txBody>
          <a:bodyPr wrap="square" lIns="0" tIns="0" rIns="0" bIns="0" rtlCol="0" anchor="t"/>
          <a:lstStyle/>
          <a:p>
            <a:pPr indent="0" marL="0">
              <a:buNone/>
            </a:pPr>
            <a:r>
              <a:rPr lang="en-US" sz="2000" b="1" dirty="0">
                <a:solidFill>
                  <a:srgbClr val="35D6E8"/>
                </a:solidFill>
                <a:latin typeface="Arial" pitchFamily="34" charset="0"/>
                <a:ea typeface="Arial" pitchFamily="34" charset="-122"/>
                <a:cs typeface="Arial" pitchFamily="34" charset="-120"/>
              </a:rPr>
              <a:t>RQ1</a:t>
            </a:r>
            <a:endParaRPr lang="en-US" sz="2000" dirty="0"/>
          </a:p>
        </p:txBody>
      </p:sp>
      <p:sp>
        <p:nvSpPr>
          <p:cNvPr id="22" name="Text 19"/>
          <p:cNvSpPr txBox="1"/>
          <p:nvPr/>
        </p:nvSpPr>
        <p:spPr>
          <a:xfrm>
            <a:off x="1783080" y="1435608"/>
            <a:ext cx="237744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Clean baseline</a:t>
            </a:r>
            <a:endParaRPr lang="en-US" sz="1350" dirty="0"/>
          </a:p>
        </p:txBody>
      </p:sp>
      <p:sp>
        <p:nvSpPr>
          <p:cNvPr id="23" name="Text 20"/>
          <p:cNvSpPr txBox="1"/>
          <p:nvPr/>
        </p:nvSpPr>
        <p:spPr>
          <a:xfrm>
            <a:off x="804672" y="2057400"/>
            <a:ext cx="3291840" cy="1051560"/>
          </a:xfrm>
          <a:prstGeom prst="rect">
            <a:avLst/>
          </a:prstGeom>
          <a:noFill/>
          <a:ln/>
        </p:spPr>
        <p:txBody>
          <a:bodyPr wrap="square" lIns="0" tIns="0" rIns="0" bIns="0" rtlCol="0" anchor="t"/>
          <a:lstStyle/>
          <a:p>
            <a:pPr indent="0" marL="0">
              <a:lnSpc>
                <a:spcPct val="130000"/>
              </a:lnSpc>
              <a:buNone/>
            </a:pPr>
            <a:r>
              <a:rPr lang="en-US" sz="1300" dirty="0">
                <a:solidFill>
                  <a:srgbClr val="FFFFFF"/>
                </a:solidFill>
                <a:latin typeface="Arial" pitchFamily="34" charset="0"/>
                <a:ea typeface="Arial" pitchFamily="34" charset="-122"/>
                <a:cs typeface="Arial" pitchFamily="34" charset="-120"/>
              </a:rPr>
              <a:t>Do attention weights beat type-matched random controls?</a:t>
            </a:r>
            <a:endParaRPr lang="en-US" sz="1300" dirty="0"/>
          </a:p>
        </p:txBody>
      </p:sp>
      <p:sp>
        <p:nvSpPr>
          <p:cNvPr id="24" name="Shape 21"/>
          <p:cNvSpPr/>
          <p:nvPr/>
        </p:nvSpPr>
        <p:spPr>
          <a:xfrm flipV="1">
            <a:off x="5074920" y="1878178"/>
            <a:ext cx="566928" cy="453542"/>
          </a:xfrm>
          <a:prstGeom prst="line">
            <a:avLst/>
          </a:prstGeom>
          <a:noFill/>
          <a:ln w="31750">
            <a:solidFill>
              <a:srgbClr val="35D6E8"/>
            </a:solidFill>
            <a:prstDash val="solid"/>
          </a:ln>
        </p:spPr>
      </p:sp>
      <p:sp>
        <p:nvSpPr>
          <p:cNvPr id="25" name="Shape 22"/>
          <p:cNvSpPr/>
          <p:nvPr/>
        </p:nvSpPr>
        <p:spPr>
          <a:xfrm>
            <a:off x="5556809" y="1793138"/>
            <a:ext cx="170078" cy="170078"/>
          </a:xfrm>
          <a:prstGeom prst="ellipse">
            <a:avLst/>
          </a:prstGeom>
          <a:solidFill>
            <a:srgbClr val="35D6E8"/>
          </a:solidFill>
          <a:ln w="12700">
            <a:solidFill>
              <a:srgbClr val="35D6E8"/>
            </a:solidFill>
            <a:prstDash val="solid"/>
          </a:ln>
        </p:spPr>
      </p:sp>
      <p:sp>
        <p:nvSpPr>
          <p:cNvPr id="26" name="Shape 23"/>
          <p:cNvSpPr/>
          <p:nvPr/>
        </p:nvSpPr>
        <p:spPr>
          <a:xfrm>
            <a:off x="5074920" y="2331720"/>
            <a:ext cx="510235" cy="481889"/>
          </a:xfrm>
          <a:prstGeom prst="line">
            <a:avLst/>
          </a:prstGeom>
          <a:noFill/>
          <a:ln w="12700">
            <a:solidFill>
              <a:srgbClr val="6B7A86"/>
            </a:solidFill>
            <a:prstDash val="solid"/>
          </a:ln>
        </p:spPr>
      </p:sp>
      <p:sp>
        <p:nvSpPr>
          <p:cNvPr id="27" name="Shape 24"/>
          <p:cNvSpPr/>
          <p:nvPr/>
        </p:nvSpPr>
        <p:spPr>
          <a:xfrm>
            <a:off x="5500116" y="2728570"/>
            <a:ext cx="170078" cy="170078"/>
          </a:xfrm>
          <a:prstGeom prst="ellipse">
            <a:avLst/>
          </a:prstGeom>
          <a:solidFill>
            <a:srgbClr val="6B7A86"/>
          </a:solidFill>
          <a:ln w="12700">
            <a:solidFill>
              <a:srgbClr val="6B7A86"/>
            </a:solidFill>
            <a:prstDash val="solid"/>
          </a:ln>
        </p:spPr>
      </p:sp>
      <p:sp>
        <p:nvSpPr>
          <p:cNvPr id="28" name="Shape 25"/>
          <p:cNvSpPr/>
          <p:nvPr/>
        </p:nvSpPr>
        <p:spPr>
          <a:xfrm flipH="1" flipV="1">
            <a:off x="4536338" y="1906524"/>
            <a:ext cx="538582" cy="425196"/>
          </a:xfrm>
          <a:prstGeom prst="line">
            <a:avLst/>
          </a:prstGeom>
          <a:noFill/>
          <a:ln w="12700">
            <a:solidFill>
              <a:srgbClr val="6B7A86"/>
            </a:solidFill>
            <a:prstDash val="solid"/>
          </a:ln>
        </p:spPr>
      </p:sp>
      <p:sp>
        <p:nvSpPr>
          <p:cNvPr id="29" name="Shape 26"/>
          <p:cNvSpPr/>
          <p:nvPr/>
        </p:nvSpPr>
        <p:spPr>
          <a:xfrm>
            <a:off x="4451299" y="1821485"/>
            <a:ext cx="170078" cy="170078"/>
          </a:xfrm>
          <a:prstGeom prst="ellipse">
            <a:avLst/>
          </a:prstGeom>
          <a:solidFill>
            <a:srgbClr val="6B7A86"/>
          </a:solidFill>
          <a:ln w="12700">
            <a:solidFill>
              <a:srgbClr val="6B7A86"/>
            </a:solidFill>
            <a:prstDash val="solid"/>
          </a:ln>
        </p:spPr>
      </p:sp>
      <p:sp>
        <p:nvSpPr>
          <p:cNvPr id="30" name="Shape 27"/>
          <p:cNvSpPr/>
          <p:nvPr/>
        </p:nvSpPr>
        <p:spPr>
          <a:xfrm flipH="1">
            <a:off x="4593031" y="2331720"/>
            <a:ext cx="481889" cy="510235"/>
          </a:xfrm>
          <a:prstGeom prst="line">
            <a:avLst/>
          </a:prstGeom>
          <a:noFill/>
          <a:ln w="12700">
            <a:solidFill>
              <a:srgbClr val="6B7A86"/>
            </a:solidFill>
            <a:prstDash val="solid"/>
          </a:ln>
        </p:spPr>
      </p:sp>
      <p:sp>
        <p:nvSpPr>
          <p:cNvPr id="31" name="Shape 28"/>
          <p:cNvSpPr/>
          <p:nvPr/>
        </p:nvSpPr>
        <p:spPr>
          <a:xfrm>
            <a:off x="4507992" y="2756916"/>
            <a:ext cx="170078" cy="170078"/>
          </a:xfrm>
          <a:prstGeom prst="ellipse">
            <a:avLst/>
          </a:prstGeom>
          <a:solidFill>
            <a:srgbClr val="6B7A86"/>
          </a:solidFill>
          <a:ln w="12700">
            <a:solidFill>
              <a:srgbClr val="6B7A86"/>
            </a:solidFill>
            <a:prstDash val="solid"/>
          </a:ln>
        </p:spPr>
      </p:sp>
      <p:sp>
        <p:nvSpPr>
          <p:cNvPr id="32" name="Shape 29"/>
          <p:cNvSpPr/>
          <p:nvPr/>
        </p:nvSpPr>
        <p:spPr>
          <a:xfrm>
            <a:off x="4947361" y="2204161"/>
            <a:ext cx="255118" cy="255118"/>
          </a:xfrm>
          <a:prstGeom prst="ellipse">
            <a:avLst/>
          </a:prstGeom>
          <a:solidFill>
            <a:srgbClr val="35D6E8"/>
          </a:solidFill>
          <a:ln w="12700">
            <a:solidFill>
              <a:srgbClr val="35D6E8"/>
            </a:solidFill>
            <a:prstDash val="solid"/>
          </a:ln>
        </p:spPr>
      </p:sp>
      <p:sp>
        <p:nvSpPr>
          <p:cNvPr id="33" name="Shape 30"/>
          <p:cNvSpPr/>
          <p:nvPr/>
        </p:nvSpPr>
        <p:spPr>
          <a:xfrm>
            <a:off x="6153912" y="1188720"/>
            <a:ext cx="5486400" cy="2240280"/>
          </a:xfrm>
          <a:prstGeom prst="roundRect">
            <a:avLst>
              <a:gd name="adj" fmla="val 2449"/>
            </a:avLst>
          </a:prstGeom>
          <a:solidFill>
            <a:srgbClr val="2F3A43"/>
          </a:solidFill>
          <a:ln w="12700">
            <a:solidFill>
              <a:srgbClr val="F0A030"/>
            </a:solidFill>
            <a:prstDash val="solid"/>
          </a:ln>
        </p:spPr>
      </p:sp>
      <p:sp>
        <p:nvSpPr>
          <p:cNvPr id="34" name="Text 31"/>
          <p:cNvSpPr txBox="1"/>
          <p:nvPr/>
        </p:nvSpPr>
        <p:spPr>
          <a:xfrm>
            <a:off x="6409944" y="1371600"/>
            <a:ext cx="914400" cy="365760"/>
          </a:xfrm>
          <a:prstGeom prst="rect">
            <a:avLst/>
          </a:prstGeom>
          <a:noFill/>
          <a:ln/>
        </p:spPr>
        <p:txBody>
          <a:bodyPr wrap="square" lIns="0" tIns="0" rIns="0" bIns="0" rtlCol="0" anchor="t"/>
          <a:lstStyle/>
          <a:p>
            <a:pPr indent="0" marL="0">
              <a:buNone/>
            </a:pPr>
            <a:r>
              <a:rPr lang="en-US" sz="2000" b="1" dirty="0">
                <a:solidFill>
                  <a:srgbClr val="F0A030"/>
                </a:solidFill>
                <a:latin typeface="Arial" pitchFamily="34" charset="0"/>
                <a:ea typeface="Arial" pitchFamily="34" charset="-122"/>
                <a:cs typeface="Arial" pitchFamily="34" charset="-120"/>
              </a:rPr>
              <a:t>RQ2</a:t>
            </a:r>
            <a:endParaRPr lang="en-US" sz="2000" dirty="0"/>
          </a:p>
        </p:txBody>
      </p:sp>
      <p:sp>
        <p:nvSpPr>
          <p:cNvPr id="35" name="Text 32"/>
          <p:cNvSpPr txBox="1"/>
          <p:nvPr/>
        </p:nvSpPr>
        <p:spPr>
          <a:xfrm>
            <a:off x="7388352" y="1435608"/>
            <a:ext cx="237744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Degraded response</a:t>
            </a:r>
            <a:endParaRPr lang="en-US" sz="1350" dirty="0"/>
          </a:p>
        </p:txBody>
      </p:sp>
      <p:sp>
        <p:nvSpPr>
          <p:cNvPr id="36" name="Text 33"/>
          <p:cNvSpPr txBox="1"/>
          <p:nvPr/>
        </p:nvSpPr>
        <p:spPr>
          <a:xfrm>
            <a:off x="6409944" y="2057400"/>
            <a:ext cx="3291840" cy="1051560"/>
          </a:xfrm>
          <a:prstGeom prst="rect">
            <a:avLst/>
          </a:prstGeom>
          <a:noFill/>
          <a:ln/>
        </p:spPr>
        <p:txBody>
          <a:bodyPr wrap="square" lIns="0" tIns="0" rIns="0" bIns="0" rtlCol="0" anchor="t"/>
          <a:lstStyle/>
          <a:p>
            <a:pPr indent="0" marL="0">
              <a:lnSpc>
                <a:spcPct val="130000"/>
              </a:lnSpc>
              <a:buNone/>
            </a:pPr>
            <a:r>
              <a:rPr lang="en-US" sz="1300" dirty="0">
                <a:solidFill>
                  <a:srgbClr val="FFFFFF"/>
                </a:solidFill>
                <a:latin typeface="Arial" pitchFamily="34" charset="0"/>
                <a:ea typeface="Arial" pitchFamily="34" charset="-122"/>
                <a:cs typeface="Arial" pitchFamily="34" charset="-120"/>
              </a:rPr>
              <a:t>Does an outage change attention on stale nodes?</a:t>
            </a:r>
            <a:endParaRPr lang="en-US" sz="1300" dirty="0"/>
          </a:p>
        </p:txBody>
      </p:sp>
      <p:sp>
        <p:nvSpPr>
          <p:cNvPr id="37" name="Shape 34"/>
          <p:cNvSpPr/>
          <p:nvPr/>
        </p:nvSpPr>
        <p:spPr>
          <a:xfrm>
            <a:off x="9902952" y="2715768"/>
            <a:ext cx="1554480" cy="54864"/>
          </a:xfrm>
          <a:prstGeom prst="rect">
            <a:avLst/>
          </a:prstGeom>
          <a:solidFill>
            <a:srgbClr val="6B7A86"/>
          </a:solidFill>
          <a:ln w="12700">
            <a:solidFill>
              <a:srgbClr val="6B7A86"/>
            </a:solidFill>
            <a:prstDash val="solid"/>
          </a:ln>
        </p:spPr>
      </p:sp>
      <p:sp>
        <p:nvSpPr>
          <p:cNvPr id="38" name="Shape 35"/>
          <p:cNvSpPr/>
          <p:nvPr/>
        </p:nvSpPr>
        <p:spPr>
          <a:xfrm>
            <a:off x="10177272" y="2103120"/>
            <a:ext cx="1005840" cy="685800"/>
          </a:xfrm>
          <a:prstGeom prst="blockArc">
            <a:avLst/>
          </a:prstGeom>
          <a:solidFill>
            <a:srgbClr val="6B7A86"/>
          </a:solidFill>
          <a:ln w="12700">
            <a:solidFill>
              <a:srgbClr val="6B7A86"/>
            </a:solidFill>
            <a:prstDash val="solid"/>
          </a:ln>
        </p:spPr>
      </p:sp>
      <p:sp>
        <p:nvSpPr>
          <p:cNvPr id="39" name="Shape 36"/>
          <p:cNvSpPr/>
          <p:nvPr/>
        </p:nvSpPr>
        <p:spPr>
          <a:xfrm>
            <a:off x="10360152" y="2478024"/>
            <a:ext cx="548640" cy="186538"/>
          </a:xfrm>
          <a:prstGeom prst="roundRect">
            <a:avLst>
              <a:gd name="adj" fmla="val 147059"/>
            </a:avLst>
          </a:prstGeom>
          <a:solidFill>
            <a:srgbClr val="F0A030"/>
          </a:solidFill>
          <a:ln w="12700">
            <a:solidFill>
              <a:srgbClr val="F0A030"/>
            </a:solidFill>
            <a:prstDash val="solid"/>
          </a:ln>
        </p:spPr>
      </p:sp>
      <p:sp>
        <p:nvSpPr>
          <p:cNvPr id="40" name="Shape 37"/>
          <p:cNvSpPr/>
          <p:nvPr/>
        </p:nvSpPr>
        <p:spPr>
          <a:xfrm>
            <a:off x="10469880" y="2369832"/>
            <a:ext cx="301752" cy="123115"/>
          </a:xfrm>
          <a:prstGeom prst="roundRect">
            <a:avLst>
              <a:gd name="adj" fmla="val 222816"/>
            </a:avLst>
          </a:prstGeom>
          <a:solidFill>
            <a:srgbClr val="F0A030"/>
          </a:solidFill>
          <a:ln w="12700">
            <a:solidFill>
              <a:srgbClr val="F0A030"/>
            </a:solidFill>
            <a:prstDash val="solid"/>
          </a:ln>
        </p:spPr>
      </p:sp>
      <p:sp>
        <p:nvSpPr>
          <p:cNvPr id="41" name="Shape 38"/>
          <p:cNvSpPr/>
          <p:nvPr/>
        </p:nvSpPr>
        <p:spPr>
          <a:xfrm>
            <a:off x="10450787" y="2623523"/>
            <a:ext cx="82077" cy="82077"/>
          </a:xfrm>
          <a:prstGeom prst="ellipse">
            <a:avLst/>
          </a:prstGeom>
          <a:solidFill>
            <a:srgbClr val="1F2830"/>
          </a:solidFill>
          <a:ln w="12700">
            <a:solidFill>
              <a:srgbClr val="1F2830"/>
            </a:solidFill>
            <a:prstDash val="solid"/>
          </a:ln>
        </p:spPr>
      </p:sp>
      <p:sp>
        <p:nvSpPr>
          <p:cNvPr id="42" name="Shape 39"/>
          <p:cNvSpPr/>
          <p:nvPr/>
        </p:nvSpPr>
        <p:spPr>
          <a:xfrm>
            <a:off x="10736080" y="2623523"/>
            <a:ext cx="82077" cy="82077"/>
          </a:xfrm>
          <a:prstGeom prst="ellipse">
            <a:avLst/>
          </a:prstGeom>
          <a:solidFill>
            <a:srgbClr val="1F2830"/>
          </a:solidFill>
          <a:ln w="12700">
            <a:solidFill>
              <a:srgbClr val="1F2830"/>
            </a:solidFill>
            <a:prstDash val="solid"/>
          </a:ln>
        </p:spPr>
      </p:sp>
      <p:sp>
        <p:nvSpPr>
          <p:cNvPr id="43" name="Shape 40"/>
          <p:cNvSpPr/>
          <p:nvPr/>
        </p:nvSpPr>
        <p:spPr>
          <a:xfrm>
            <a:off x="11232490" y="1911096"/>
            <a:ext cx="321869" cy="292608"/>
          </a:xfrm>
          <a:prstGeom prst="triangle">
            <a:avLst/>
          </a:prstGeom>
          <a:solidFill>
            <a:srgbClr val="F0A030"/>
          </a:solidFill>
          <a:ln w="12700">
            <a:solidFill>
              <a:srgbClr val="F0A030"/>
            </a:solidFill>
            <a:prstDash val="solid"/>
          </a:ln>
        </p:spPr>
      </p:sp>
      <p:sp>
        <p:nvSpPr>
          <p:cNvPr id="44" name="Text 41"/>
          <p:cNvSpPr txBox="1"/>
          <p:nvPr/>
        </p:nvSpPr>
        <p:spPr>
          <a:xfrm>
            <a:off x="11283696" y="1976933"/>
            <a:ext cx="219456" cy="219456"/>
          </a:xfrm>
          <a:prstGeom prst="rect">
            <a:avLst/>
          </a:prstGeom>
          <a:noFill/>
          <a:ln/>
        </p:spPr>
        <p:txBody>
          <a:bodyPr wrap="square" lIns="0" tIns="0" rIns="0" bIns="0" rtlCol="0" anchor="t"/>
          <a:lstStyle/>
          <a:p>
            <a:pPr algn="ctr" indent="0" marL="0">
              <a:buNone/>
            </a:pPr>
            <a:r>
              <a:rPr lang="en-US" sz="960" b="1" dirty="0">
                <a:solidFill>
                  <a:srgbClr val="1F2830"/>
                </a:solidFill>
                <a:latin typeface="Arial" pitchFamily="34" charset="0"/>
                <a:ea typeface="Arial" pitchFamily="34" charset="-122"/>
                <a:cs typeface="Arial" pitchFamily="34" charset="-120"/>
              </a:rPr>
              <a:t>!</a:t>
            </a:r>
            <a:endParaRPr lang="en-US" sz="960" dirty="0"/>
          </a:p>
        </p:txBody>
      </p:sp>
      <p:sp>
        <p:nvSpPr>
          <p:cNvPr id="45" name="Shape 42"/>
          <p:cNvSpPr/>
          <p:nvPr/>
        </p:nvSpPr>
        <p:spPr>
          <a:xfrm>
            <a:off x="548640" y="3584448"/>
            <a:ext cx="5486400" cy="2240280"/>
          </a:xfrm>
          <a:prstGeom prst="roundRect">
            <a:avLst>
              <a:gd name="adj" fmla="val 2449"/>
            </a:avLst>
          </a:prstGeom>
          <a:solidFill>
            <a:srgbClr val="2F3A43"/>
          </a:solidFill>
          <a:ln w="12700">
            <a:solidFill>
              <a:srgbClr val="35D6E8"/>
            </a:solidFill>
            <a:prstDash val="solid"/>
          </a:ln>
        </p:spPr>
      </p:sp>
      <p:sp>
        <p:nvSpPr>
          <p:cNvPr id="46" name="Text 43"/>
          <p:cNvSpPr txBox="1"/>
          <p:nvPr/>
        </p:nvSpPr>
        <p:spPr>
          <a:xfrm>
            <a:off x="804672" y="3767328"/>
            <a:ext cx="914400" cy="365760"/>
          </a:xfrm>
          <a:prstGeom prst="rect">
            <a:avLst/>
          </a:prstGeom>
          <a:noFill/>
          <a:ln/>
        </p:spPr>
        <p:txBody>
          <a:bodyPr wrap="square" lIns="0" tIns="0" rIns="0" bIns="0" rtlCol="0" anchor="t"/>
          <a:lstStyle/>
          <a:p>
            <a:pPr indent="0" marL="0">
              <a:buNone/>
            </a:pPr>
            <a:r>
              <a:rPr lang="en-US" sz="2000" b="1" dirty="0">
                <a:solidFill>
                  <a:srgbClr val="35D6E8"/>
                </a:solidFill>
                <a:latin typeface="Arial" pitchFamily="34" charset="0"/>
                <a:ea typeface="Arial" pitchFamily="34" charset="-122"/>
                <a:cs typeface="Arial" pitchFamily="34" charset="-120"/>
              </a:rPr>
              <a:t>RQ3</a:t>
            </a:r>
            <a:endParaRPr lang="en-US" sz="2000" dirty="0"/>
          </a:p>
        </p:txBody>
      </p:sp>
      <p:sp>
        <p:nvSpPr>
          <p:cNvPr id="47" name="Text 44"/>
          <p:cNvSpPr txBox="1"/>
          <p:nvPr/>
        </p:nvSpPr>
        <p:spPr>
          <a:xfrm>
            <a:off x="1783080" y="3831336"/>
            <a:ext cx="237744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Consistency</a:t>
            </a:r>
            <a:endParaRPr lang="en-US" sz="1350" dirty="0"/>
          </a:p>
        </p:txBody>
      </p:sp>
      <p:sp>
        <p:nvSpPr>
          <p:cNvPr id="48" name="Text 45"/>
          <p:cNvSpPr txBox="1"/>
          <p:nvPr/>
        </p:nvSpPr>
        <p:spPr>
          <a:xfrm>
            <a:off x="804672" y="4453128"/>
            <a:ext cx="3291840" cy="1051560"/>
          </a:xfrm>
          <a:prstGeom prst="rect">
            <a:avLst/>
          </a:prstGeom>
          <a:noFill/>
          <a:ln/>
        </p:spPr>
        <p:txBody>
          <a:bodyPr wrap="square" lIns="0" tIns="0" rIns="0" bIns="0" rtlCol="0" anchor="t"/>
          <a:lstStyle/>
          <a:p>
            <a:pPr indent="0" marL="0">
              <a:lnSpc>
                <a:spcPct val="130000"/>
              </a:lnSpc>
              <a:buNone/>
            </a:pPr>
            <a:r>
              <a:rPr lang="en-US" sz="1300" dirty="0">
                <a:solidFill>
                  <a:srgbClr val="FFFFFF"/>
                </a:solidFill>
                <a:latin typeface="Arial" pitchFamily="34" charset="0"/>
                <a:ea typeface="Arial" pitchFamily="34" charset="-122"/>
                <a:cs typeface="Arial" pitchFamily="34" charset="-120"/>
              </a:rPr>
              <a:t>Is the change consistent across durations and checkpoints?</a:t>
            </a:r>
            <a:endParaRPr lang="en-US" sz="1300" dirty="0"/>
          </a:p>
        </p:txBody>
      </p:sp>
      <p:sp>
        <p:nvSpPr>
          <p:cNvPr id="49" name="Shape 46"/>
          <p:cNvSpPr/>
          <p:nvPr/>
        </p:nvSpPr>
        <p:spPr>
          <a:xfrm>
            <a:off x="4343400" y="5184648"/>
            <a:ext cx="1508760" cy="0"/>
          </a:xfrm>
          <a:prstGeom prst="line">
            <a:avLst/>
          </a:prstGeom>
          <a:noFill/>
          <a:ln w="12700">
            <a:solidFill>
              <a:srgbClr val="AFBDC8"/>
            </a:solidFill>
            <a:prstDash val="solid"/>
          </a:ln>
        </p:spPr>
      </p:sp>
      <p:sp>
        <p:nvSpPr>
          <p:cNvPr id="50" name="Shape 47"/>
          <p:cNvSpPr/>
          <p:nvPr/>
        </p:nvSpPr>
        <p:spPr>
          <a:xfrm flipV="1">
            <a:off x="4343400" y="4224528"/>
            <a:ext cx="0" cy="960120"/>
          </a:xfrm>
          <a:prstGeom prst="line">
            <a:avLst/>
          </a:prstGeom>
          <a:noFill/>
          <a:ln w="12700">
            <a:solidFill>
              <a:srgbClr val="AFBDC8"/>
            </a:solidFill>
            <a:prstDash val="solid"/>
          </a:ln>
        </p:spPr>
      </p:sp>
      <p:sp>
        <p:nvSpPr>
          <p:cNvPr id="51" name="Shape 48"/>
          <p:cNvSpPr/>
          <p:nvPr/>
        </p:nvSpPr>
        <p:spPr>
          <a:xfrm flipV="1">
            <a:off x="4434840" y="4681728"/>
            <a:ext cx="274320" cy="320040"/>
          </a:xfrm>
          <a:prstGeom prst="line">
            <a:avLst/>
          </a:prstGeom>
          <a:noFill/>
          <a:ln w="25400">
            <a:solidFill>
              <a:srgbClr val="F0A030"/>
            </a:solidFill>
            <a:prstDash val="solid"/>
          </a:ln>
        </p:spPr>
      </p:sp>
      <p:sp>
        <p:nvSpPr>
          <p:cNvPr id="52" name="Shape 49"/>
          <p:cNvSpPr/>
          <p:nvPr/>
        </p:nvSpPr>
        <p:spPr>
          <a:xfrm>
            <a:off x="4709160" y="4681728"/>
            <a:ext cx="274320" cy="155448"/>
          </a:xfrm>
          <a:prstGeom prst="line">
            <a:avLst/>
          </a:prstGeom>
          <a:noFill/>
          <a:ln w="25400">
            <a:solidFill>
              <a:srgbClr val="F0A030"/>
            </a:solidFill>
            <a:prstDash val="solid"/>
          </a:ln>
        </p:spPr>
      </p:sp>
      <p:sp>
        <p:nvSpPr>
          <p:cNvPr id="53" name="Shape 50"/>
          <p:cNvSpPr/>
          <p:nvPr/>
        </p:nvSpPr>
        <p:spPr>
          <a:xfrm flipV="1">
            <a:off x="4983480" y="4498848"/>
            <a:ext cx="274320" cy="338328"/>
          </a:xfrm>
          <a:prstGeom prst="line">
            <a:avLst/>
          </a:prstGeom>
          <a:noFill/>
          <a:ln w="25400">
            <a:solidFill>
              <a:srgbClr val="F0A030"/>
            </a:solidFill>
            <a:prstDash val="solid"/>
          </a:ln>
        </p:spPr>
      </p:sp>
      <p:sp>
        <p:nvSpPr>
          <p:cNvPr id="54" name="Shape 51"/>
          <p:cNvSpPr/>
          <p:nvPr/>
        </p:nvSpPr>
        <p:spPr>
          <a:xfrm>
            <a:off x="5257800" y="4498848"/>
            <a:ext cx="274320" cy="137160"/>
          </a:xfrm>
          <a:prstGeom prst="line">
            <a:avLst/>
          </a:prstGeom>
          <a:noFill/>
          <a:ln w="25400">
            <a:solidFill>
              <a:srgbClr val="F0A030"/>
            </a:solidFill>
            <a:prstDash val="solid"/>
          </a:ln>
        </p:spPr>
      </p:sp>
      <p:sp>
        <p:nvSpPr>
          <p:cNvPr id="55" name="Shape 52"/>
          <p:cNvSpPr/>
          <p:nvPr/>
        </p:nvSpPr>
        <p:spPr>
          <a:xfrm flipV="1">
            <a:off x="5532120" y="4343400"/>
            <a:ext cx="256032" cy="292608"/>
          </a:xfrm>
          <a:prstGeom prst="line">
            <a:avLst/>
          </a:prstGeom>
          <a:noFill/>
          <a:ln w="25400">
            <a:solidFill>
              <a:srgbClr val="F0A030"/>
            </a:solidFill>
            <a:prstDash val="solid"/>
          </a:ln>
        </p:spPr>
      </p:sp>
      <p:sp>
        <p:nvSpPr>
          <p:cNvPr id="56" name="Shape 53"/>
          <p:cNvSpPr/>
          <p:nvPr/>
        </p:nvSpPr>
        <p:spPr>
          <a:xfrm flipV="1">
            <a:off x="4343400" y="4407408"/>
            <a:ext cx="1508760" cy="365760"/>
          </a:xfrm>
          <a:prstGeom prst="line">
            <a:avLst/>
          </a:prstGeom>
          <a:noFill/>
          <a:ln w="19050">
            <a:solidFill>
              <a:srgbClr val="35D6E8"/>
            </a:solidFill>
            <a:prstDash val="dash"/>
          </a:ln>
        </p:spPr>
      </p:sp>
      <p:sp>
        <p:nvSpPr>
          <p:cNvPr id="57" name="Shape 54"/>
          <p:cNvSpPr/>
          <p:nvPr/>
        </p:nvSpPr>
        <p:spPr>
          <a:xfrm>
            <a:off x="6153912" y="3584448"/>
            <a:ext cx="5486400" cy="2240280"/>
          </a:xfrm>
          <a:prstGeom prst="roundRect">
            <a:avLst>
              <a:gd name="adj" fmla="val 2449"/>
            </a:avLst>
          </a:prstGeom>
          <a:solidFill>
            <a:srgbClr val="2F3A43"/>
          </a:solidFill>
          <a:ln w="12700">
            <a:solidFill>
              <a:srgbClr val="F0A030"/>
            </a:solidFill>
            <a:prstDash val="solid"/>
          </a:ln>
        </p:spPr>
      </p:sp>
      <p:sp>
        <p:nvSpPr>
          <p:cNvPr id="58" name="Text 55"/>
          <p:cNvSpPr txBox="1"/>
          <p:nvPr/>
        </p:nvSpPr>
        <p:spPr>
          <a:xfrm>
            <a:off x="6409944" y="3767328"/>
            <a:ext cx="914400" cy="365760"/>
          </a:xfrm>
          <a:prstGeom prst="rect">
            <a:avLst/>
          </a:prstGeom>
          <a:noFill/>
          <a:ln/>
        </p:spPr>
        <p:txBody>
          <a:bodyPr wrap="square" lIns="0" tIns="0" rIns="0" bIns="0" rtlCol="0" anchor="t"/>
          <a:lstStyle/>
          <a:p>
            <a:pPr indent="0" marL="0">
              <a:buNone/>
            </a:pPr>
            <a:r>
              <a:rPr lang="en-US" sz="2000" b="1" dirty="0">
                <a:solidFill>
                  <a:srgbClr val="F0A030"/>
                </a:solidFill>
                <a:latin typeface="Arial" pitchFamily="34" charset="0"/>
                <a:ea typeface="Arial" pitchFamily="34" charset="-122"/>
                <a:cs typeface="Arial" pitchFamily="34" charset="-120"/>
              </a:rPr>
              <a:t>RQ4</a:t>
            </a:r>
            <a:endParaRPr lang="en-US" sz="2000" dirty="0"/>
          </a:p>
        </p:txBody>
      </p:sp>
      <p:sp>
        <p:nvSpPr>
          <p:cNvPr id="59" name="Text 56"/>
          <p:cNvSpPr txBox="1"/>
          <p:nvPr/>
        </p:nvSpPr>
        <p:spPr>
          <a:xfrm>
            <a:off x="7388352" y="3831336"/>
            <a:ext cx="2377440"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Outage training</a:t>
            </a:r>
            <a:endParaRPr lang="en-US" sz="1350" dirty="0"/>
          </a:p>
        </p:txBody>
      </p:sp>
      <p:sp>
        <p:nvSpPr>
          <p:cNvPr id="60" name="Text 57"/>
          <p:cNvSpPr txBox="1"/>
          <p:nvPr/>
        </p:nvSpPr>
        <p:spPr>
          <a:xfrm>
            <a:off x="6409944" y="4453128"/>
            <a:ext cx="3291840" cy="1051560"/>
          </a:xfrm>
          <a:prstGeom prst="rect">
            <a:avLst/>
          </a:prstGeom>
          <a:noFill/>
          <a:ln/>
        </p:spPr>
        <p:txBody>
          <a:bodyPr wrap="square" lIns="0" tIns="0" rIns="0" bIns="0" rtlCol="0" anchor="t"/>
          <a:lstStyle/>
          <a:p>
            <a:pPr indent="0" marL="0">
              <a:lnSpc>
                <a:spcPct val="130000"/>
              </a:lnSpc>
              <a:buNone/>
            </a:pPr>
            <a:r>
              <a:rPr lang="en-US" sz="1300" dirty="0">
                <a:solidFill>
                  <a:srgbClr val="FFFFFF"/>
                </a:solidFill>
                <a:latin typeface="Arial" pitchFamily="34" charset="0"/>
                <a:ea typeface="Arial" pitchFamily="34" charset="-122"/>
                <a:cs typeface="Arial" pitchFamily="34" charset="-120"/>
              </a:rPr>
              <a:t>Does degradation-aware training repair it?</a:t>
            </a:r>
            <a:endParaRPr lang="en-US" sz="1300" dirty="0"/>
          </a:p>
        </p:txBody>
      </p:sp>
      <p:sp>
        <p:nvSpPr>
          <p:cNvPr id="61" name="Shape 58"/>
          <p:cNvSpPr/>
          <p:nvPr/>
        </p:nvSpPr>
        <p:spPr>
          <a:xfrm>
            <a:off x="9893808" y="4261104"/>
            <a:ext cx="201168" cy="201168"/>
          </a:xfrm>
          <a:prstGeom prst="ellipse">
            <a:avLst/>
          </a:prstGeom>
          <a:solidFill>
            <a:srgbClr val="F0A030"/>
          </a:solidFill>
          <a:ln w="12700">
            <a:solidFill>
              <a:srgbClr val="F0A030"/>
            </a:solidFill>
            <a:prstDash val="solid"/>
          </a:ln>
        </p:spPr>
      </p:sp>
      <p:sp>
        <p:nvSpPr>
          <p:cNvPr id="62" name="Shape 59"/>
          <p:cNvSpPr/>
          <p:nvPr/>
        </p:nvSpPr>
        <p:spPr>
          <a:xfrm>
            <a:off x="9893808" y="4946904"/>
            <a:ext cx="201168" cy="201168"/>
          </a:xfrm>
          <a:prstGeom prst="ellipse">
            <a:avLst/>
          </a:prstGeom>
          <a:solidFill>
            <a:srgbClr val="F0A030"/>
          </a:solidFill>
          <a:ln w="12700">
            <a:solidFill>
              <a:srgbClr val="F0A030"/>
            </a:solidFill>
            <a:prstDash val="solid"/>
          </a:ln>
        </p:spPr>
      </p:sp>
      <p:sp>
        <p:nvSpPr>
          <p:cNvPr id="63" name="Shape 60"/>
          <p:cNvSpPr/>
          <p:nvPr/>
        </p:nvSpPr>
        <p:spPr>
          <a:xfrm>
            <a:off x="10533888" y="4581144"/>
            <a:ext cx="201168" cy="201168"/>
          </a:xfrm>
          <a:prstGeom prst="ellipse">
            <a:avLst/>
          </a:prstGeom>
          <a:solidFill>
            <a:srgbClr val="F0A030"/>
          </a:solidFill>
          <a:ln w="12700">
            <a:solidFill>
              <a:srgbClr val="F0A030"/>
            </a:solidFill>
            <a:prstDash val="solid"/>
          </a:ln>
        </p:spPr>
      </p:sp>
      <p:sp>
        <p:nvSpPr>
          <p:cNvPr id="64" name="Shape 61"/>
          <p:cNvSpPr/>
          <p:nvPr/>
        </p:nvSpPr>
        <p:spPr>
          <a:xfrm>
            <a:off x="9994392" y="4361688"/>
            <a:ext cx="640080" cy="320040"/>
          </a:xfrm>
          <a:prstGeom prst="line">
            <a:avLst/>
          </a:prstGeom>
          <a:noFill/>
          <a:ln w="12700">
            <a:solidFill>
              <a:srgbClr val="F0A030"/>
            </a:solidFill>
            <a:prstDash val="dash"/>
          </a:ln>
        </p:spPr>
      </p:sp>
      <p:sp>
        <p:nvSpPr>
          <p:cNvPr id="65" name="Shape 62"/>
          <p:cNvSpPr/>
          <p:nvPr/>
        </p:nvSpPr>
        <p:spPr>
          <a:xfrm flipV="1">
            <a:off x="9994392" y="4681728"/>
            <a:ext cx="640080" cy="365760"/>
          </a:xfrm>
          <a:prstGeom prst="line">
            <a:avLst/>
          </a:prstGeom>
          <a:noFill/>
          <a:ln w="12700">
            <a:solidFill>
              <a:srgbClr val="F0A030"/>
            </a:solidFill>
            <a:prstDash val="dash"/>
          </a:ln>
        </p:spPr>
      </p:sp>
      <p:sp>
        <p:nvSpPr>
          <p:cNvPr id="66" name="Shape 63"/>
          <p:cNvSpPr/>
          <p:nvPr/>
        </p:nvSpPr>
        <p:spPr>
          <a:xfrm>
            <a:off x="10826496" y="4599432"/>
            <a:ext cx="292608" cy="256032"/>
          </a:xfrm>
          <a:prstGeom prst="rightArrow">
            <a:avLst/>
          </a:prstGeom>
          <a:solidFill>
            <a:srgbClr val="AFBDC8"/>
          </a:solidFill>
          <a:ln w="12700">
            <a:solidFill>
              <a:srgbClr val="AFBDC8"/>
            </a:solidFill>
            <a:prstDash val="solid"/>
          </a:ln>
        </p:spPr>
      </p:sp>
      <p:sp>
        <p:nvSpPr>
          <p:cNvPr id="67" name="Shape 64"/>
          <p:cNvSpPr/>
          <p:nvPr/>
        </p:nvSpPr>
        <p:spPr>
          <a:xfrm>
            <a:off x="11356848" y="4261104"/>
            <a:ext cx="201168" cy="201168"/>
          </a:xfrm>
          <a:prstGeom prst="ellipse">
            <a:avLst/>
          </a:prstGeom>
          <a:solidFill>
            <a:srgbClr val="35D6E8"/>
          </a:solidFill>
          <a:ln w="12700">
            <a:solidFill>
              <a:srgbClr val="35D6E8"/>
            </a:solidFill>
            <a:prstDash val="solid"/>
          </a:ln>
        </p:spPr>
      </p:sp>
      <p:sp>
        <p:nvSpPr>
          <p:cNvPr id="68" name="Shape 65"/>
          <p:cNvSpPr/>
          <p:nvPr/>
        </p:nvSpPr>
        <p:spPr>
          <a:xfrm>
            <a:off x="11356848" y="4946904"/>
            <a:ext cx="201168" cy="201168"/>
          </a:xfrm>
          <a:prstGeom prst="ellipse">
            <a:avLst/>
          </a:prstGeom>
          <a:solidFill>
            <a:srgbClr val="35D6E8"/>
          </a:solidFill>
          <a:ln w="12700">
            <a:solidFill>
              <a:srgbClr val="35D6E8"/>
            </a:solidFill>
            <a:prstDash val="solid"/>
          </a:ln>
        </p:spPr>
      </p:sp>
      <p:sp>
        <p:nvSpPr>
          <p:cNvPr id="69" name="Shape 66"/>
          <p:cNvSpPr/>
          <p:nvPr/>
        </p:nvSpPr>
        <p:spPr>
          <a:xfrm>
            <a:off x="11146536" y="4608576"/>
            <a:ext cx="201168" cy="201168"/>
          </a:xfrm>
          <a:prstGeom prst="ellipse">
            <a:avLst/>
          </a:prstGeom>
          <a:solidFill>
            <a:srgbClr val="35D6E8"/>
          </a:solidFill>
          <a:ln w="12700">
            <a:solidFill>
              <a:srgbClr val="35D6E8"/>
            </a:solidFill>
            <a:prstDash val="solid"/>
          </a:ln>
        </p:spPr>
      </p:sp>
      <p:sp>
        <p:nvSpPr>
          <p:cNvPr id="70" name="Shape 67"/>
          <p:cNvSpPr/>
          <p:nvPr/>
        </p:nvSpPr>
        <p:spPr>
          <a:xfrm flipV="1">
            <a:off x="11247120" y="4361688"/>
            <a:ext cx="210312" cy="347472"/>
          </a:xfrm>
          <a:prstGeom prst="line">
            <a:avLst/>
          </a:prstGeom>
          <a:noFill/>
          <a:ln w="12700">
            <a:solidFill>
              <a:srgbClr val="35D6E8"/>
            </a:solidFill>
            <a:prstDash val="solid"/>
          </a:ln>
        </p:spPr>
      </p:sp>
      <p:sp>
        <p:nvSpPr>
          <p:cNvPr id="71" name="Shape 68"/>
          <p:cNvSpPr/>
          <p:nvPr/>
        </p:nvSpPr>
        <p:spPr>
          <a:xfrm>
            <a:off x="11247120" y="4709160"/>
            <a:ext cx="210312" cy="338328"/>
          </a:xfrm>
          <a:prstGeom prst="line">
            <a:avLst/>
          </a:prstGeom>
          <a:noFill/>
          <a:ln w="12700">
            <a:solidFill>
              <a:srgbClr val="35D6E8"/>
            </a:solidFill>
            <a:prstDash val="solid"/>
          </a:ln>
        </p:spPr>
      </p:sp>
      <p:sp>
        <p:nvSpPr>
          <p:cNvPr id="72" name="Text 69"/>
          <p:cNvSpPr txBox="1"/>
          <p:nvPr/>
        </p:nvSpPr>
        <p:spPr>
          <a:xfrm>
            <a:off x="548640" y="6035040"/>
            <a:ext cx="11091672" cy="320040"/>
          </a:xfrm>
          <a:prstGeom prst="rect">
            <a:avLst/>
          </a:prstGeom>
          <a:noFill/>
          <a:ln/>
        </p:spPr>
        <p:txBody>
          <a:bodyPr wrap="square" lIns="0" tIns="0" rIns="0" bIns="0" rtlCol="0" anchor="t"/>
          <a:lstStyle/>
          <a:p>
            <a:pPr algn="ctr" indent="0" marL="0">
              <a:buNone/>
            </a:pPr>
            <a:r>
              <a:rPr lang="en-US" sz="1300" b="1" dirty="0">
                <a:solidFill>
                  <a:srgbClr val="35D6E8"/>
                </a:solidFill>
                <a:latin typeface="Arial" pitchFamily="34" charset="0"/>
                <a:ea typeface="Arial" pitchFamily="34" charset="-122"/>
                <a:cs typeface="Arial" pitchFamily="34" charset="-120"/>
              </a:rPr>
              <a:t>The goal is not better dispatch revenue — it is whether the explanation itself survives scrutiny.</a:t>
            </a:r>
            <a:endParaRPr lang="en-US" sz="1300" dirty="0"/>
          </a:p>
        </p:txBody>
      </p:sp>
      <p:sp>
        <p:nvSpPr>
          <p:cNvPr id="73" name="Text 70"/>
          <p:cNvSpPr txBox="1"/>
          <p:nvPr/>
        </p:nvSpPr>
        <p:spPr>
          <a:xfrm>
            <a:off x="11365992" y="6382512"/>
            <a:ext cx="365760" cy="274320"/>
          </a:xfrm>
          <a:prstGeom prst="rect">
            <a:avLst/>
          </a:prstGeom>
          <a:noFill/>
          <a:ln/>
        </p:spPr>
        <p:txBody>
          <a:bodyPr wrap="square" lIns="0" tIns="0" rIns="0" bIns="0" rtlCol="0" anchor="ctr"/>
          <a:lstStyle/>
          <a:p>
            <a:pPr algn="r" indent="0" marL="0">
              <a:buNone/>
            </a:pPr>
            <a:r>
              <a:rPr lang="en-US" sz="900" dirty="0">
                <a:solidFill>
                  <a:srgbClr val="7C8B96"/>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9454F"/>
        </a:solidFill>
      </p:bgPr>
    </p:bg>
    <p:spTree>
      <p:nvGrpSpPr>
        <p:cNvPr id="1" name=""/>
        <p:cNvGrpSpPr/>
        <p:nvPr/>
      </p:nvGrpSpPr>
      <p:grpSpPr>
        <a:xfrm>
          <a:off x="0" y="0"/>
          <a:ext cx="0" cy="0"/>
          <a:chOff x="0" y="0"/>
          <a:chExt cx="0" cy="0"/>
        </a:xfrm>
      </p:grpSpPr>
      <p:sp>
        <p:nvSpPr>
          <p:cNvPr id="3" name="Shape 0"/>
          <p:cNvSpPr/>
          <p:nvPr/>
        </p:nvSpPr>
        <p:spPr>
          <a:xfrm>
            <a:off x="201168" y="201168"/>
            <a:ext cx="384048" cy="0"/>
          </a:xfrm>
          <a:prstGeom prst="line">
            <a:avLst/>
          </a:prstGeom>
          <a:noFill/>
          <a:ln w="12700">
            <a:solidFill>
              <a:srgbClr val="66757F"/>
            </a:solidFill>
            <a:prstDash val="solid"/>
          </a:ln>
        </p:spPr>
      </p:sp>
      <p:sp>
        <p:nvSpPr>
          <p:cNvPr id="4" name="Shape 1"/>
          <p:cNvSpPr/>
          <p:nvPr/>
        </p:nvSpPr>
        <p:spPr>
          <a:xfrm>
            <a:off x="201168" y="201168"/>
            <a:ext cx="0" cy="384048"/>
          </a:xfrm>
          <a:prstGeom prst="line">
            <a:avLst/>
          </a:prstGeom>
          <a:noFill/>
          <a:ln w="12700">
            <a:solidFill>
              <a:srgbClr val="66757F"/>
            </a:solidFill>
            <a:prstDash val="solid"/>
          </a:ln>
        </p:spPr>
      </p:sp>
      <p:sp>
        <p:nvSpPr>
          <p:cNvPr id="5" name="Shape 2"/>
          <p:cNvSpPr/>
          <p:nvPr/>
        </p:nvSpPr>
        <p:spPr>
          <a:xfrm flipH="1">
            <a:off x="11603736" y="201168"/>
            <a:ext cx="384048" cy="0"/>
          </a:xfrm>
          <a:prstGeom prst="line">
            <a:avLst/>
          </a:prstGeom>
          <a:noFill/>
          <a:ln w="12700">
            <a:solidFill>
              <a:srgbClr val="66757F"/>
            </a:solidFill>
            <a:prstDash val="solid"/>
          </a:ln>
        </p:spPr>
      </p:sp>
      <p:sp>
        <p:nvSpPr>
          <p:cNvPr id="6" name="Shape 3"/>
          <p:cNvSpPr/>
          <p:nvPr/>
        </p:nvSpPr>
        <p:spPr>
          <a:xfrm>
            <a:off x="11987784" y="201168"/>
            <a:ext cx="0" cy="384048"/>
          </a:xfrm>
          <a:prstGeom prst="line">
            <a:avLst/>
          </a:prstGeom>
          <a:noFill/>
          <a:ln w="12700">
            <a:solidFill>
              <a:srgbClr val="66757F"/>
            </a:solidFill>
            <a:prstDash val="solid"/>
          </a:ln>
        </p:spPr>
      </p:sp>
      <p:sp>
        <p:nvSpPr>
          <p:cNvPr id="7" name="Shape 4"/>
          <p:cNvSpPr/>
          <p:nvPr/>
        </p:nvSpPr>
        <p:spPr>
          <a:xfrm>
            <a:off x="201168" y="6656832"/>
            <a:ext cx="384048" cy="0"/>
          </a:xfrm>
          <a:prstGeom prst="line">
            <a:avLst/>
          </a:prstGeom>
          <a:noFill/>
          <a:ln w="12700">
            <a:solidFill>
              <a:srgbClr val="66757F"/>
            </a:solidFill>
            <a:prstDash val="solid"/>
          </a:ln>
        </p:spPr>
      </p:sp>
      <p:sp>
        <p:nvSpPr>
          <p:cNvPr id="8" name="Shape 5"/>
          <p:cNvSpPr/>
          <p:nvPr/>
        </p:nvSpPr>
        <p:spPr>
          <a:xfrm flipV="1">
            <a:off x="201168" y="6272784"/>
            <a:ext cx="0" cy="384048"/>
          </a:xfrm>
          <a:prstGeom prst="line">
            <a:avLst/>
          </a:prstGeom>
          <a:noFill/>
          <a:ln w="12700">
            <a:solidFill>
              <a:srgbClr val="66757F"/>
            </a:solidFill>
            <a:prstDash val="solid"/>
          </a:ln>
        </p:spPr>
      </p:sp>
      <p:sp>
        <p:nvSpPr>
          <p:cNvPr id="9" name="Shape 6"/>
          <p:cNvSpPr/>
          <p:nvPr/>
        </p:nvSpPr>
        <p:spPr>
          <a:xfrm flipH="1">
            <a:off x="11603736" y="6656832"/>
            <a:ext cx="384048" cy="0"/>
          </a:xfrm>
          <a:prstGeom prst="line">
            <a:avLst/>
          </a:prstGeom>
          <a:noFill/>
          <a:ln w="12700">
            <a:solidFill>
              <a:srgbClr val="66757F"/>
            </a:solidFill>
            <a:prstDash val="solid"/>
          </a:ln>
        </p:spPr>
      </p:sp>
      <p:sp>
        <p:nvSpPr>
          <p:cNvPr id="10" name="Shape 7"/>
          <p:cNvSpPr/>
          <p:nvPr/>
        </p:nvSpPr>
        <p:spPr>
          <a:xfrm flipV="1">
            <a:off x="11987784" y="6272784"/>
            <a:ext cx="0" cy="384048"/>
          </a:xfrm>
          <a:prstGeom prst="line">
            <a:avLst/>
          </a:prstGeom>
          <a:noFill/>
          <a:ln w="12700">
            <a:solidFill>
              <a:srgbClr val="66757F"/>
            </a:solidFill>
            <a:prstDash val="solid"/>
          </a:ln>
        </p:spPr>
      </p:sp>
      <p:sp>
        <p:nvSpPr>
          <p:cNvPr id="11" name="Shape 8"/>
          <p:cNvSpPr/>
          <p:nvPr/>
        </p:nvSpPr>
        <p:spPr>
          <a:xfrm>
            <a:off x="6003036" y="182880"/>
            <a:ext cx="182880" cy="0"/>
          </a:xfrm>
          <a:prstGeom prst="line">
            <a:avLst/>
          </a:prstGeom>
          <a:noFill/>
          <a:ln w="12700">
            <a:solidFill>
              <a:srgbClr val="66757F"/>
            </a:solidFill>
            <a:prstDash val="solid"/>
          </a:ln>
        </p:spPr>
      </p:sp>
      <p:sp>
        <p:nvSpPr>
          <p:cNvPr id="12" name="Shape 9"/>
          <p:cNvSpPr/>
          <p:nvPr/>
        </p:nvSpPr>
        <p:spPr>
          <a:xfrm>
            <a:off x="6094476" y="91440"/>
            <a:ext cx="0" cy="182880"/>
          </a:xfrm>
          <a:prstGeom prst="line">
            <a:avLst/>
          </a:prstGeom>
          <a:noFill/>
          <a:ln w="12700">
            <a:solidFill>
              <a:srgbClr val="66757F"/>
            </a:solidFill>
            <a:prstDash val="solid"/>
          </a:ln>
        </p:spPr>
      </p:sp>
      <p:sp>
        <p:nvSpPr>
          <p:cNvPr id="13" name="Shape 10"/>
          <p:cNvSpPr/>
          <p:nvPr/>
        </p:nvSpPr>
        <p:spPr>
          <a:xfrm>
            <a:off x="6003036" y="6675120"/>
            <a:ext cx="182880" cy="0"/>
          </a:xfrm>
          <a:prstGeom prst="line">
            <a:avLst/>
          </a:prstGeom>
          <a:noFill/>
          <a:ln w="12700">
            <a:solidFill>
              <a:srgbClr val="66757F"/>
            </a:solidFill>
            <a:prstDash val="solid"/>
          </a:ln>
        </p:spPr>
      </p:sp>
      <p:sp>
        <p:nvSpPr>
          <p:cNvPr id="14" name="Shape 11"/>
          <p:cNvSpPr/>
          <p:nvPr/>
        </p:nvSpPr>
        <p:spPr>
          <a:xfrm>
            <a:off x="6094476" y="6583680"/>
            <a:ext cx="0" cy="182880"/>
          </a:xfrm>
          <a:prstGeom prst="line">
            <a:avLst/>
          </a:prstGeom>
          <a:noFill/>
          <a:ln w="12700">
            <a:solidFill>
              <a:srgbClr val="66757F"/>
            </a:solidFill>
            <a:prstDash val="solid"/>
          </a:ln>
        </p:spPr>
      </p:sp>
      <p:sp>
        <p:nvSpPr>
          <p:cNvPr id="15" name="Shape 12"/>
          <p:cNvSpPr/>
          <p:nvPr/>
        </p:nvSpPr>
        <p:spPr>
          <a:xfrm>
            <a:off x="91440" y="3429000"/>
            <a:ext cx="182880" cy="0"/>
          </a:xfrm>
          <a:prstGeom prst="line">
            <a:avLst/>
          </a:prstGeom>
          <a:noFill/>
          <a:ln w="12700">
            <a:solidFill>
              <a:srgbClr val="66757F"/>
            </a:solidFill>
            <a:prstDash val="solid"/>
          </a:ln>
        </p:spPr>
      </p:sp>
      <p:sp>
        <p:nvSpPr>
          <p:cNvPr id="16" name="Shape 13"/>
          <p:cNvSpPr/>
          <p:nvPr/>
        </p:nvSpPr>
        <p:spPr>
          <a:xfrm>
            <a:off x="182880" y="3337560"/>
            <a:ext cx="0" cy="182880"/>
          </a:xfrm>
          <a:prstGeom prst="line">
            <a:avLst/>
          </a:prstGeom>
          <a:noFill/>
          <a:ln w="12700">
            <a:solidFill>
              <a:srgbClr val="66757F"/>
            </a:solidFill>
            <a:prstDash val="solid"/>
          </a:ln>
        </p:spPr>
      </p:sp>
      <p:sp>
        <p:nvSpPr>
          <p:cNvPr id="17" name="Shape 14"/>
          <p:cNvSpPr/>
          <p:nvPr/>
        </p:nvSpPr>
        <p:spPr>
          <a:xfrm>
            <a:off x="11914632" y="3429000"/>
            <a:ext cx="182880" cy="0"/>
          </a:xfrm>
          <a:prstGeom prst="line">
            <a:avLst/>
          </a:prstGeom>
          <a:noFill/>
          <a:ln w="12700">
            <a:solidFill>
              <a:srgbClr val="66757F"/>
            </a:solidFill>
            <a:prstDash val="solid"/>
          </a:ln>
        </p:spPr>
      </p:sp>
      <p:sp>
        <p:nvSpPr>
          <p:cNvPr id="18" name="Shape 15"/>
          <p:cNvSpPr/>
          <p:nvPr/>
        </p:nvSpPr>
        <p:spPr>
          <a:xfrm>
            <a:off x="12006072" y="3337560"/>
            <a:ext cx="0" cy="182880"/>
          </a:xfrm>
          <a:prstGeom prst="line">
            <a:avLst/>
          </a:prstGeom>
          <a:noFill/>
          <a:ln w="12700">
            <a:solidFill>
              <a:srgbClr val="66757F"/>
            </a:solidFill>
            <a:prstDash val="solid"/>
          </a:ln>
        </p:spPr>
      </p:sp>
      <p:sp>
        <p:nvSpPr>
          <p:cNvPr id="19" name="Text 16"/>
          <p:cNvSpPr txBox="1"/>
          <p:nvPr/>
        </p:nvSpPr>
        <p:spPr>
          <a:xfrm>
            <a:off x="566928" y="329184"/>
            <a:ext cx="11064240" cy="566928"/>
          </a:xfrm>
          <a:prstGeom prst="rect">
            <a:avLst/>
          </a:prstGeom>
          <a:noFill/>
          <a:ln/>
        </p:spPr>
        <p:txBody>
          <a:bodyPr wrap="square" lIns="0" tIns="0" rIns="0" bIns="0" rtlCol="0" anchor="t"/>
          <a:lstStyle/>
          <a:p>
            <a:pPr indent="0" marL="0">
              <a:buNone/>
            </a:pPr>
            <a:r>
              <a:rPr lang="en-US" sz="2900" b="1" dirty="0">
                <a:solidFill>
                  <a:srgbClr val="FFFFFF"/>
                </a:solidFill>
                <a:latin typeface="Arial" pitchFamily="34" charset="0"/>
                <a:ea typeface="Arial" pitchFamily="34" charset="-122"/>
                <a:cs typeface="Arial" pitchFamily="34" charset="-120"/>
              </a:rPr>
              <a:t>Where This Sits</a:t>
            </a:r>
            <a:endParaRPr lang="en-US" sz="2900" dirty="0"/>
          </a:p>
        </p:txBody>
      </p:sp>
      <p:sp>
        <p:nvSpPr>
          <p:cNvPr id="20" name="Shape 17"/>
          <p:cNvSpPr/>
          <p:nvPr/>
        </p:nvSpPr>
        <p:spPr>
          <a:xfrm>
            <a:off x="1581912" y="1280160"/>
            <a:ext cx="3108960" cy="3108960"/>
          </a:xfrm>
          <a:prstGeom prst="ellipse">
            <a:avLst/>
          </a:prstGeom>
          <a:solidFill>
            <a:srgbClr val="39454F">
              <a:alpha val="0"/>
            </a:srgbClr>
          </a:solidFill>
          <a:ln w="25400">
            <a:solidFill>
              <a:srgbClr val="35D6E8"/>
            </a:solidFill>
            <a:prstDash val="solid"/>
          </a:ln>
        </p:spPr>
      </p:sp>
      <p:sp>
        <p:nvSpPr>
          <p:cNvPr id="21" name="Shape 18"/>
          <p:cNvSpPr/>
          <p:nvPr/>
        </p:nvSpPr>
        <p:spPr>
          <a:xfrm>
            <a:off x="3264408" y="1280160"/>
            <a:ext cx="3108960" cy="3108960"/>
          </a:xfrm>
          <a:prstGeom prst="ellipse">
            <a:avLst/>
          </a:prstGeom>
          <a:solidFill>
            <a:srgbClr val="39454F">
              <a:alpha val="0"/>
            </a:srgbClr>
          </a:solidFill>
          <a:ln w="25400">
            <a:solidFill>
              <a:srgbClr val="5FC98B"/>
            </a:solidFill>
            <a:prstDash val="solid"/>
          </a:ln>
        </p:spPr>
      </p:sp>
      <p:sp>
        <p:nvSpPr>
          <p:cNvPr id="22" name="Shape 19"/>
          <p:cNvSpPr/>
          <p:nvPr/>
        </p:nvSpPr>
        <p:spPr>
          <a:xfrm>
            <a:off x="2423160" y="2670048"/>
            <a:ext cx="3108960" cy="3108960"/>
          </a:xfrm>
          <a:prstGeom prst="ellipse">
            <a:avLst/>
          </a:prstGeom>
          <a:solidFill>
            <a:srgbClr val="39454F">
              <a:alpha val="0"/>
            </a:srgbClr>
          </a:solidFill>
          <a:ln w="25400">
            <a:solidFill>
              <a:srgbClr val="F0A030"/>
            </a:solidFill>
            <a:prstDash val="solid"/>
          </a:ln>
        </p:spPr>
      </p:sp>
      <p:sp>
        <p:nvSpPr>
          <p:cNvPr id="23" name="Text 20"/>
          <p:cNvSpPr txBox="1"/>
          <p:nvPr/>
        </p:nvSpPr>
        <p:spPr>
          <a:xfrm>
            <a:off x="1600200" y="2651760"/>
            <a:ext cx="1463040" cy="548640"/>
          </a:xfrm>
          <a:prstGeom prst="rect">
            <a:avLst/>
          </a:prstGeom>
          <a:noFill/>
          <a:ln/>
        </p:spPr>
        <p:txBody>
          <a:bodyPr wrap="square" lIns="0" tIns="0" rIns="0" bIns="0" rtlCol="0" anchor="t"/>
          <a:lstStyle/>
          <a:p>
            <a:pPr algn="ctr" indent="0" marL="0">
              <a:lnSpc>
                <a:spcPct val="115000"/>
              </a:lnSpc>
              <a:buNone/>
            </a:pPr>
            <a:r>
              <a:rPr lang="en-US" sz="1200" b="1" dirty="0">
                <a:solidFill>
                  <a:srgbClr val="35D6E8"/>
                </a:solidFill>
                <a:latin typeface="Arial" pitchFamily="34" charset="0"/>
                <a:ea typeface="Arial" pitchFamily="34" charset="-122"/>
                <a:cs typeface="Arial" pitchFamily="34" charset="-120"/>
              </a:rPr>
              <a:t>Attention as</a:t>
            </a:r>
            <a:endParaRPr lang="en-US" sz="1200" dirty="0"/>
          </a:p>
          <a:p>
            <a:pPr algn="ctr" indent="0" marL="0">
              <a:lnSpc>
                <a:spcPct val="115000"/>
              </a:lnSpc>
              <a:buNone/>
            </a:pPr>
            <a:r>
              <a:rPr lang="en-US" sz="1200" b="1" dirty="0">
                <a:solidFill>
                  <a:srgbClr val="35D6E8"/>
                </a:solidFill>
                <a:latin typeface="Arial" pitchFamily="34" charset="0"/>
                <a:ea typeface="Arial" pitchFamily="34" charset="-122"/>
                <a:cs typeface="Arial" pitchFamily="34" charset="-120"/>
              </a:rPr>
              <a:t>explanation</a:t>
            </a:r>
            <a:endParaRPr lang="en-US" sz="1200" dirty="0"/>
          </a:p>
        </p:txBody>
      </p:sp>
      <p:sp>
        <p:nvSpPr>
          <p:cNvPr id="24" name="Text 21"/>
          <p:cNvSpPr txBox="1"/>
          <p:nvPr/>
        </p:nvSpPr>
        <p:spPr>
          <a:xfrm>
            <a:off x="4937760" y="2651760"/>
            <a:ext cx="1463040" cy="548640"/>
          </a:xfrm>
          <a:prstGeom prst="rect">
            <a:avLst/>
          </a:prstGeom>
          <a:noFill/>
          <a:ln/>
        </p:spPr>
        <p:txBody>
          <a:bodyPr wrap="square" lIns="0" tIns="0" rIns="0" bIns="0" rtlCol="0" anchor="t"/>
          <a:lstStyle/>
          <a:p>
            <a:pPr algn="ctr" indent="0" marL="0">
              <a:lnSpc>
                <a:spcPct val="115000"/>
              </a:lnSpc>
              <a:buNone/>
            </a:pPr>
            <a:r>
              <a:rPr lang="en-US" sz="1200" b="1" dirty="0">
                <a:solidFill>
                  <a:srgbClr val="5FC98B"/>
                </a:solidFill>
                <a:latin typeface="Arial" pitchFamily="34" charset="0"/>
                <a:ea typeface="Arial" pitchFamily="34" charset="-122"/>
                <a:cs typeface="Arial" pitchFamily="34" charset="-120"/>
              </a:rPr>
              <a:t>GNN</a:t>
            </a:r>
            <a:endParaRPr lang="en-US" sz="1200" dirty="0"/>
          </a:p>
          <a:p>
            <a:pPr algn="ctr" indent="0" marL="0">
              <a:lnSpc>
                <a:spcPct val="115000"/>
              </a:lnSpc>
              <a:buNone/>
            </a:pPr>
            <a:r>
              <a:rPr lang="en-US" sz="1200" b="1" dirty="0">
                <a:solidFill>
                  <a:srgbClr val="5FC98B"/>
                </a:solidFill>
                <a:latin typeface="Arial" pitchFamily="34" charset="0"/>
                <a:ea typeface="Arial" pitchFamily="34" charset="-122"/>
                <a:cs typeface="Arial" pitchFamily="34" charset="-120"/>
              </a:rPr>
              <a:t>faithfulness</a:t>
            </a:r>
            <a:endParaRPr lang="en-US" sz="1200" dirty="0"/>
          </a:p>
        </p:txBody>
      </p:sp>
      <p:sp>
        <p:nvSpPr>
          <p:cNvPr id="25" name="Text 22"/>
          <p:cNvSpPr txBox="1"/>
          <p:nvPr/>
        </p:nvSpPr>
        <p:spPr>
          <a:xfrm>
            <a:off x="3246120" y="4892040"/>
            <a:ext cx="1463040" cy="548640"/>
          </a:xfrm>
          <a:prstGeom prst="rect">
            <a:avLst/>
          </a:prstGeom>
          <a:noFill/>
          <a:ln/>
        </p:spPr>
        <p:txBody>
          <a:bodyPr wrap="square" lIns="0" tIns="0" rIns="0" bIns="0" rtlCol="0" anchor="t"/>
          <a:lstStyle/>
          <a:p>
            <a:pPr algn="ctr" indent="0" marL="0">
              <a:lnSpc>
                <a:spcPct val="115000"/>
              </a:lnSpc>
              <a:buNone/>
            </a:pPr>
            <a:r>
              <a:rPr lang="en-US" sz="1200" b="1" dirty="0">
                <a:solidFill>
                  <a:srgbClr val="F0A030"/>
                </a:solidFill>
                <a:latin typeface="Arial" pitchFamily="34" charset="0"/>
                <a:ea typeface="Arial" pitchFamily="34" charset="-122"/>
                <a:cs typeface="Arial" pitchFamily="34" charset="-120"/>
              </a:rPr>
              <a:t>Age of</a:t>
            </a:r>
            <a:endParaRPr lang="en-US" sz="1200" dirty="0"/>
          </a:p>
          <a:p>
            <a:pPr algn="ctr" indent="0" marL="0">
              <a:lnSpc>
                <a:spcPct val="115000"/>
              </a:lnSpc>
              <a:buNone/>
            </a:pPr>
            <a:r>
              <a:rPr lang="en-US" sz="1200" b="1" dirty="0">
                <a:solidFill>
                  <a:srgbClr val="F0A030"/>
                </a:solidFill>
                <a:latin typeface="Arial" pitchFamily="34" charset="0"/>
                <a:ea typeface="Arial" pitchFamily="34" charset="-122"/>
                <a:cs typeface="Arial" pitchFamily="34" charset="-120"/>
              </a:rPr>
              <a:t>Information</a:t>
            </a:r>
            <a:endParaRPr lang="en-US" sz="1200" dirty="0"/>
          </a:p>
        </p:txBody>
      </p:sp>
      <p:sp>
        <p:nvSpPr>
          <p:cNvPr id="26" name="Shape 23"/>
          <p:cNvSpPr/>
          <p:nvPr/>
        </p:nvSpPr>
        <p:spPr>
          <a:xfrm>
            <a:off x="3648456" y="3054096"/>
            <a:ext cx="658368" cy="658368"/>
          </a:xfrm>
          <a:prstGeom prst="ellipse">
            <a:avLst/>
          </a:prstGeom>
          <a:solidFill>
            <a:srgbClr val="E4644C"/>
          </a:solidFill>
          <a:ln w="12700">
            <a:solidFill>
              <a:srgbClr val="E4644C"/>
            </a:solidFill>
            <a:prstDash val="solid"/>
          </a:ln>
        </p:spPr>
      </p:sp>
      <p:sp>
        <p:nvSpPr>
          <p:cNvPr id="27" name="Text 24"/>
          <p:cNvSpPr txBox="1"/>
          <p:nvPr/>
        </p:nvSpPr>
        <p:spPr>
          <a:xfrm>
            <a:off x="3474720" y="3264408"/>
            <a:ext cx="1005840" cy="256032"/>
          </a:xfrm>
          <a:prstGeom prst="rect">
            <a:avLst/>
          </a:prstGeom>
          <a:noFill/>
          <a:ln/>
        </p:spPr>
        <p:txBody>
          <a:bodyPr wrap="square" lIns="0" tIns="0" rIns="0" bIns="0" rtlCol="0" anchor="t"/>
          <a:lstStyle/>
          <a:p>
            <a:pPr algn="ctr" indent="0" marL="0">
              <a:buNone/>
            </a:pPr>
            <a:r>
              <a:rPr lang="en-US" sz="1200" b="1" dirty="0">
                <a:solidFill>
                  <a:srgbClr val="1F2830"/>
                </a:solidFill>
                <a:latin typeface="Arial" pitchFamily="34" charset="0"/>
                <a:ea typeface="Arial" pitchFamily="34" charset="-122"/>
                <a:cs typeface="Arial" pitchFamily="34" charset="-120"/>
              </a:rPr>
              <a:t>GAP</a:t>
            </a:r>
            <a:endParaRPr lang="en-US" sz="1200" dirty="0"/>
          </a:p>
        </p:txBody>
      </p:sp>
      <p:sp>
        <p:nvSpPr>
          <p:cNvPr id="28" name="Text 25"/>
          <p:cNvSpPr txBox="1"/>
          <p:nvPr/>
        </p:nvSpPr>
        <p:spPr>
          <a:xfrm>
            <a:off x="685800" y="5989320"/>
            <a:ext cx="6766560" cy="457200"/>
          </a:xfrm>
          <a:prstGeom prst="rect">
            <a:avLst/>
          </a:prstGeom>
          <a:noFill/>
          <a:ln/>
        </p:spPr>
        <p:txBody>
          <a:bodyPr wrap="square" lIns="0" tIns="0" rIns="0" bIns="0" rtlCol="0" anchor="t"/>
          <a:lstStyle/>
          <a:p>
            <a:pPr indent="0" marL="0">
              <a:lnSpc>
                <a:spcPct val="115000"/>
              </a:lnSpc>
              <a:buNone/>
            </a:pPr>
            <a:r>
              <a:rPr lang="en-US" sz="950" i="1" dirty="0">
                <a:solidFill>
                  <a:srgbClr val="93A2AD"/>
                </a:solidFill>
                <a:latin typeface="Arial" pitchFamily="34" charset="0"/>
                <a:ea typeface="Arial" pitchFamily="34" charset="-122"/>
                <a:cs typeface="Arial" pitchFamily="34" charset="-120"/>
              </a:rPr>
              <a:t>Jain &amp; Wallace 2019 · Serrano &amp; Smith 2019 · Wiegreffe &amp; Pinter 2019 · Kaul, Yates &amp; Gruteser 2012</a:t>
            </a:r>
            <a:endParaRPr lang="en-US" sz="950" dirty="0"/>
          </a:p>
        </p:txBody>
      </p:sp>
      <p:sp>
        <p:nvSpPr>
          <p:cNvPr id="29" name="Shape 26"/>
          <p:cNvSpPr/>
          <p:nvPr/>
        </p:nvSpPr>
        <p:spPr>
          <a:xfrm>
            <a:off x="7589520" y="1143000"/>
            <a:ext cx="4050792" cy="4800600"/>
          </a:xfrm>
          <a:prstGeom prst="roundRect">
            <a:avLst>
              <a:gd name="adj" fmla="val 1354"/>
            </a:avLst>
          </a:prstGeom>
          <a:solidFill>
            <a:srgbClr val="2F3A43"/>
          </a:solidFill>
          <a:ln w="12700">
            <a:solidFill>
              <a:srgbClr val="E4644C"/>
            </a:solidFill>
            <a:prstDash val="solid"/>
          </a:ln>
        </p:spPr>
      </p:sp>
      <p:sp>
        <p:nvSpPr>
          <p:cNvPr id="30" name="Shape 27"/>
          <p:cNvSpPr/>
          <p:nvPr/>
        </p:nvSpPr>
        <p:spPr>
          <a:xfrm>
            <a:off x="7818120" y="1325880"/>
            <a:ext cx="1371600" cy="292608"/>
          </a:xfrm>
          <a:prstGeom prst="roundRect">
            <a:avLst>
              <a:gd name="adj" fmla="val 15625"/>
            </a:avLst>
          </a:prstGeom>
          <a:solidFill>
            <a:srgbClr val="E4644C"/>
          </a:solidFill>
          <a:ln w="12700">
            <a:solidFill>
              <a:srgbClr val="E4644C"/>
            </a:solidFill>
            <a:prstDash val="solid"/>
          </a:ln>
        </p:spPr>
      </p:sp>
      <p:sp>
        <p:nvSpPr>
          <p:cNvPr id="31" name="Text 28"/>
          <p:cNvSpPr txBox="1"/>
          <p:nvPr/>
        </p:nvSpPr>
        <p:spPr>
          <a:xfrm>
            <a:off x="7818120" y="1325880"/>
            <a:ext cx="1371600" cy="292608"/>
          </a:xfrm>
          <a:prstGeom prst="rect">
            <a:avLst/>
          </a:prstGeom>
          <a:noFill/>
          <a:ln/>
        </p:spPr>
        <p:txBody>
          <a:bodyPr wrap="square" lIns="0" tIns="0" rIns="0" bIns="0" rtlCol="0" anchor="ctr"/>
          <a:lstStyle/>
          <a:p>
            <a:pPr algn="ctr" indent="0" marL="0">
              <a:buNone/>
            </a:pPr>
            <a:r>
              <a:rPr lang="en-US" sz="1100" b="1" dirty="0">
                <a:solidFill>
                  <a:srgbClr val="1F2830"/>
                </a:solidFill>
                <a:latin typeface="Arial" pitchFamily="34" charset="0"/>
                <a:ea typeface="Arial" pitchFamily="34" charset="-122"/>
                <a:cs typeface="Arial" pitchFamily="34" charset="-120"/>
              </a:rPr>
              <a:t>THE GAP</a:t>
            </a:r>
            <a:endParaRPr lang="en-US" sz="1100" dirty="0"/>
          </a:p>
        </p:txBody>
      </p:sp>
      <p:sp>
        <p:nvSpPr>
          <p:cNvPr id="32" name="Text 29"/>
          <p:cNvSpPr txBox="1"/>
          <p:nvPr/>
        </p:nvSpPr>
        <p:spPr>
          <a:xfrm>
            <a:off x="7818120" y="1828800"/>
            <a:ext cx="3611880" cy="914400"/>
          </a:xfrm>
          <a:prstGeom prst="rect">
            <a:avLst/>
          </a:prstGeom>
          <a:noFill/>
          <a:ln/>
        </p:spPr>
        <p:txBody>
          <a:bodyPr wrap="square" lIns="0" tIns="0" rIns="0" bIns="0" rtlCol="0" anchor="t"/>
          <a:lstStyle/>
          <a:p>
            <a:pPr indent="0" marL="0">
              <a:lnSpc>
                <a:spcPct val="130000"/>
              </a:lnSpc>
              <a:buNone/>
            </a:pPr>
            <a:r>
              <a:rPr lang="en-US" sz="1400" b="1" dirty="0">
                <a:solidFill>
                  <a:srgbClr val="FFFFFF"/>
                </a:solidFill>
                <a:latin typeface="Arial" pitchFamily="34" charset="0"/>
                <a:ea typeface="Arial" pitchFamily="34" charset="-122"/>
                <a:cs typeface="Arial" pitchFamily="34" charset="-120"/>
              </a:rPr>
              <a:t>Freshness and faithfulness have never been tested on the same decisions inside a graph-attention dispatch policy.</a:t>
            </a:r>
            <a:endParaRPr lang="en-US" sz="1400" dirty="0"/>
          </a:p>
        </p:txBody>
      </p:sp>
      <p:sp>
        <p:nvSpPr>
          <p:cNvPr id="33" name="Shape 30"/>
          <p:cNvSpPr/>
          <p:nvPr/>
        </p:nvSpPr>
        <p:spPr>
          <a:xfrm>
            <a:off x="7818120" y="2926080"/>
            <a:ext cx="3611880" cy="0"/>
          </a:xfrm>
          <a:prstGeom prst="line">
            <a:avLst/>
          </a:prstGeom>
          <a:noFill/>
          <a:ln w="12700">
            <a:solidFill>
              <a:srgbClr val="5A6772"/>
            </a:solidFill>
            <a:prstDash val="solid"/>
          </a:ln>
        </p:spPr>
      </p:sp>
      <p:sp>
        <p:nvSpPr>
          <p:cNvPr id="34" name="Text 31"/>
          <p:cNvSpPr txBox="1"/>
          <p:nvPr/>
        </p:nvSpPr>
        <p:spPr>
          <a:xfrm>
            <a:off x="7818120" y="3063240"/>
            <a:ext cx="3566160" cy="274320"/>
          </a:xfrm>
          <a:prstGeom prst="rect">
            <a:avLst/>
          </a:prstGeom>
          <a:noFill/>
          <a:ln/>
        </p:spPr>
        <p:txBody>
          <a:bodyPr wrap="square" lIns="0" tIns="0" rIns="0" bIns="0" rtlCol="0" anchor="t"/>
          <a:lstStyle/>
          <a:p>
            <a:pPr indent="0" marL="0">
              <a:buNone/>
            </a:pPr>
            <a:r>
              <a:rPr lang="en-US" sz="1100" dirty="0">
                <a:solidFill>
                  <a:srgbClr val="AFBDC8"/>
                </a:solidFill>
                <a:latin typeface="Arial" pitchFamily="34" charset="0"/>
                <a:ea typeface="Arial" pitchFamily="34" charset="-122"/>
                <a:cs typeface="Arial" pitchFamily="34" charset="-120"/>
              </a:rPr>
              <a:t>This work adds</a:t>
            </a:r>
            <a:endParaRPr lang="en-US" sz="1100" dirty="0"/>
          </a:p>
        </p:txBody>
      </p:sp>
      <p:sp>
        <p:nvSpPr>
          <p:cNvPr id="35" name="Shape 32"/>
          <p:cNvSpPr/>
          <p:nvPr/>
        </p:nvSpPr>
        <p:spPr>
          <a:xfrm>
            <a:off x="7882128" y="3538728"/>
            <a:ext cx="146304" cy="146304"/>
          </a:xfrm>
          <a:prstGeom prst="ellipse">
            <a:avLst/>
          </a:prstGeom>
          <a:solidFill>
            <a:srgbClr val="E4644C"/>
          </a:solidFill>
          <a:ln w="12700">
            <a:solidFill>
              <a:srgbClr val="E4644C"/>
            </a:solidFill>
            <a:prstDash val="solid"/>
          </a:ln>
        </p:spPr>
      </p:sp>
      <p:sp>
        <p:nvSpPr>
          <p:cNvPr id="36" name="Text 33"/>
          <p:cNvSpPr txBox="1"/>
          <p:nvPr/>
        </p:nvSpPr>
        <p:spPr>
          <a:xfrm>
            <a:off x="8183880" y="3474720"/>
            <a:ext cx="3200400" cy="36576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Paired clean / degraded benchmark</a:t>
            </a:r>
            <a:endParaRPr lang="en-US" sz="1200" dirty="0"/>
          </a:p>
        </p:txBody>
      </p:sp>
      <p:sp>
        <p:nvSpPr>
          <p:cNvPr id="37" name="Shape 34"/>
          <p:cNvSpPr/>
          <p:nvPr/>
        </p:nvSpPr>
        <p:spPr>
          <a:xfrm>
            <a:off x="7882128" y="4105656"/>
            <a:ext cx="146304" cy="146304"/>
          </a:xfrm>
          <a:prstGeom prst="ellipse">
            <a:avLst/>
          </a:prstGeom>
          <a:solidFill>
            <a:srgbClr val="E4644C"/>
          </a:solidFill>
          <a:ln w="12700">
            <a:solidFill>
              <a:srgbClr val="E4644C"/>
            </a:solidFill>
            <a:prstDash val="solid"/>
          </a:ln>
        </p:spPr>
      </p:sp>
      <p:sp>
        <p:nvSpPr>
          <p:cNvPr id="38" name="Text 35"/>
          <p:cNvSpPr txBox="1"/>
          <p:nvPr/>
        </p:nvSpPr>
        <p:spPr>
          <a:xfrm>
            <a:off x="8183880" y="4041648"/>
            <a:ext cx="3200400" cy="36576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Action-aware evaluation protocol</a:t>
            </a:r>
            <a:endParaRPr lang="en-US" sz="1200" dirty="0"/>
          </a:p>
        </p:txBody>
      </p:sp>
      <p:sp>
        <p:nvSpPr>
          <p:cNvPr id="39" name="Shape 36"/>
          <p:cNvSpPr/>
          <p:nvPr/>
        </p:nvSpPr>
        <p:spPr>
          <a:xfrm>
            <a:off x="7882128" y="4672584"/>
            <a:ext cx="146304" cy="146304"/>
          </a:xfrm>
          <a:prstGeom prst="ellipse">
            <a:avLst/>
          </a:prstGeom>
          <a:solidFill>
            <a:srgbClr val="E4644C"/>
          </a:solidFill>
          <a:ln w="12700">
            <a:solidFill>
              <a:srgbClr val="E4644C"/>
            </a:solidFill>
            <a:prstDash val="solid"/>
          </a:ln>
        </p:spPr>
      </p:sp>
      <p:sp>
        <p:nvSpPr>
          <p:cNvPr id="40" name="Text 37"/>
          <p:cNvSpPr txBox="1"/>
          <p:nvPr/>
        </p:nvSpPr>
        <p:spPr>
          <a:xfrm>
            <a:off x="8183880" y="4608576"/>
            <a:ext cx="3200400" cy="36576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Freshness-aware release audit</a:t>
            </a:r>
            <a:endParaRPr lang="en-US" sz="1200" dirty="0"/>
          </a:p>
        </p:txBody>
      </p:sp>
      <p:sp>
        <p:nvSpPr>
          <p:cNvPr id="41" name="Text 38"/>
          <p:cNvSpPr txBox="1"/>
          <p:nvPr/>
        </p:nvSpPr>
        <p:spPr>
          <a:xfrm>
            <a:off x="11365992" y="6382512"/>
            <a:ext cx="365760" cy="274320"/>
          </a:xfrm>
          <a:prstGeom prst="rect">
            <a:avLst/>
          </a:prstGeom>
          <a:noFill/>
          <a:ln/>
        </p:spPr>
        <p:txBody>
          <a:bodyPr wrap="square" lIns="0" tIns="0" rIns="0" bIns="0" rtlCol="0" anchor="ctr"/>
          <a:lstStyle/>
          <a:p>
            <a:pPr algn="r" indent="0" marL="0">
              <a:buNone/>
            </a:pPr>
            <a:r>
              <a:rPr lang="en-US" sz="900" dirty="0">
                <a:solidFill>
                  <a:srgbClr val="7C8B96"/>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39454F"/>
        </a:solidFill>
      </p:bgPr>
    </p:bg>
    <p:spTree>
      <p:nvGrpSpPr>
        <p:cNvPr id="1" name=""/>
        <p:cNvGrpSpPr/>
        <p:nvPr/>
      </p:nvGrpSpPr>
      <p:grpSpPr>
        <a:xfrm>
          <a:off x="0" y="0"/>
          <a:ext cx="0" cy="0"/>
          <a:chOff x="0" y="0"/>
          <a:chExt cx="0" cy="0"/>
        </a:xfrm>
      </p:grpSpPr>
      <p:sp>
        <p:nvSpPr>
          <p:cNvPr id="3" name="Shape 0"/>
          <p:cNvSpPr/>
          <p:nvPr/>
        </p:nvSpPr>
        <p:spPr>
          <a:xfrm>
            <a:off x="201168" y="201168"/>
            <a:ext cx="384048" cy="0"/>
          </a:xfrm>
          <a:prstGeom prst="line">
            <a:avLst/>
          </a:prstGeom>
          <a:noFill/>
          <a:ln w="12700">
            <a:solidFill>
              <a:srgbClr val="66757F"/>
            </a:solidFill>
            <a:prstDash val="solid"/>
          </a:ln>
        </p:spPr>
      </p:sp>
      <p:sp>
        <p:nvSpPr>
          <p:cNvPr id="4" name="Shape 1"/>
          <p:cNvSpPr/>
          <p:nvPr/>
        </p:nvSpPr>
        <p:spPr>
          <a:xfrm>
            <a:off x="201168" y="201168"/>
            <a:ext cx="0" cy="384048"/>
          </a:xfrm>
          <a:prstGeom prst="line">
            <a:avLst/>
          </a:prstGeom>
          <a:noFill/>
          <a:ln w="12700">
            <a:solidFill>
              <a:srgbClr val="66757F"/>
            </a:solidFill>
            <a:prstDash val="solid"/>
          </a:ln>
        </p:spPr>
      </p:sp>
      <p:sp>
        <p:nvSpPr>
          <p:cNvPr id="5" name="Shape 2"/>
          <p:cNvSpPr/>
          <p:nvPr/>
        </p:nvSpPr>
        <p:spPr>
          <a:xfrm flipH="1">
            <a:off x="11603736" y="201168"/>
            <a:ext cx="384048" cy="0"/>
          </a:xfrm>
          <a:prstGeom prst="line">
            <a:avLst/>
          </a:prstGeom>
          <a:noFill/>
          <a:ln w="12700">
            <a:solidFill>
              <a:srgbClr val="66757F"/>
            </a:solidFill>
            <a:prstDash val="solid"/>
          </a:ln>
        </p:spPr>
      </p:sp>
      <p:sp>
        <p:nvSpPr>
          <p:cNvPr id="6" name="Shape 3"/>
          <p:cNvSpPr/>
          <p:nvPr/>
        </p:nvSpPr>
        <p:spPr>
          <a:xfrm>
            <a:off x="11987784" y="201168"/>
            <a:ext cx="0" cy="384048"/>
          </a:xfrm>
          <a:prstGeom prst="line">
            <a:avLst/>
          </a:prstGeom>
          <a:noFill/>
          <a:ln w="12700">
            <a:solidFill>
              <a:srgbClr val="66757F"/>
            </a:solidFill>
            <a:prstDash val="solid"/>
          </a:ln>
        </p:spPr>
      </p:sp>
      <p:sp>
        <p:nvSpPr>
          <p:cNvPr id="7" name="Shape 4"/>
          <p:cNvSpPr/>
          <p:nvPr/>
        </p:nvSpPr>
        <p:spPr>
          <a:xfrm>
            <a:off x="201168" y="6656832"/>
            <a:ext cx="384048" cy="0"/>
          </a:xfrm>
          <a:prstGeom prst="line">
            <a:avLst/>
          </a:prstGeom>
          <a:noFill/>
          <a:ln w="12700">
            <a:solidFill>
              <a:srgbClr val="66757F"/>
            </a:solidFill>
            <a:prstDash val="solid"/>
          </a:ln>
        </p:spPr>
      </p:sp>
      <p:sp>
        <p:nvSpPr>
          <p:cNvPr id="8" name="Shape 5"/>
          <p:cNvSpPr/>
          <p:nvPr/>
        </p:nvSpPr>
        <p:spPr>
          <a:xfrm flipV="1">
            <a:off x="201168" y="6272784"/>
            <a:ext cx="0" cy="384048"/>
          </a:xfrm>
          <a:prstGeom prst="line">
            <a:avLst/>
          </a:prstGeom>
          <a:noFill/>
          <a:ln w="12700">
            <a:solidFill>
              <a:srgbClr val="66757F"/>
            </a:solidFill>
            <a:prstDash val="solid"/>
          </a:ln>
        </p:spPr>
      </p:sp>
      <p:sp>
        <p:nvSpPr>
          <p:cNvPr id="9" name="Shape 6"/>
          <p:cNvSpPr/>
          <p:nvPr/>
        </p:nvSpPr>
        <p:spPr>
          <a:xfrm flipH="1">
            <a:off x="11603736" y="6656832"/>
            <a:ext cx="384048" cy="0"/>
          </a:xfrm>
          <a:prstGeom prst="line">
            <a:avLst/>
          </a:prstGeom>
          <a:noFill/>
          <a:ln w="12700">
            <a:solidFill>
              <a:srgbClr val="66757F"/>
            </a:solidFill>
            <a:prstDash val="solid"/>
          </a:ln>
        </p:spPr>
      </p:sp>
      <p:sp>
        <p:nvSpPr>
          <p:cNvPr id="10" name="Shape 7"/>
          <p:cNvSpPr/>
          <p:nvPr/>
        </p:nvSpPr>
        <p:spPr>
          <a:xfrm flipV="1">
            <a:off x="11987784" y="6272784"/>
            <a:ext cx="0" cy="384048"/>
          </a:xfrm>
          <a:prstGeom prst="line">
            <a:avLst/>
          </a:prstGeom>
          <a:noFill/>
          <a:ln w="12700">
            <a:solidFill>
              <a:srgbClr val="66757F"/>
            </a:solidFill>
            <a:prstDash val="solid"/>
          </a:ln>
        </p:spPr>
      </p:sp>
      <p:sp>
        <p:nvSpPr>
          <p:cNvPr id="11" name="Shape 8"/>
          <p:cNvSpPr/>
          <p:nvPr/>
        </p:nvSpPr>
        <p:spPr>
          <a:xfrm>
            <a:off x="6003036" y="182880"/>
            <a:ext cx="182880" cy="0"/>
          </a:xfrm>
          <a:prstGeom prst="line">
            <a:avLst/>
          </a:prstGeom>
          <a:noFill/>
          <a:ln w="12700">
            <a:solidFill>
              <a:srgbClr val="66757F"/>
            </a:solidFill>
            <a:prstDash val="solid"/>
          </a:ln>
        </p:spPr>
      </p:sp>
      <p:sp>
        <p:nvSpPr>
          <p:cNvPr id="12" name="Shape 9"/>
          <p:cNvSpPr/>
          <p:nvPr/>
        </p:nvSpPr>
        <p:spPr>
          <a:xfrm>
            <a:off x="6094476" y="91440"/>
            <a:ext cx="0" cy="182880"/>
          </a:xfrm>
          <a:prstGeom prst="line">
            <a:avLst/>
          </a:prstGeom>
          <a:noFill/>
          <a:ln w="12700">
            <a:solidFill>
              <a:srgbClr val="66757F"/>
            </a:solidFill>
            <a:prstDash val="solid"/>
          </a:ln>
        </p:spPr>
      </p:sp>
      <p:sp>
        <p:nvSpPr>
          <p:cNvPr id="13" name="Shape 10"/>
          <p:cNvSpPr/>
          <p:nvPr/>
        </p:nvSpPr>
        <p:spPr>
          <a:xfrm>
            <a:off x="6003036" y="6675120"/>
            <a:ext cx="182880" cy="0"/>
          </a:xfrm>
          <a:prstGeom prst="line">
            <a:avLst/>
          </a:prstGeom>
          <a:noFill/>
          <a:ln w="12700">
            <a:solidFill>
              <a:srgbClr val="66757F"/>
            </a:solidFill>
            <a:prstDash val="solid"/>
          </a:ln>
        </p:spPr>
      </p:sp>
      <p:sp>
        <p:nvSpPr>
          <p:cNvPr id="14" name="Shape 11"/>
          <p:cNvSpPr/>
          <p:nvPr/>
        </p:nvSpPr>
        <p:spPr>
          <a:xfrm>
            <a:off x="6094476" y="6583680"/>
            <a:ext cx="0" cy="182880"/>
          </a:xfrm>
          <a:prstGeom prst="line">
            <a:avLst/>
          </a:prstGeom>
          <a:noFill/>
          <a:ln w="12700">
            <a:solidFill>
              <a:srgbClr val="66757F"/>
            </a:solidFill>
            <a:prstDash val="solid"/>
          </a:ln>
        </p:spPr>
      </p:sp>
      <p:sp>
        <p:nvSpPr>
          <p:cNvPr id="15" name="Shape 12"/>
          <p:cNvSpPr/>
          <p:nvPr/>
        </p:nvSpPr>
        <p:spPr>
          <a:xfrm>
            <a:off x="91440" y="3429000"/>
            <a:ext cx="182880" cy="0"/>
          </a:xfrm>
          <a:prstGeom prst="line">
            <a:avLst/>
          </a:prstGeom>
          <a:noFill/>
          <a:ln w="12700">
            <a:solidFill>
              <a:srgbClr val="66757F"/>
            </a:solidFill>
            <a:prstDash val="solid"/>
          </a:ln>
        </p:spPr>
      </p:sp>
      <p:sp>
        <p:nvSpPr>
          <p:cNvPr id="16" name="Shape 13"/>
          <p:cNvSpPr/>
          <p:nvPr/>
        </p:nvSpPr>
        <p:spPr>
          <a:xfrm>
            <a:off x="182880" y="3337560"/>
            <a:ext cx="0" cy="182880"/>
          </a:xfrm>
          <a:prstGeom prst="line">
            <a:avLst/>
          </a:prstGeom>
          <a:noFill/>
          <a:ln w="12700">
            <a:solidFill>
              <a:srgbClr val="66757F"/>
            </a:solidFill>
            <a:prstDash val="solid"/>
          </a:ln>
        </p:spPr>
      </p:sp>
      <p:sp>
        <p:nvSpPr>
          <p:cNvPr id="17" name="Shape 14"/>
          <p:cNvSpPr/>
          <p:nvPr/>
        </p:nvSpPr>
        <p:spPr>
          <a:xfrm>
            <a:off x="11914632" y="3429000"/>
            <a:ext cx="182880" cy="0"/>
          </a:xfrm>
          <a:prstGeom prst="line">
            <a:avLst/>
          </a:prstGeom>
          <a:noFill/>
          <a:ln w="12700">
            <a:solidFill>
              <a:srgbClr val="66757F"/>
            </a:solidFill>
            <a:prstDash val="solid"/>
          </a:ln>
        </p:spPr>
      </p:sp>
      <p:sp>
        <p:nvSpPr>
          <p:cNvPr id="18" name="Shape 15"/>
          <p:cNvSpPr/>
          <p:nvPr/>
        </p:nvSpPr>
        <p:spPr>
          <a:xfrm>
            <a:off x="12006072" y="3337560"/>
            <a:ext cx="0" cy="182880"/>
          </a:xfrm>
          <a:prstGeom prst="line">
            <a:avLst/>
          </a:prstGeom>
          <a:noFill/>
          <a:ln w="12700">
            <a:solidFill>
              <a:srgbClr val="66757F"/>
            </a:solidFill>
            <a:prstDash val="solid"/>
          </a:ln>
        </p:spPr>
      </p:sp>
      <p:sp>
        <p:nvSpPr>
          <p:cNvPr id="19" name="Text 16"/>
          <p:cNvSpPr txBox="1"/>
          <p:nvPr/>
        </p:nvSpPr>
        <p:spPr>
          <a:xfrm>
            <a:off x="566928" y="329184"/>
            <a:ext cx="11064240" cy="566928"/>
          </a:xfrm>
          <a:prstGeom prst="rect">
            <a:avLst/>
          </a:prstGeom>
          <a:noFill/>
          <a:ln/>
        </p:spPr>
        <p:txBody>
          <a:bodyPr wrap="square" lIns="0" tIns="0" rIns="0" bIns="0" rtlCol="0" anchor="t"/>
          <a:lstStyle/>
          <a:p>
            <a:pPr indent="0" marL="0">
              <a:buNone/>
            </a:pPr>
            <a:r>
              <a:rPr lang="en-US" sz="2900" b="1" dirty="0">
                <a:solidFill>
                  <a:srgbClr val="FFFFFF"/>
                </a:solidFill>
                <a:latin typeface="Arial" pitchFamily="34" charset="0"/>
                <a:ea typeface="Arial" pitchFamily="34" charset="-122"/>
                <a:cs typeface="Arial" pitchFamily="34" charset="-120"/>
              </a:rPr>
              <a:t>Environment and Observation Graph</a:t>
            </a:r>
            <a:endParaRPr lang="en-US" sz="2900" dirty="0"/>
          </a:p>
        </p:txBody>
      </p:sp>
      <p:sp>
        <p:nvSpPr>
          <p:cNvPr id="20" name="Shape 17"/>
          <p:cNvSpPr/>
          <p:nvPr/>
        </p:nvSpPr>
        <p:spPr>
          <a:xfrm>
            <a:off x="548640" y="1143000"/>
            <a:ext cx="1261872" cy="1188720"/>
          </a:xfrm>
          <a:prstGeom prst="roundRect">
            <a:avLst>
              <a:gd name="adj" fmla="val 4615"/>
            </a:avLst>
          </a:prstGeom>
          <a:solidFill>
            <a:srgbClr val="2F3A43"/>
          </a:solidFill>
          <a:ln w="12700">
            <a:solidFill>
              <a:srgbClr val="5A6772"/>
            </a:solidFill>
            <a:prstDash val="solid"/>
          </a:ln>
        </p:spPr>
      </p:sp>
      <p:sp>
        <p:nvSpPr>
          <p:cNvPr id="21" name="Text 18"/>
          <p:cNvSpPr txBox="1"/>
          <p:nvPr/>
        </p:nvSpPr>
        <p:spPr>
          <a:xfrm>
            <a:off x="585216" y="1325880"/>
            <a:ext cx="1188720" cy="411480"/>
          </a:xfrm>
          <a:prstGeom prst="rect">
            <a:avLst/>
          </a:prstGeom>
          <a:noFill/>
          <a:ln/>
        </p:spPr>
        <p:txBody>
          <a:bodyPr wrap="square" lIns="0" tIns="0" rIns="0" bIns="0" rtlCol="0" anchor="t"/>
          <a:lstStyle/>
          <a:p>
            <a:pPr algn="ctr" indent="0" marL="0">
              <a:buNone/>
            </a:pPr>
            <a:r>
              <a:rPr lang="en-US" sz="2200" b="1" dirty="0">
                <a:solidFill>
                  <a:srgbClr val="35D6E8"/>
                </a:solidFill>
                <a:latin typeface="Arial" pitchFamily="34" charset="0"/>
                <a:ea typeface="Arial" pitchFamily="34" charset="-122"/>
                <a:cs typeface="Arial" pitchFamily="34" charset="-120"/>
              </a:rPr>
              <a:t>20</a:t>
            </a:r>
            <a:endParaRPr lang="en-US" sz="2200" dirty="0"/>
          </a:p>
        </p:txBody>
      </p:sp>
      <p:sp>
        <p:nvSpPr>
          <p:cNvPr id="22" name="Text 19"/>
          <p:cNvSpPr txBox="1"/>
          <p:nvPr/>
        </p:nvSpPr>
        <p:spPr>
          <a:xfrm>
            <a:off x="585216" y="1828800"/>
            <a:ext cx="1188720" cy="274320"/>
          </a:xfrm>
          <a:prstGeom prst="rect">
            <a:avLst/>
          </a:prstGeom>
          <a:noFill/>
          <a:ln/>
        </p:spPr>
        <p:txBody>
          <a:bodyPr wrap="square" lIns="0" tIns="0" rIns="0" bIns="0" rtlCol="0" anchor="t"/>
          <a:lstStyle/>
          <a:p>
            <a:pPr algn="ctr" indent="0" marL="0">
              <a:buNone/>
            </a:pPr>
            <a:r>
              <a:rPr lang="en-US" sz="1000" dirty="0">
                <a:solidFill>
                  <a:srgbClr val="AFBDC8"/>
                </a:solidFill>
                <a:latin typeface="Arial" pitchFamily="34" charset="0"/>
                <a:ea typeface="Arial" pitchFamily="34" charset="-122"/>
                <a:cs typeface="Arial" pitchFamily="34" charset="-120"/>
              </a:rPr>
              <a:t>taxis</a:t>
            </a:r>
            <a:endParaRPr lang="en-US" sz="1000" dirty="0"/>
          </a:p>
        </p:txBody>
      </p:sp>
      <p:sp>
        <p:nvSpPr>
          <p:cNvPr id="23" name="Shape 20"/>
          <p:cNvSpPr/>
          <p:nvPr/>
        </p:nvSpPr>
        <p:spPr>
          <a:xfrm>
            <a:off x="1938528" y="1143000"/>
            <a:ext cx="1261872" cy="1188720"/>
          </a:xfrm>
          <a:prstGeom prst="roundRect">
            <a:avLst>
              <a:gd name="adj" fmla="val 4615"/>
            </a:avLst>
          </a:prstGeom>
          <a:solidFill>
            <a:srgbClr val="2F3A43"/>
          </a:solidFill>
          <a:ln w="12700">
            <a:solidFill>
              <a:srgbClr val="5A6772"/>
            </a:solidFill>
            <a:prstDash val="solid"/>
          </a:ln>
        </p:spPr>
      </p:sp>
      <p:sp>
        <p:nvSpPr>
          <p:cNvPr id="24" name="Text 21"/>
          <p:cNvSpPr txBox="1"/>
          <p:nvPr/>
        </p:nvSpPr>
        <p:spPr>
          <a:xfrm>
            <a:off x="1975104" y="1325880"/>
            <a:ext cx="1188720" cy="411480"/>
          </a:xfrm>
          <a:prstGeom prst="rect">
            <a:avLst/>
          </a:prstGeom>
          <a:noFill/>
          <a:ln/>
        </p:spPr>
        <p:txBody>
          <a:bodyPr wrap="square" lIns="0" tIns="0" rIns="0" bIns="0" rtlCol="0" anchor="t"/>
          <a:lstStyle/>
          <a:p>
            <a:pPr algn="ctr" indent="0" marL="0">
              <a:buNone/>
            </a:pPr>
            <a:r>
              <a:rPr lang="en-US" sz="2200" b="1" dirty="0">
                <a:solidFill>
                  <a:srgbClr val="35D6E8"/>
                </a:solidFill>
                <a:latin typeface="Arial" pitchFamily="34" charset="0"/>
                <a:ea typeface="Arial" pitchFamily="34" charset="-122"/>
                <a:cs typeface="Arial" pitchFamily="34" charset="-120"/>
              </a:rPr>
              <a:t>50</a:t>
            </a:r>
            <a:endParaRPr lang="en-US" sz="2200" dirty="0"/>
          </a:p>
        </p:txBody>
      </p:sp>
      <p:sp>
        <p:nvSpPr>
          <p:cNvPr id="25" name="Text 22"/>
          <p:cNvSpPr txBox="1"/>
          <p:nvPr/>
        </p:nvSpPr>
        <p:spPr>
          <a:xfrm>
            <a:off x="1975104" y="1828800"/>
            <a:ext cx="1188720" cy="274320"/>
          </a:xfrm>
          <a:prstGeom prst="rect">
            <a:avLst/>
          </a:prstGeom>
          <a:noFill/>
          <a:ln/>
        </p:spPr>
        <p:txBody>
          <a:bodyPr wrap="square" lIns="0" tIns="0" rIns="0" bIns="0" rtlCol="0" anchor="t"/>
          <a:lstStyle/>
          <a:p>
            <a:pPr algn="ctr" indent="0" marL="0">
              <a:buNone/>
            </a:pPr>
            <a:r>
              <a:rPr lang="en-US" sz="1000" dirty="0">
                <a:solidFill>
                  <a:srgbClr val="AFBDC8"/>
                </a:solidFill>
                <a:latin typeface="Arial" pitchFamily="34" charset="0"/>
                <a:ea typeface="Arial" pitchFamily="34" charset="-122"/>
                <a:cs typeface="Arial" pitchFamily="34" charset="-120"/>
              </a:rPr>
              <a:t>requests</a:t>
            </a:r>
            <a:endParaRPr lang="en-US" sz="1000" dirty="0"/>
          </a:p>
        </p:txBody>
      </p:sp>
      <p:sp>
        <p:nvSpPr>
          <p:cNvPr id="26" name="Shape 23"/>
          <p:cNvSpPr/>
          <p:nvPr/>
        </p:nvSpPr>
        <p:spPr>
          <a:xfrm>
            <a:off x="3328416" y="1143000"/>
            <a:ext cx="1261872" cy="1188720"/>
          </a:xfrm>
          <a:prstGeom prst="roundRect">
            <a:avLst>
              <a:gd name="adj" fmla="val 4615"/>
            </a:avLst>
          </a:prstGeom>
          <a:solidFill>
            <a:srgbClr val="2F3A43"/>
          </a:solidFill>
          <a:ln w="12700">
            <a:solidFill>
              <a:srgbClr val="5A6772"/>
            </a:solidFill>
            <a:prstDash val="solid"/>
          </a:ln>
        </p:spPr>
      </p:sp>
      <p:sp>
        <p:nvSpPr>
          <p:cNvPr id="27" name="Text 24"/>
          <p:cNvSpPr txBox="1"/>
          <p:nvPr/>
        </p:nvSpPr>
        <p:spPr>
          <a:xfrm>
            <a:off x="3364992" y="1325880"/>
            <a:ext cx="1188720" cy="411480"/>
          </a:xfrm>
          <a:prstGeom prst="rect">
            <a:avLst/>
          </a:prstGeom>
          <a:noFill/>
          <a:ln/>
        </p:spPr>
        <p:txBody>
          <a:bodyPr wrap="square" lIns="0" tIns="0" rIns="0" bIns="0" rtlCol="0" anchor="t"/>
          <a:lstStyle/>
          <a:p>
            <a:pPr algn="ctr" indent="0" marL="0">
              <a:buNone/>
            </a:pPr>
            <a:r>
              <a:rPr lang="en-US" sz="1600" b="1" dirty="0">
                <a:solidFill>
                  <a:srgbClr val="35D6E8"/>
                </a:solidFill>
                <a:latin typeface="Arial" pitchFamily="34" charset="0"/>
                <a:ea typeface="Arial" pitchFamily="34" charset="-122"/>
                <a:cs typeface="Arial" pitchFamily="34" charset="-120"/>
              </a:rPr>
              <a:t>1,200 s</a:t>
            </a:r>
            <a:endParaRPr lang="en-US" sz="1600" dirty="0"/>
          </a:p>
        </p:txBody>
      </p:sp>
      <p:sp>
        <p:nvSpPr>
          <p:cNvPr id="28" name="Text 25"/>
          <p:cNvSpPr txBox="1"/>
          <p:nvPr/>
        </p:nvSpPr>
        <p:spPr>
          <a:xfrm>
            <a:off x="3364992" y="1828800"/>
            <a:ext cx="1188720" cy="274320"/>
          </a:xfrm>
          <a:prstGeom prst="rect">
            <a:avLst/>
          </a:prstGeom>
          <a:noFill/>
          <a:ln/>
        </p:spPr>
        <p:txBody>
          <a:bodyPr wrap="square" lIns="0" tIns="0" rIns="0" bIns="0" rtlCol="0" anchor="t"/>
          <a:lstStyle/>
          <a:p>
            <a:pPr algn="ctr" indent="0" marL="0">
              <a:buNone/>
            </a:pPr>
            <a:r>
              <a:rPr lang="en-US" sz="1000" dirty="0">
                <a:solidFill>
                  <a:srgbClr val="AFBDC8"/>
                </a:solidFill>
                <a:latin typeface="Arial" pitchFamily="34" charset="0"/>
                <a:ea typeface="Arial" pitchFamily="34" charset="-122"/>
                <a:cs typeface="Arial" pitchFamily="34" charset="-120"/>
              </a:rPr>
              <a:t>episode</a:t>
            </a:r>
            <a:endParaRPr lang="en-US" sz="1000" dirty="0"/>
          </a:p>
        </p:txBody>
      </p:sp>
      <p:sp>
        <p:nvSpPr>
          <p:cNvPr id="29" name="Shape 26"/>
          <p:cNvSpPr/>
          <p:nvPr/>
        </p:nvSpPr>
        <p:spPr>
          <a:xfrm>
            <a:off x="4718304" y="1143000"/>
            <a:ext cx="1261872" cy="1188720"/>
          </a:xfrm>
          <a:prstGeom prst="roundRect">
            <a:avLst>
              <a:gd name="adj" fmla="val 4615"/>
            </a:avLst>
          </a:prstGeom>
          <a:solidFill>
            <a:srgbClr val="2F3A43"/>
          </a:solidFill>
          <a:ln w="12700">
            <a:solidFill>
              <a:srgbClr val="5A6772"/>
            </a:solidFill>
            <a:prstDash val="solid"/>
          </a:ln>
        </p:spPr>
      </p:sp>
      <p:sp>
        <p:nvSpPr>
          <p:cNvPr id="30" name="Text 27"/>
          <p:cNvSpPr txBox="1"/>
          <p:nvPr/>
        </p:nvSpPr>
        <p:spPr>
          <a:xfrm>
            <a:off x="4754880" y="1325880"/>
            <a:ext cx="1188720" cy="411480"/>
          </a:xfrm>
          <a:prstGeom prst="rect">
            <a:avLst/>
          </a:prstGeom>
          <a:noFill/>
          <a:ln/>
        </p:spPr>
        <p:txBody>
          <a:bodyPr wrap="square" lIns="0" tIns="0" rIns="0" bIns="0" rtlCol="0" anchor="t"/>
          <a:lstStyle/>
          <a:p>
            <a:pPr algn="ctr" indent="0" marL="0">
              <a:buNone/>
            </a:pPr>
            <a:r>
              <a:rPr lang="en-US" sz="1600" b="1" dirty="0">
                <a:solidFill>
                  <a:srgbClr val="F0A030"/>
                </a:solidFill>
                <a:latin typeface="Arial" pitchFamily="34" charset="0"/>
                <a:ea typeface="Arial" pitchFamily="34" charset="-122"/>
                <a:cs typeface="Arial" pitchFamily="34" charset="-120"/>
              </a:rPr>
              <a:t>2 x 4</a:t>
            </a:r>
            <a:endParaRPr lang="en-US" sz="1600" dirty="0"/>
          </a:p>
        </p:txBody>
      </p:sp>
      <p:sp>
        <p:nvSpPr>
          <p:cNvPr id="31" name="Text 28"/>
          <p:cNvSpPr txBox="1"/>
          <p:nvPr/>
        </p:nvSpPr>
        <p:spPr>
          <a:xfrm>
            <a:off x="4754880" y="1828800"/>
            <a:ext cx="1188720" cy="274320"/>
          </a:xfrm>
          <a:prstGeom prst="rect">
            <a:avLst/>
          </a:prstGeom>
          <a:noFill/>
          <a:ln/>
        </p:spPr>
        <p:txBody>
          <a:bodyPr wrap="square" lIns="0" tIns="0" rIns="0" bIns="0" rtlCol="0" anchor="t"/>
          <a:lstStyle/>
          <a:p>
            <a:pPr algn="ctr" indent="0" marL="0">
              <a:buNone/>
            </a:pPr>
            <a:r>
              <a:rPr lang="en-US" sz="1000" dirty="0">
                <a:solidFill>
                  <a:srgbClr val="AFBDC8"/>
                </a:solidFill>
                <a:latin typeface="Arial" pitchFamily="34" charset="0"/>
                <a:ea typeface="Arial" pitchFamily="34" charset="-122"/>
                <a:cs typeface="Arial" pitchFamily="34" charset="-120"/>
              </a:rPr>
              <a:t>layers x heads</a:t>
            </a:r>
            <a:endParaRPr lang="en-US" sz="1000" dirty="0"/>
          </a:p>
        </p:txBody>
      </p:sp>
      <p:sp>
        <p:nvSpPr>
          <p:cNvPr id="32" name="Shape 29"/>
          <p:cNvSpPr/>
          <p:nvPr/>
        </p:nvSpPr>
        <p:spPr>
          <a:xfrm>
            <a:off x="548640" y="2514600"/>
            <a:ext cx="5577840" cy="2880360"/>
          </a:xfrm>
          <a:prstGeom prst="roundRect">
            <a:avLst>
              <a:gd name="adj" fmla="val 1905"/>
            </a:avLst>
          </a:prstGeom>
          <a:solidFill>
            <a:srgbClr val="2F3A43"/>
          </a:solidFill>
          <a:ln w="12700">
            <a:solidFill>
              <a:srgbClr val="35D6E8"/>
            </a:solidFill>
            <a:prstDash val="solid"/>
          </a:ln>
        </p:spPr>
      </p:sp>
      <p:sp>
        <p:nvSpPr>
          <p:cNvPr id="33" name="Text 30"/>
          <p:cNvSpPr txBox="1"/>
          <p:nvPr/>
        </p:nvSpPr>
        <p:spPr>
          <a:xfrm>
            <a:off x="777240" y="2697480"/>
            <a:ext cx="5120640" cy="292608"/>
          </a:xfrm>
          <a:prstGeom prst="rect">
            <a:avLst/>
          </a:prstGeom>
          <a:noFill/>
          <a:ln/>
        </p:spPr>
        <p:txBody>
          <a:bodyPr wrap="square" lIns="0" tIns="0" rIns="0" bIns="0" rtlCol="0" anchor="t"/>
          <a:lstStyle/>
          <a:p>
            <a:pPr indent="0" marL="0">
              <a:buNone/>
            </a:pPr>
            <a:r>
              <a:rPr lang="en-US" sz="1400" b="1" dirty="0">
                <a:solidFill>
                  <a:srgbClr val="35D6E8"/>
                </a:solidFill>
                <a:latin typeface="Arial" pitchFamily="34" charset="0"/>
                <a:ea typeface="Arial" pitchFamily="34" charset="-122"/>
                <a:cs typeface="Arial" pitchFamily="34" charset="-120"/>
              </a:rPr>
              <a:t>GAT-MAPPO  ·  CTDE</a:t>
            </a:r>
            <a:endParaRPr lang="en-US" sz="1400" dirty="0"/>
          </a:p>
        </p:txBody>
      </p:sp>
      <p:sp>
        <p:nvSpPr>
          <p:cNvPr id="34" name="Shape 31"/>
          <p:cNvSpPr/>
          <p:nvPr/>
        </p:nvSpPr>
        <p:spPr>
          <a:xfrm>
            <a:off x="822960" y="3127248"/>
            <a:ext cx="274320" cy="274320"/>
          </a:xfrm>
          <a:prstGeom prst="ellipse">
            <a:avLst/>
          </a:prstGeom>
          <a:solidFill>
            <a:srgbClr val="35D6E8"/>
          </a:solidFill>
          <a:ln w="12700">
            <a:solidFill>
              <a:srgbClr val="35D6E8"/>
            </a:solidFill>
            <a:prstDash val="solid"/>
          </a:ln>
        </p:spPr>
      </p:sp>
      <p:sp>
        <p:nvSpPr>
          <p:cNvPr id="35" name="Text 32"/>
          <p:cNvSpPr txBox="1"/>
          <p:nvPr/>
        </p:nvSpPr>
        <p:spPr>
          <a:xfrm>
            <a:off x="777240" y="3163824"/>
            <a:ext cx="365760" cy="219456"/>
          </a:xfrm>
          <a:prstGeom prst="rect">
            <a:avLst/>
          </a:prstGeom>
          <a:noFill/>
          <a:ln/>
        </p:spPr>
        <p:txBody>
          <a:bodyPr wrap="square" lIns="0" tIns="0" rIns="0" bIns="0" rtlCol="0" anchor="t"/>
          <a:lstStyle/>
          <a:p>
            <a:pPr algn="ctr" indent="0" marL="0">
              <a:buNone/>
            </a:pPr>
            <a:r>
              <a:rPr lang="en-US" sz="1050" b="1" dirty="0">
                <a:solidFill>
                  <a:srgbClr val="1F2830"/>
                </a:solidFill>
                <a:latin typeface="Arial" pitchFamily="34" charset="0"/>
                <a:ea typeface="Arial" pitchFamily="34" charset="-122"/>
                <a:cs typeface="Arial" pitchFamily="34" charset="-120"/>
              </a:rPr>
              <a:t>1</a:t>
            </a:r>
            <a:endParaRPr lang="en-US" sz="1050" dirty="0"/>
          </a:p>
        </p:txBody>
      </p:sp>
      <p:sp>
        <p:nvSpPr>
          <p:cNvPr id="36" name="Text 33"/>
          <p:cNvSpPr txBox="1"/>
          <p:nvPr/>
        </p:nvSpPr>
        <p:spPr>
          <a:xfrm>
            <a:off x="1280160" y="3127248"/>
            <a:ext cx="19202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Local graph</a:t>
            </a:r>
            <a:endParaRPr lang="en-US" sz="1200" dirty="0"/>
          </a:p>
        </p:txBody>
      </p:sp>
      <p:sp>
        <p:nvSpPr>
          <p:cNvPr id="37" name="Text 34"/>
          <p:cNvSpPr txBox="1"/>
          <p:nvPr/>
        </p:nvSpPr>
        <p:spPr>
          <a:xfrm>
            <a:off x="3154680" y="3127248"/>
            <a:ext cx="2834640" cy="274320"/>
          </a:xfrm>
          <a:prstGeom prst="rect">
            <a:avLst/>
          </a:prstGeom>
          <a:noFill/>
          <a:ln/>
        </p:spPr>
        <p:txBody>
          <a:bodyPr wrap="square" lIns="0" tIns="0" rIns="0" bIns="0" rtlCol="0" anchor="ctr"/>
          <a:lstStyle/>
          <a:p>
            <a:pPr indent="0" marL="0">
              <a:buNone/>
            </a:pPr>
            <a:r>
              <a:rPr lang="en-US" sz="1100" dirty="0">
                <a:solidFill>
                  <a:srgbClr val="AFBDC8"/>
                </a:solidFill>
                <a:latin typeface="Arial" pitchFamily="34" charset="0"/>
                <a:ea typeface="Arial" pitchFamily="34" charset="-122"/>
                <a:cs typeface="Arial" pitchFamily="34" charset="-120"/>
              </a:rPr>
              <a:t>self · peers · requests</a:t>
            </a:r>
            <a:endParaRPr lang="en-US" sz="1100" dirty="0"/>
          </a:p>
        </p:txBody>
      </p:sp>
      <p:sp>
        <p:nvSpPr>
          <p:cNvPr id="38" name="Shape 35"/>
          <p:cNvSpPr/>
          <p:nvPr/>
        </p:nvSpPr>
        <p:spPr>
          <a:xfrm>
            <a:off x="960120" y="3419856"/>
            <a:ext cx="0" cy="146304"/>
          </a:xfrm>
          <a:prstGeom prst="line">
            <a:avLst/>
          </a:prstGeom>
          <a:noFill/>
          <a:ln w="12700">
            <a:solidFill>
              <a:srgbClr val="5A6772"/>
            </a:solidFill>
            <a:prstDash val="solid"/>
          </a:ln>
        </p:spPr>
      </p:sp>
      <p:sp>
        <p:nvSpPr>
          <p:cNvPr id="39" name="Shape 36"/>
          <p:cNvSpPr/>
          <p:nvPr/>
        </p:nvSpPr>
        <p:spPr>
          <a:xfrm>
            <a:off x="822960" y="3675888"/>
            <a:ext cx="274320" cy="274320"/>
          </a:xfrm>
          <a:prstGeom prst="ellipse">
            <a:avLst/>
          </a:prstGeom>
          <a:solidFill>
            <a:srgbClr val="35D6E8"/>
          </a:solidFill>
          <a:ln w="12700">
            <a:solidFill>
              <a:srgbClr val="35D6E8"/>
            </a:solidFill>
            <a:prstDash val="solid"/>
          </a:ln>
        </p:spPr>
      </p:sp>
      <p:sp>
        <p:nvSpPr>
          <p:cNvPr id="40" name="Text 37"/>
          <p:cNvSpPr txBox="1"/>
          <p:nvPr/>
        </p:nvSpPr>
        <p:spPr>
          <a:xfrm>
            <a:off x="777240" y="3712464"/>
            <a:ext cx="365760" cy="219456"/>
          </a:xfrm>
          <a:prstGeom prst="rect">
            <a:avLst/>
          </a:prstGeom>
          <a:noFill/>
          <a:ln/>
        </p:spPr>
        <p:txBody>
          <a:bodyPr wrap="square" lIns="0" tIns="0" rIns="0" bIns="0" rtlCol="0" anchor="t"/>
          <a:lstStyle/>
          <a:p>
            <a:pPr algn="ctr" indent="0" marL="0">
              <a:buNone/>
            </a:pPr>
            <a:r>
              <a:rPr lang="en-US" sz="1050" b="1" dirty="0">
                <a:solidFill>
                  <a:srgbClr val="1F2830"/>
                </a:solidFill>
                <a:latin typeface="Arial" pitchFamily="34" charset="0"/>
                <a:ea typeface="Arial" pitchFamily="34" charset="-122"/>
                <a:cs typeface="Arial" pitchFamily="34" charset="-120"/>
              </a:rPr>
              <a:t>2</a:t>
            </a:r>
            <a:endParaRPr lang="en-US" sz="1050" dirty="0"/>
          </a:p>
        </p:txBody>
      </p:sp>
      <p:sp>
        <p:nvSpPr>
          <p:cNvPr id="41" name="Text 38"/>
          <p:cNvSpPr txBox="1"/>
          <p:nvPr/>
        </p:nvSpPr>
        <p:spPr>
          <a:xfrm>
            <a:off x="1280160" y="3675888"/>
            <a:ext cx="19202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Typed encoder</a:t>
            </a:r>
            <a:endParaRPr lang="en-US" sz="1200" dirty="0"/>
          </a:p>
        </p:txBody>
      </p:sp>
      <p:sp>
        <p:nvSpPr>
          <p:cNvPr id="42" name="Text 39"/>
          <p:cNvSpPr txBox="1"/>
          <p:nvPr/>
        </p:nvSpPr>
        <p:spPr>
          <a:xfrm>
            <a:off x="3154680" y="3675888"/>
            <a:ext cx="2834640" cy="274320"/>
          </a:xfrm>
          <a:prstGeom prst="rect">
            <a:avLst/>
          </a:prstGeom>
          <a:noFill/>
          <a:ln/>
        </p:spPr>
        <p:txBody>
          <a:bodyPr wrap="square" lIns="0" tIns="0" rIns="0" bIns="0" rtlCol="0" anchor="ctr"/>
          <a:lstStyle/>
          <a:p>
            <a:pPr indent="0" marL="0">
              <a:buNone/>
            </a:pPr>
            <a:r>
              <a:rPr lang="en-US" sz="1100" dirty="0">
                <a:solidFill>
                  <a:srgbClr val="AFBDC8"/>
                </a:solidFill>
                <a:latin typeface="Arial" pitchFamily="34" charset="0"/>
                <a:ea typeface="Arial" pitchFamily="34" charset="-122"/>
                <a:cs typeface="Arial" pitchFamily="34" charset="-120"/>
              </a:rPr>
              <a:t>per-node-type projection</a:t>
            </a:r>
            <a:endParaRPr lang="en-US" sz="1100" dirty="0"/>
          </a:p>
        </p:txBody>
      </p:sp>
      <p:sp>
        <p:nvSpPr>
          <p:cNvPr id="43" name="Shape 40"/>
          <p:cNvSpPr/>
          <p:nvPr/>
        </p:nvSpPr>
        <p:spPr>
          <a:xfrm>
            <a:off x="960120" y="3968496"/>
            <a:ext cx="0" cy="146304"/>
          </a:xfrm>
          <a:prstGeom prst="line">
            <a:avLst/>
          </a:prstGeom>
          <a:noFill/>
          <a:ln w="12700">
            <a:solidFill>
              <a:srgbClr val="5A6772"/>
            </a:solidFill>
            <a:prstDash val="solid"/>
          </a:ln>
        </p:spPr>
      </p:sp>
      <p:sp>
        <p:nvSpPr>
          <p:cNvPr id="44" name="Shape 41"/>
          <p:cNvSpPr/>
          <p:nvPr/>
        </p:nvSpPr>
        <p:spPr>
          <a:xfrm>
            <a:off x="822960" y="4224528"/>
            <a:ext cx="274320" cy="274320"/>
          </a:xfrm>
          <a:prstGeom prst="ellipse">
            <a:avLst/>
          </a:prstGeom>
          <a:solidFill>
            <a:srgbClr val="F0A030"/>
          </a:solidFill>
          <a:ln w="12700">
            <a:solidFill>
              <a:srgbClr val="F0A030"/>
            </a:solidFill>
            <a:prstDash val="solid"/>
          </a:ln>
        </p:spPr>
      </p:sp>
      <p:sp>
        <p:nvSpPr>
          <p:cNvPr id="45" name="Text 42"/>
          <p:cNvSpPr txBox="1"/>
          <p:nvPr/>
        </p:nvSpPr>
        <p:spPr>
          <a:xfrm>
            <a:off x="777240" y="4261104"/>
            <a:ext cx="365760" cy="219456"/>
          </a:xfrm>
          <a:prstGeom prst="rect">
            <a:avLst/>
          </a:prstGeom>
          <a:noFill/>
          <a:ln/>
        </p:spPr>
        <p:txBody>
          <a:bodyPr wrap="square" lIns="0" tIns="0" rIns="0" bIns="0" rtlCol="0" anchor="t"/>
          <a:lstStyle/>
          <a:p>
            <a:pPr algn="ctr" indent="0" marL="0">
              <a:buNone/>
            </a:pPr>
            <a:r>
              <a:rPr lang="en-US" sz="1050" b="1" dirty="0">
                <a:solidFill>
                  <a:srgbClr val="1F2830"/>
                </a:solidFill>
                <a:latin typeface="Arial" pitchFamily="34" charset="0"/>
                <a:ea typeface="Arial" pitchFamily="34" charset="-122"/>
                <a:cs typeface="Arial" pitchFamily="34" charset="-120"/>
              </a:rPr>
              <a:t>3</a:t>
            </a:r>
            <a:endParaRPr lang="en-US" sz="1050" dirty="0"/>
          </a:p>
        </p:txBody>
      </p:sp>
      <p:sp>
        <p:nvSpPr>
          <p:cNvPr id="46" name="Text 43"/>
          <p:cNvSpPr txBox="1"/>
          <p:nvPr/>
        </p:nvSpPr>
        <p:spPr>
          <a:xfrm>
            <a:off x="1280160" y="4224528"/>
            <a:ext cx="19202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Attention encoder</a:t>
            </a:r>
            <a:endParaRPr lang="en-US" sz="1200" dirty="0"/>
          </a:p>
        </p:txBody>
      </p:sp>
      <p:sp>
        <p:nvSpPr>
          <p:cNvPr id="47" name="Text 44"/>
          <p:cNvSpPr txBox="1"/>
          <p:nvPr/>
        </p:nvSpPr>
        <p:spPr>
          <a:xfrm>
            <a:off x="3154680" y="4224528"/>
            <a:ext cx="2834640" cy="274320"/>
          </a:xfrm>
          <a:prstGeom prst="rect">
            <a:avLst/>
          </a:prstGeom>
          <a:noFill/>
          <a:ln/>
        </p:spPr>
        <p:txBody>
          <a:bodyPr wrap="square" lIns="0" tIns="0" rIns="0" bIns="0" rtlCol="0" anchor="ctr"/>
          <a:lstStyle/>
          <a:p>
            <a:pPr indent="0" marL="0">
              <a:buNone/>
            </a:pPr>
            <a:r>
              <a:rPr lang="en-US" sz="1100" dirty="0">
                <a:solidFill>
                  <a:srgbClr val="AFBDC8"/>
                </a:solidFill>
                <a:latin typeface="Arial" pitchFamily="34" charset="0"/>
                <a:ea typeface="Arial" pitchFamily="34" charset="-122"/>
                <a:cs typeface="Arial" pitchFamily="34" charset="-120"/>
              </a:rPr>
              <a:t>2 layers x 4 heads</a:t>
            </a:r>
            <a:endParaRPr lang="en-US" sz="1100" dirty="0"/>
          </a:p>
        </p:txBody>
      </p:sp>
      <p:sp>
        <p:nvSpPr>
          <p:cNvPr id="48" name="Shape 45"/>
          <p:cNvSpPr/>
          <p:nvPr/>
        </p:nvSpPr>
        <p:spPr>
          <a:xfrm>
            <a:off x="960120" y="4517136"/>
            <a:ext cx="0" cy="146304"/>
          </a:xfrm>
          <a:prstGeom prst="line">
            <a:avLst/>
          </a:prstGeom>
          <a:noFill/>
          <a:ln w="12700">
            <a:solidFill>
              <a:srgbClr val="5A6772"/>
            </a:solidFill>
            <a:prstDash val="solid"/>
          </a:ln>
        </p:spPr>
      </p:sp>
      <p:sp>
        <p:nvSpPr>
          <p:cNvPr id="49" name="Shape 46"/>
          <p:cNvSpPr/>
          <p:nvPr/>
        </p:nvSpPr>
        <p:spPr>
          <a:xfrm>
            <a:off x="822960" y="4773168"/>
            <a:ext cx="274320" cy="274320"/>
          </a:xfrm>
          <a:prstGeom prst="ellipse">
            <a:avLst/>
          </a:prstGeom>
          <a:solidFill>
            <a:srgbClr val="35D6E8"/>
          </a:solidFill>
          <a:ln w="12700">
            <a:solidFill>
              <a:srgbClr val="35D6E8"/>
            </a:solidFill>
            <a:prstDash val="solid"/>
          </a:ln>
        </p:spPr>
      </p:sp>
      <p:sp>
        <p:nvSpPr>
          <p:cNvPr id="50" name="Text 47"/>
          <p:cNvSpPr txBox="1"/>
          <p:nvPr/>
        </p:nvSpPr>
        <p:spPr>
          <a:xfrm>
            <a:off x="777240" y="4809744"/>
            <a:ext cx="365760" cy="219456"/>
          </a:xfrm>
          <a:prstGeom prst="rect">
            <a:avLst/>
          </a:prstGeom>
          <a:noFill/>
          <a:ln/>
        </p:spPr>
        <p:txBody>
          <a:bodyPr wrap="square" lIns="0" tIns="0" rIns="0" bIns="0" rtlCol="0" anchor="t"/>
          <a:lstStyle/>
          <a:p>
            <a:pPr algn="ctr" indent="0" marL="0">
              <a:buNone/>
            </a:pPr>
            <a:r>
              <a:rPr lang="en-US" sz="1050" b="1" dirty="0">
                <a:solidFill>
                  <a:srgbClr val="1F2830"/>
                </a:solidFill>
                <a:latin typeface="Arial" pitchFamily="34" charset="0"/>
                <a:ea typeface="Arial" pitchFamily="34" charset="-122"/>
                <a:cs typeface="Arial" pitchFamily="34" charset="-120"/>
              </a:rPr>
              <a:t>4</a:t>
            </a:r>
            <a:endParaRPr lang="en-US" sz="1050" dirty="0"/>
          </a:p>
        </p:txBody>
      </p:sp>
      <p:sp>
        <p:nvSpPr>
          <p:cNvPr id="51" name="Text 48"/>
          <p:cNvSpPr txBox="1"/>
          <p:nvPr/>
        </p:nvSpPr>
        <p:spPr>
          <a:xfrm>
            <a:off x="1280160" y="4773168"/>
            <a:ext cx="19202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Actor</a:t>
            </a:r>
            <a:endParaRPr lang="en-US" sz="1200" dirty="0"/>
          </a:p>
        </p:txBody>
      </p:sp>
      <p:sp>
        <p:nvSpPr>
          <p:cNvPr id="52" name="Text 49"/>
          <p:cNvSpPr txBox="1"/>
          <p:nvPr/>
        </p:nvSpPr>
        <p:spPr>
          <a:xfrm>
            <a:off x="3154680" y="4773168"/>
            <a:ext cx="2834640" cy="274320"/>
          </a:xfrm>
          <a:prstGeom prst="rect">
            <a:avLst/>
          </a:prstGeom>
          <a:noFill/>
          <a:ln/>
        </p:spPr>
        <p:txBody>
          <a:bodyPr wrap="square" lIns="0" tIns="0" rIns="0" bIns="0" rtlCol="0" anchor="ctr"/>
          <a:lstStyle/>
          <a:p>
            <a:pPr indent="0" marL="0">
              <a:buNone/>
            </a:pPr>
            <a:r>
              <a:rPr lang="en-US" sz="1100" dirty="0">
                <a:solidFill>
                  <a:srgbClr val="AFBDC8"/>
                </a:solidFill>
                <a:latin typeface="Arial" pitchFamily="34" charset="0"/>
                <a:ea typeface="Arial" pitchFamily="34" charset="-122"/>
                <a:cs typeface="Arial" pitchFamily="34" charset="-120"/>
              </a:rPr>
              <a:t>no-op + one action per request</a:t>
            </a:r>
            <a:endParaRPr lang="en-US" sz="1100" dirty="0"/>
          </a:p>
        </p:txBody>
      </p:sp>
      <p:sp>
        <p:nvSpPr>
          <p:cNvPr id="53" name="Shape 50"/>
          <p:cNvSpPr/>
          <p:nvPr/>
        </p:nvSpPr>
        <p:spPr>
          <a:xfrm>
            <a:off x="6355080" y="1143000"/>
            <a:ext cx="5285232" cy="4251960"/>
          </a:xfrm>
          <a:prstGeom prst="roundRect">
            <a:avLst>
              <a:gd name="adj" fmla="val 1290"/>
            </a:avLst>
          </a:prstGeom>
          <a:solidFill>
            <a:srgbClr val="2F3A43"/>
          </a:solidFill>
          <a:ln w="12700">
            <a:solidFill>
              <a:srgbClr val="5A6772"/>
            </a:solidFill>
            <a:prstDash val="solid"/>
          </a:ln>
        </p:spPr>
      </p:sp>
      <p:sp>
        <p:nvSpPr>
          <p:cNvPr id="54" name="Shape 51"/>
          <p:cNvSpPr/>
          <p:nvPr/>
        </p:nvSpPr>
        <p:spPr>
          <a:xfrm flipH="1" flipV="1">
            <a:off x="7452360" y="2057400"/>
            <a:ext cx="1600200" cy="1143000"/>
          </a:xfrm>
          <a:prstGeom prst="line">
            <a:avLst/>
          </a:prstGeom>
          <a:noFill/>
          <a:ln w="12700">
            <a:solidFill>
              <a:srgbClr val="7E8C98"/>
            </a:solidFill>
            <a:prstDash val="solid"/>
          </a:ln>
        </p:spPr>
      </p:sp>
      <p:sp>
        <p:nvSpPr>
          <p:cNvPr id="55" name="Shape 52"/>
          <p:cNvSpPr/>
          <p:nvPr/>
        </p:nvSpPr>
        <p:spPr>
          <a:xfrm flipH="1" flipV="1">
            <a:off x="7040880" y="2834640"/>
            <a:ext cx="2011680" cy="365760"/>
          </a:xfrm>
          <a:prstGeom prst="line">
            <a:avLst/>
          </a:prstGeom>
          <a:noFill/>
          <a:ln w="12700">
            <a:solidFill>
              <a:srgbClr val="7E8C98"/>
            </a:solidFill>
            <a:prstDash val="solid"/>
          </a:ln>
        </p:spPr>
      </p:sp>
      <p:sp>
        <p:nvSpPr>
          <p:cNvPr id="56" name="Shape 53"/>
          <p:cNvSpPr/>
          <p:nvPr/>
        </p:nvSpPr>
        <p:spPr>
          <a:xfrm flipH="1">
            <a:off x="7452360" y="3200400"/>
            <a:ext cx="1600200" cy="777240"/>
          </a:xfrm>
          <a:prstGeom prst="line">
            <a:avLst/>
          </a:prstGeom>
          <a:noFill/>
          <a:ln w="12700">
            <a:solidFill>
              <a:srgbClr val="7E8C98"/>
            </a:solidFill>
            <a:prstDash val="solid"/>
          </a:ln>
        </p:spPr>
      </p:sp>
      <p:sp>
        <p:nvSpPr>
          <p:cNvPr id="57" name="Shape 54"/>
          <p:cNvSpPr/>
          <p:nvPr/>
        </p:nvSpPr>
        <p:spPr>
          <a:xfrm flipH="1" flipV="1">
            <a:off x="8138160" y="1783080"/>
            <a:ext cx="914400" cy="1417320"/>
          </a:xfrm>
          <a:prstGeom prst="line">
            <a:avLst/>
          </a:prstGeom>
          <a:noFill/>
          <a:ln w="12700">
            <a:solidFill>
              <a:srgbClr val="7E8C98"/>
            </a:solidFill>
            <a:prstDash val="solid"/>
          </a:ln>
        </p:spPr>
      </p:sp>
      <p:sp>
        <p:nvSpPr>
          <p:cNvPr id="58" name="Shape 55"/>
          <p:cNvSpPr/>
          <p:nvPr/>
        </p:nvSpPr>
        <p:spPr>
          <a:xfrm flipH="1">
            <a:off x="8092440" y="3200400"/>
            <a:ext cx="960120" cy="1143000"/>
          </a:xfrm>
          <a:prstGeom prst="line">
            <a:avLst/>
          </a:prstGeom>
          <a:noFill/>
          <a:ln w="12700">
            <a:solidFill>
              <a:srgbClr val="7E8C98"/>
            </a:solidFill>
            <a:prstDash val="solid"/>
          </a:ln>
        </p:spPr>
      </p:sp>
      <p:sp>
        <p:nvSpPr>
          <p:cNvPr id="59" name="Shape 56"/>
          <p:cNvSpPr/>
          <p:nvPr/>
        </p:nvSpPr>
        <p:spPr>
          <a:xfrm flipV="1">
            <a:off x="9052560" y="2057400"/>
            <a:ext cx="1554480" cy="1143000"/>
          </a:xfrm>
          <a:prstGeom prst="line">
            <a:avLst/>
          </a:prstGeom>
          <a:noFill/>
          <a:ln w="12700">
            <a:solidFill>
              <a:srgbClr val="7E8C98"/>
            </a:solidFill>
            <a:prstDash val="solid"/>
          </a:ln>
        </p:spPr>
      </p:sp>
      <p:sp>
        <p:nvSpPr>
          <p:cNvPr id="60" name="Shape 57"/>
          <p:cNvSpPr/>
          <p:nvPr/>
        </p:nvSpPr>
        <p:spPr>
          <a:xfrm flipV="1">
            <a:off x="9052560" y="2834640"/>
            <a:ext cx="1965960" cy="365760"/>
          </a:xfrm>
          <a:prstGeom prst="line">
            <a:avLst/>
          </a:prstGeom>
          <a:noFill/>
          <a:ln w="12700">
            <a:solidFill>
              <a:srgbClr val="7E8C98"/>
            </a:solidFill>
            <a:prstDash val="solid"/>
          </a:ln>
        </p:spPr>
      </p:sp>
      <p:sp>
        <p:nvSpPr>
          <p:cNvPr id="61" name="Shape 58"/>
          <p:cNvSpPr/>
          <p:nvPr/>
        </p:nvSpPr>
        <p:spPr>
          <a:xfrm>
            <a:off x="9052560" y="3200400"/>
            <a:ext cx="1554480" cy="777240"/>
          </a:xfrm>
          <a:prstGeom prst="line">
            <a:avLst/>
          </a:prstGeom>
          <a:noFill/>
          <a:ln w="12700">
            <a:solidFill>
              <a:srgbClr val="7E8C98"/>
            </a:solidFill>
            <a:prstDash val="solid"/>
          </a:ln>
        </p:spPr>
      </p:sp>
      <p:sp>
        <p:nvSpPr>
          <p:cNvPr id="62" name="Shape 59"/>
          <p:cNvSpPr/>
          <p:nvPr/>
        </p:nvSpPr>
        <p:spPr>
          <a:xfrm flipV="1">
            <a:off x="9052560" y="1783080"/>
            <a:ext cx="868680" cy="1417320"/>
          </a:xfrm>
          <a:prstGeom prst="line">
            <a:avLst/>
          </a:prstGeom>
          <a:noFill/>
          <a:ln w="12700">
            <a:solidFill>
              <a:srgbClr val="7E8C98"/>
            </a:solidFill>
            <a:prstDash val="solid"/>
          </a:ln>
        </p:spPr>
      </p:sp>
      <p:sp>
        <p:nvSpPr>
          <p:cNvPr id="63" name="Shape 60"/>
          <p:cNvSpPr/>
          <p:nvPr/>
        </p:nvSpPr>
        <p:spPr>
          <a:xfrm>
            <a:off x="9052560" y="3200400"/>
            <a:ext cx="914400" cy="1143000"/>
          </a:xfrm>
          <a:prstGeom prst="line">
            <a:avLst/>
          </a:prstGeom>
          <a:noFill/>
          <a:ln w="12700">
            <a:solidFill>
              <a:srgbClr val="7E8C98"/>
            </a:solidFill>
            <a:prstDash val="solid"/>
          </a:ln>
        </p:spPr>
      </p:sp>
      <p:sp>
        <p:nvSpPr>
          <p:cNvPr id="64" name="Shape 61"/>
          <p:cNvSpPr/>
          <p:nvPr/>
        </p:nvSpPr>
        <p:spPr>
          <a:xfrm flipH="1" flipV="1">
            <a:off x="7040880" y="2834640"/>
            <a:ext cx="2011680" cy="365760"/>
          </a:xfrm>
          <a:prstGeom prst="line">
            <a:avLst/>
          </a:prstGeom>
          <a:noFill/>
          <a:ln w="31750">
            <a:solidFill>
              <a:srgbClr val="E4644C"/>
            </a:solidFill>
            <a:prstDash val="solid"/>
          </a:ln>
        </p:spPr>
      </p:sp>
      <p:sp>
        <p:nvSpPr>
          <p:cNvPr id="65" name="Shape 62"/>
          <p:cNvSpPr/>
          <p:nvPr/>
        </p:nvSpPr>
        <p:spPr>
          <a:xfrm flipV="1">
            <a:off x="9052560" y="2834640"/>
            <a:ext cx="1965960" cy="365760"/>
          </a:xfrm>
          <a:prstGeom prst="line">
            <a:avLst/>
          </a:prstGeom>
          <a:noFill/>
          <a:ln w="31750">
            <a:solidFill>
              <a:srgbClr val="35D6E8"/>
            </a:solidFill>
            <a:prstDash val="solid"/>
          </a:ln>
        </p:spPr>
      </p:sp>
      <p:sp>
        <p:nvSpPr>
          <p:cNvPr id="66" name="Shape 63"/>
          <p:cNvSpPr/>
          <p:nvPr/>
        </p:nvSpPr>
        <p:spPr>
          <a:xfrm>
            <a:off x="7278624" y="1883664"/>
            <a:ext cx="347472" cy="347472"/>
          </a:xfrm>
          <a:prstGeom prst="ellipse">
            <a:avLst/>
          </a:prstGeom>
          <a:solidFill>
            <a:srgbClr val="5FC98B"/>
          </a:solidFill>
          <a:ln w="12700">
            <a:solidFill>
              <a:srgbClr val="5FC98B"/>
            </a:solidFill>
            <a:prstDash val="solid"/>
          </a:ln>
        </p:spPr>
      </p:sp>
      <p:sp>
        <p:nvSpPr>
          <p:cNvPr id="67" name="Shape 64"/>
          <p:cNvSpPr/>
          <p:nvPr/>
        </p:nvSpPr>
        <p:spPr>
          <a:xfrm>
            <a:off x="6867144" y="2660904"/>
            <a:ext cx="347472" cy="347472"/>
          </a:xfrm>
          <a:prstGeom prst="ellipse">
            <a:avLst/>
          </a:prstGeom>
          <a:solidFill>
            <a:srgbClr val="E4644C"/>
          </a:solidFill>
          <a:ln w="12700">
            <a:solidFill>
              <a:srgbClr val="E4644C"/>
            </a:solidFill>
            <a:prstDash val="solid"/>
          </a:ln>
        </p:spPr>
      </p:sp>
      <p:sp>
        <p:nvSpPr>
          <p:cNvPr id="68" name="Shape 65"/>
          <p:cNvSpPr/>
          <p:nvPr/>
        </p:nvSpPr>
        <p:spPr>
          <a:xfrm>
            <a:off x="7278624" y="3803904"/>
            <a:ext cx="347472" cy="347472"/>
          </a:xfrm>
          <a:prstGeom prst="ellipse">
            <a:avLst/>
          </a:prstGeom>
          <a:solidFill>
            <a:srgbClr val="5FC98B"/>
          </a:solidFill>
          <a:ln w="12700">
            <a:solidFill>
              <a:srgbClr val="5FC98B"/>
            </a:solidFill>
            <a:prstDash val="solid"/>
          </a:ln>
        </p:spPr>
      </p:sp>
      <p:sp>
        <p:nvSpPr>
          <p:cNvPr id="69" name="Shape 66"/>
          <p:cNvSpPr/>
          <p:nvPr/>
        </p:nvSpPr>
        <p:spPr>
          <a:xfrm>
            <a:off x="7964424" y="1609344"/>
            <a:ext cx="347472" cy="347472"/>
          </a:xfrm>
          <a:prstGeom prst="ellipse">
            <a:avLst/>
          </a:prstGeom>
          <a:solidFill>
            <a:srgbClr val="5FC98B"/>
          </a:solidFill>
          <a:ln w="12700">
            <a:solidFill>
              <a:srgbClr val="5FC98B"/>
            </a:solidFill>
            <a:prstDash val="solid"/>
          </a:ln>
        </p:spPr>
      </p:sp>
      <p:sp>
        <p:nvSpPr>
          <p:cNvPr id="70" name="Shape 67"/>
          <p:cNvSpPr/>
          <p:nvPr/>
        </p:nvSpPr>
        <p:spPr>
          <a:xfrm>
            <a:off x="7918704" y="4169664"/>
            <a:ext cx="347472" cy="347472"/>
          </a:xfrm>
          <a:prstGeom prst="ellipse">
            <a:avLst/>
          </a:prstGeom>
          <a:solidFill>
            <a:srgbClr val="5FC98B"/>
          </a:solidFill>
          <a:ln w="12700">
            <a:solidFill>
              <a:srgbClr val="5FC98B"/>
            </a:solidFill>
            <a:prstDash val="solid"/>
          </a:ln>
        </p:spPr>
      </p:sp>
      <p:sp>
        <p:nvSpPr>
          <p:cNvPr id="71" name="Shape 68"/>
          <p:cNvSpPr/>
          <p:nvPr/>
        </p:nvSpPr>
        <p:spPr>
          <a:xfrm>
            <a:off x="6748272" y="2542032"/>
            <a:ext cx="585216" cy="585216"/>
          </a:xfrm>
          <a:prstGeom prst="ellipse">
            <a:avLst/>
          </a:prstGeom>
          <a:solidFill>
            <a:srgbClr val="39454F">
              <a:alpha val="0"/>
            </a:srgbClr>
          </a:solidFill>
          <a:ln w="19050">
            <a:solidFill>
              <a:srgbClr val="E4644C"/>
            </a:solidFill>
            <a:prstDash val="solid"/>
          </a:ln>
        </p:spPr>
      </p:sp>
      <p:sp>
        <p:nvSpPr>
          <p:cNvPr id="72" name="Shape 69"/>
          <p:cNvSpPr/>
          <p:nvPr/>
        </p:nvSpPr>
        <p:spPr>
          <a:xfrm>
            <a:off x="10433304" y="1883664"/>
            <a:ext cx="347472" cy="347472"/>
          </a:xfrm>
          <a:prstGeom prst="ellipse">
            <a:avLst/>
          </a:prstGeom>
          <a:solidFill>
            <a:srgbClr val="F0A030"/>
          </a:solidFill>
          <a:ln w="12700">
            <a:solidFill>
              <a:srgbClr val="F0A030"/>
            </a:solidFill>
            <a:prstDash val="solid"/>
          </a:ln>
        </p:spPr>
      </p:sp>
      <p:sp>
        <p:nvSpPr>
          <p:cNvPr id="73" name="Shape 70"/>
          <p:cNvSpPr/>
          <p:nvPr/>
        </p:nvSpPr>
        <p:spPr>
          <a:xfrm>
            <a:off x="10844784" y="2660904"/>
            <a:ext cx="347472" cy="347472"/>
          </a:xfrm>
          <a:prstGeom prst="ellipse">
            <a:avLst/>
          </a:prstGeom>
          <a:solidFill>
            <a:srgbClr val="F0A030"/>
          </a:solidFill>
          <a:ln w="12700">
            <a:solidFill>
              <a:srgbClr val="F0A030"/>
            </a:solidFill>
            <a:prstDash val="solid"/>
          </a:ln>
        </p:spPr>
      </p:sp>
      <p:sp>
        <p:nvSpPr>
          <p:cNvPr id="74" name="Shape 71"/>
          <p:cNvSpPr/>
          <p:nvPr/>
        </p:nvSpPr>
        <p:spPr>
          <a:xfrm>
            <a:off x="10433304" y="3803904"/>
            <a:ext cx="347472" cy="347472"/>
          </a:xfrm>
          <a:prstGeom prst="ellipse">
            <a:avLst/>
          </a:prstGeom>
          <a:solidFill>
            <a:srgbClr val="F0A030"/>
          </a:solidFill>
          <a:ln w="12700">
            <a:solidFill>
              <a:srgbClr val="F0A030"/>
            </a:solidFill>
            <a:prstDash val="solid"/>
          </a:ln>
        </p:spPr>
      </p:sp>
      <p:sp>
        <p:nvSpPr>
          <p:cNvPr id="75" name="Shape 72"/>
          <p:cNvSpPr/>
          <p:nvPr/>
        </p:nvSpPr>
        <p:spPr>
          <a:xfrm>
            <a:off x="9747504" y="1609344"/>
            <a:ext cx="347472" cy="347472"/>
          </a:xfrm>
          <a:prstGeom prst="ellipse">
            <a:avLst/>
          </a:prstGeom>
          <a:solidFill>
            <a:srgbClr val="F0A030"/>
          </a:solidFill>
          <a:ln w="12700">
            <a:solidFill>
              <a:srgbClr val="F0A030"/>
            </a:solidFill>
            <a:prstDash val="solid"/>
          </a:ln>
        </p:spPr>
      </p:sp>
      <p:sp>
        <p:nvSpPr>
          <p:cNvPr id="76" name="Shape 73"/>
          <p:cNvSpPr/>
          <p:nvPr/>
        </p:nvSpPr>
        <p:spPr>
          <a:xfrm>
            <a:off x="9793224" y="4169664"/>
            <a:ext cx="347472" cy="347472"/>
          </a:xfrm>
          <a:prstGeom prst="ellipse">
            <a:avLst/>
          </a:prstGeom>
          <a:solidFill>
            <a:srgbClr val="F0A030"/>
          </a:solidFill>
          <a:ln w="12700">
            <a:solidFill>
              <a:srgbClr val="F0A030"/>
            </a:solidFill>
            <a:prstDash val="solid"/>
          </a:ln>
        </p:spPr>
      </p:sp>
      <p:sp>
        <p:nvSpPr>
          <p:cNvPr id="77" name="Shape 74"/>
          <p:cNvSpPr/>
          <p:nvPr/>
        </p:nvSpPr>
        <p:spPr>
          <a:xfrm>
            <a:off x="8778240" y="2926080"/>
            <a:ext cx="548640" cy="548640"/>
          </a:xfrm>
          <a:prstGeom prst="ellipse">
            <a:avLst/>
          </a:prstGeom>
          <a:solidFill>
            <a:srgbClr val="35D6E8"/>
          </a:solidFill>
          <a:ln w="12700">
            <a:solidFill>
              <a:srgbClr val="35D6E8"/>
            </a:solidFill>
            <a:prstDash val="solid"/>
          </a:ln>
        </p:spPr>
      </p:sp>
      <p:sp>
        <p:nvSpPr>
          <p:cNvPr id="78" name="Text 75"/>
          <p:cNvSpPr txBox="1"/>
          <p:nvPr/>
        </p:nvSpPr>
        <p:spPr>
          <a:xfrm>
            <a:off x="8668512" y="3099816"/>
            <a:ext cx="768096" cy="201168"/>
          </a:xfrm>
          <a:prstGeom prst="rect">
            <a:avLst/>
          </a:prstGeom>
          <a:noFill/>
          <a:ln/>
        </p:spPr>
        <p:txBody>
          <a:bodyPr wrap="square" lIns="0" tIns="0" rIns="0" bIns="0" rtlCol="0" anchor="t"/>
          <a:lstStyle/>
          <a:p>
            <a:pPr algn="ctr" indent="0" marL="0">
              <a:buNone/>
            </a:pPr>
            <a:r>
              <a:rPr lang="en-US" sz="900" b="1" dirty="0">
                <a:solidFill>
                  <a:srgbClr val="1F2830"/>
                </a:solidFill>
                <a:latin typeface="Arial" pitchFamily="34" charset="0"/>
                <a:ea typeface="Arial" pitchFamily="34" charset="-122"/>
                <a:cs typeface="Arial" pitchFamily="34" charset="-120"/>
              </a:rPr>
              <a:t>SELF</a:t>
            </a:r>
            <a:endParaRPr lang="en-US" sz="900" dirty="0"/>
          </a:p>
        </p:txBody>
      </p:sp>
      <p:sp>
        <p:nvSpPr>
          <p:cNvPr id="79" name="Text 76"/>
          <p:cNvSpPr txBox="1"/>
          <p:nvPr/>
        </p:nvSpPr>
        <p:spPr>
          <a:xfrm>
            <a:off x="6537960" y="2331720"/>
            <a:ext cx="1371600" cy="228600"/>
          </a:xfrm>
          <a:prstGeom prst="rect">
            <a:avLst/>
          </a:prstGeom>
          <a:noFill/>
          <a:ln/>
        </p:spPr>
        <p:txBody>
          <a:bodyPr wrap="square" lIns="0" tIns="0" rIns="0" bIns="0" rtlCol="0" anchor="t"/>
          <a:lstStyle/>
          <a:p>
            <a:pPr indent="0" marL="0">
              <a:buNone/>
            </a:pPr>
            <a:r>
              <a:rPr lang="en-US" sz="950" b="1" dirty="0">
                <a:solidFill>
                  <a:srgbClr val="E4644C"/>
                </a:solidFill>
                <a:latin typeface="Arial" pitchFamily="34" charset="0"/>
                <a:ea typeface="Arial" pitchFamily="34" charset="-122"/>
                <a:cs typeface="Arial" pitchFamily="34" charset="-120"/>
              </a:rPr>
              <a:t>stale · AoI 30 s</a:t>
            </a:r>
            <a:endParaRPr lang="en-US" sz="950" dirty="0"/>
          </a:p>
        </p:txBody>
      </p:sp>
      <p:sp>
        <p:nvSpPr>
          <p:cNvPr id="80" name="Shape 77"/>
          <p:cNvSpPr/>
          <p:nvPr/>
        </p:nvSpPr>
        <p:spPr>
          <a:xfrm>
            <a:off x="6528816" y="4745736"/>
            <a:ext cx="201168" cy="201168"/>
          </a:xfrm>
          <a:prstGeom prst="ellipse">
            <a:avLst/>
          </a:prstGeom>
          <a:solidFill>
            <a:srgbClr val="5FC98B"/>
          </a:solidFill>
          <a:ln w="12700">
            <a:solidFill>
              <a:srgbClr val="5FC98B"/>
            </a:solidFill>
            <a:prstDash val="solid"/>
          </a:ln>
        </p:spPr>
      </p:sp>
      <p:sp>
        <p:nvSpPr>
          <p:cNvPr id="81" name="Text 78"/>
          <p:cNvSpPr txBox="1"/>
          <p:nvPr/>
        </p:nvSpPr>
        <p:spPr>
          <a:xfrm>
            <a:off x="6858000" y="4727448"/>
            <a:ext cx="2468880" cy="27432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Peer taxi — context only</a:t>
            </a:r>
            <a:endParaRPr lang="en-US" sz="1100" dirty="0"/>
          </a:p>
        </p:txBody>
      </p:sp>
      <p:sp>
        <p:nvSpPr>
          <p:cNvPr id="82" name="Shape 79"/>
          <p:cNvSpPr/>
          <p:nvPr/>
        </p:nvSpPr>
        <p:spPr>
          <a:xfrm>
            <a:off x="6528816" y="5093208"/>
            <a:ext cx="201168" cy="201168"/>
          </a:xfrm>
          <a:prstGeom prst="ellipse">
            <a:avLst/>
          </a:prstGeom>
          <a:solidFill>
            <a:srgbClr val="F0A030"/>
          </a:solidFill>
          <a:ln w="12700">
            <a:solidFill>
              <a:srgbClr val="F0A030"/>
            </a:solidFill>
            <a:prstDash val="solid"/>
          </a:ln>
        </p:spPr>
      </p:sp>
      <p:sp>
        <p:nvSpPr>
          <p:cNvPr id="83" name="Text 80"/>
          <p:cNvSpPr txBox="1"/>
          <p:nvPr/>
        </p:nvSpPr>
        <p:spPr>
          <a:xfrm>
            <a:off x="6858000" y="5074920"/>
            <a:ext cx="4023360" cy="27432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Request — context AND one action</a:t>
            </a:r>
            <a:endParaRPr lang="en-US" sz="1100" dirty="0"/>
          </a:p>
        </p:txBody>
      </p:sp>
      <p:sp>
        <p:nvSpPr>
          <p:cNvPr id="84" name="Shape 81"/>
          <p:cNvSpPr/>
          <p:nvPr/>
        </p:nvSpPr>
        <p:spPr>
          <a:xfrm>
            <a:off x="548640" y="5559552"/>
            <a:ext cx="11091672" cy="694944"/>
          </a:xfrm>
          <a:prstGeom prst="roundRect">
            <a:avLst>
              <a:gd name="adj" fmla="val 7895"/>
            </a:avLst>
          </a:prstGeom>
          <a:solidFill>
            <a:srgbClr val="44515C"/>
          </a:solidFill>
          <a:ln w="12700">
            <a:solidFill>
              <a:srgbClr val="35D6E8"/>
            </a:solidFill>
            <a:prstDash val="solid"/>
          </a:ln>
        </p:spPr>
      </p:sp>
      <p:sp>
        <p:nvSpPr>
          <p:cNvPr id="85" name="Text 82"/>
          <p:cNvSpPr txBox="1"/>
          <p:nvPr/>
        </p:nvSpPr>
        <p:spPr>
          <a:xfrm>
            <a:off x="822960" y="5751576"/>
            <a:ext cx="10515600" cy="36576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A request node carries information and an action at the same time — that dual role drives the whole method.</a:t>
            </a:r>
            <a:endParaRPr lang="en-US" sz="1400" dirty="0"/>
          </a:p>
        </p:txBody>
      </p:sp>
      <p:sp>
        <p:nvSpPr>
          <p:cNvPr id="86" name="Text 83"/>
          <p:cNvSpPr txBox="1"/>
          <p:nvPr/>
        </p:nvSpPr>
        <p:spPr>
          <a:xfrm>
            <a:off x="11365992" y="6382512"/>
            <a:ext cx="365760" cy="274320"/>
          </a:xfrm>
          <a:prstGeom prst="rect">
            <a:avLst/>
          </a:prstGeom>
          <a:noFill/>
          <a:ln/>
        </p:spPr>
        <p:txBody>
          <a:bodyPr wrap="square" lIns="0" tIns="0" rIns="0" bIns="0" rtlCol="0" anchor="ctr"/>
          <a:lstStyle/>
          <a:p>
            <a:pPr algn="r" indent="0" marL="0">
              <a:buNone/>
            </a:pPr>
            <a:r>
              <a:rPr lang="en-US" sz="900" dirty="0">
                <a:solidFill>
                  <a:srgbClr val="7C8B96"/>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39454F"/>
        </a:solidFill>
      </p:bgPr>
    </p:bg>
    <p:spTree>
      <p:nvGrpSpPr>
        <p:cNvPr id="1" name=""/>
        <p:cNvGrpSpPr/>
        <p:nvPr/>
      </p:nvGrpSpPr>
      <p:grpSpPr>
        <a:xfrm>
          <a:off x="0" y="0"/>
          <a:ext cx="0" cy="0"/>
          <a:chOff x="0" y="0"/>
          <a:chExt cx="0" cy="0"/>
        </a:xfrm>
      </p:grpSpPr>
      <p:sp>
        <p:nvSpPr>
          <p:cNvPr id="3" name="Shape 0"/>
          <p:cNvSpPr/>
          <p:nvPr/>
        </p:nvSpPr>
        <p:spPr>
          <a:xfrm>
            <a:off x="201168" y="201168"/>
            <a:ext cx="384048" cy="0"/>
          </a:xfrm>
          <a:prstGeom prst="line">
            <a:avLst/>
          </a:prstGeom>
          <a:noFill/>
          <a:ln w="12700">
            <a:solidFill>
              <a:srgbClr val="66757F"/>
            </a:solidFill>
            <a:prstDash val="solid"/>
          </a:ln>
        </p:spPr>
      </p:sp>
      <p:sp>
        <p:nvSpPr>
          <p:cNvPr id="4" name="Shape 1"/>
          <p:cNvSpPr/>
          <p:nvPr/>
        </p:nvSpPr>
        <p:spPr>
          <a:xfrm>
            <a:off x="201168" y="201168"/>
            <a:ext cx="0" cy="384048"/>
          </a:xfrm>
          <a:prstGeom prst="line">
            <a:avLst/>
          </a:prstGeom>
          <a:noFill/>
          <a:ln w="12700">
            <a:solidFill>
              <a:srgbClr val="66757F"/>
            </a:solidFill>
            <a:prstDash val="solid"/>
          </a:ln>
        </p:spPr>
      </p:sp>
      <p:sp>
        <p:nvSpPr>
          <p:cNvPr id="5" name="Shape 2"/>
          <p:cNvSpPr/>
          <p:nvPr/>
        </p:nvSpPr>
        <p:spPr>
          <a:xfrm flipH="1">
            <a:off x="11603736" y="201168"/>
            <a:ext cx="384048" cy="0"/>
          </a:xfrm>
          <a:prstGeom prst="line">
            <a:avLst/>
          </a:prstGeom>
          <a:noFill/>
          <a:ln w="12700">
            <a:solidFill>
              <a:srgbClr val="66757F"/>
            </a:solidFill>
            <a:prstDash val="solid"/>
          </a:ln>
        </p:spPr>
      </p:sp>
      <p:sp>
        <p:nvSpPr>
          <p:cNvPr id="6" name="Shape 3"/>
          <p:cNvSpPr/>
          <p:nvPr/>
        </p:nvSpPr>
        <p:spPr>
          <a:xfrm>
            <a:off x="11987784" y="201168"/>
            <a:ext cx="0" cy="384048"/>
          </a:xfrm>
          <a:prstGeom prst="line">
            <a:avLst/>
          </a:prstGeom>
          <a:noFill/>
          <a:ln w="12700">
            <a:solidFill>
              <a:srgbClr val="66757F"/>
            </a:solidFill>
            <a:prstDash val="solid"/>
          </a:ln>
        </p:spPr>
      </p:sp>
      <p:sp>
        <p:nvSpPr>
          <p:cNvPr id="7" name="Shape 4"/>
          <p:cNvSpPr/>
          <p:nvPr/>
        </p:nvSpPr>
        <p:spPr>
          <a:xfrm>
            <a:off x="201168" y="6656832"/>
            <a:ext cx="384048" cy="0"/>
          </a:xfrm>
          <a:prstGeom prst="line">
            <a:avLst/>
          </a:prstGeom>
          <a:noFill/>
          <a:ln w="12700">
            <a:solidFill>
              <a:srgbClr val="66757F"/>
            </a:solidFill>
            <a:prstDash val="solid"/>
          </a:ln>
        </p:spPr>
      </p:sp>
      <p:sp>
        <p:nvSpPr>
          <p:cNvPr id="8" name="Shape 5"/>
          <p:cNvSpPr/>
          <p:nvPr/>
        </p:nvSpPr>
        <p:spPr>
          <a:xfrm flipV="1">
            <a:off x="201168" y="6272784"/>
            <a:ext cx="0" cy="384048"/>
          </a:xfrm>
          <a:prstGeom prst="line">
            <a:avLst/>
          </a:prstGeom>
          <a:noFill/>
          <a:ln w="12700">
            <a:solidFill>
              <a:srgbClr val="66757F"/>
            </a:solidFill>
            <a:prstDash val="solid"/>
          </a:ln>
        </p:spPr>
      </p:sp>
      <p:sp>
        <p:nvSpPr>
          <p:cNvPr id="9" name="Shape 6"/>
          <p:cNvSpPr/>
          <p:nvPr/>
        </p:nvSpPr>
        <p:spPr>
          <a:xfrm flipH="1">
            <a:off x="11603736" y="6656832"/>
            <a:ext cx="384048" cy="0"/>
          </a:xfrm>
          <a:prstGeom prst="line">
            <a:avLst/>
          </a:prstGeom>
          <a:noFill/>
          <a:ln w="12700">
            <a:solidFill>
              <a:srgbClr val="66757F"/>
            </a:solidFill>
            <a:prstDash val="solid"/>
          </a:ln>
        </p:spPr>
      </p:sp>
      <p:sp>
        <p:nvSpPr>
          <p:cNvPr id="10" name="Shape 7"/>
          <p:cNvSpPr/>
          <p:nvPr/>
        </p:nvSpPr>
        <p:spPr>
          <a:xfrm flipV="1">
            <a:off x="11987784" y="6272784"/>
            <a:ext cx="0" cy="384048"/>
          </a:xfrm>
          <a:prstGeom prst="line">
            <a:avLst/>
          </a:prstGeom>
          <a:noFill/>
          <a:ln w="12700">
            <a:solidFill>
              <a:srgbClr val="66757F"/>
            </a:solidFill>
            <a:prstDash val="solid"/>
          </a:ln>
        </p:spPr>
      </p:sp>
      <p:sp>
        <p:nvSpPr>
          <p:cNvPr id="11" name="Shape 8"/>
          <p:cNvSpPr/>
          <p:nvPr/>
        </p:nvSpPr>
        <p:spPr>
          <a:xfrm>
            <a:off x="6003036" y="182880"/>
            <a:ext cx="182880" cy="0"/>
          </a:xfrm>
          <a:prstGeom prst="line">
            <a:avLst/>
          </a:prstGeom>
          <a:noFill/>
          <a:ln w="12700">
            <a:solidFill>
              <a:srgbClr val="66757F"/>
            </a:solidFill>
            <a:prstDash val="solid"/>
          </a:ln>
        </p:spPr>
      </p:sp>
      <p:sp>
        <p:nvSpPr>
          <p:cNvPr id="12" name="Shape 9"/>
          <p:cNvSpPr/>
          <p:nvPr/>
        </p:nvSpPr>
        <p:spPr>
          <a:xfrm>
            <a:off x="6094476" y="91440"/>
            <a:ext cx="0" cy="182880"/>
          </a:xfrm>
          <a:prstGeom prst="line">
            <a:avLst/>
          </a:prstGeom>
          <a:noFill/>
          <a:ln w="12700">
            <a:solidFill>
              <a:srgbClr val="66757F"/>
            </a:solidFill>
            <a:prstDash val="solid"/>
          </a:ln>
        </p:spPr>
      </p:sp>
      <p:sp>
        <p:nvSpPr>
          <p:cNvPr id="13" name="Shape 10"/>
          <p:cNvSpPr/>
          <p:nvPr/>
        </p:nvSpPr>
        <p:spPr>
          <a:xfrm>
            <a:off x="6003036" y="6675120"/>
            <a:ext cx="182880" cy="0"/>
          </a:xfrm>
          <a:prstGeom prst="line">
            <a:avLst/>
          </a:prstGeom>
          <a:noFill/>
          <a:ln w="12700">
            <a:solidFill>
              <a:srgbClr val="66757F"/>
            </a:solidFill>
            <a:prstDash val="solid"/>
          </a:ln>
        </p:spPr>
      </p:sp>
      <p:sp>
        <p:nvSpPr>
          <p:cNvPr id="14" name="Shape 11"/>
          <p:cNvSpPr/>
          <p:nvPr/>
        </p:nvSpPr>
        <p:spPr>
          <a:xfrm>
            <a:off x="6094476" y="6583680"/>
            <a:ext cx="0" cy="182880"/>
          </a:xfrm>
          <a:prstGeom prst="line">
            <a:avLst/>
          </a:prstGeom>
          <a:noFill/>
          <a:ln w="12700">
            <a:solidFill>
              <a:srgbClr val="66757F"/>
            </a:solidFill>
            <a:prstDash val="solid"/>
          </a:ln>
        </p:spPr>
      </p:sp>
      <p:sp>
        <p:nvSpPr>
          <p:cNvPr id="15" name="Shape 12"/>
          <p:cNvSpPr/>
          <p:nvPr/>
        </p:nvSpPr>
        <p:spPr>
          <a:xfrm>
            <a:off x="91440" y="3429000"/>
            <a:ext cx="182880" cy="0"/>
          </a:xfrm>
          <a:prstGeom prst="line">
            <a:avLst/>
          </a:prstGeom>
          <a:noFill/>
          <a:ln w="12700">
            <a:solidFill>
              <a:srgbClr val="66757F"/>
            </a:solidFill>
            <a:prstDash val="solid"/>
          </a:ln>
        </p:spPr>
      </p:sp>
      <p:sp>
        <p:nvSpPr>
          <p:cNvPr id="16" name="Shape 13"/>
          <p:cNvSpPr/>
          <p:nvPr/>
        </p:nvSpPr>
        <p:spPr>
          <a:xfrm>
            <a:off x="182880" y="3337560"/>
            <a:ext cx="0" cy="182880"/>
          </a:xfrm>
          <a:prstGeom prst="line">
            <a:avLst/>
          </a:prstGeom>
          <a:noFill/>
          <a:ln w="12700">
            <a:solidFill>
              <a:srgbClr val="66757F"/>
            </a:solidFill>
            <a:prstDash val="solid"/>
          </a:ln>
        </p:spPr>
      </p:sp>
      <p:sp>
        <p:nvSpPr>
          <p:cNvPr id="17" name="Shape 14"/>
          <p:cNvSpPr/>
          <p:nvPr/>
        </p:nvSpPr>
        <p:spPr>
          <a:xfrm>
            <a:off x="11914632" y="3429000"/>
            <a:ext cx="182880" cy="0"/>
          </a:xfrm>
          <a:prstGeom prst="line">
            <a:avLst/>
          </a:prstGeom>
          <a:noFill/>
          <a:ln w="12700">
            <a:solidFill>
              <a:srgbClr val="66757F"/>
            </a:solidFill>
            <a:prstDash val="solid"/>
          </a:ln>
        </p:spPr>
      </p:sp>
      <p:sp>
        <p:nvSpPr>
          <p:cNvPr id="18" name="Shape 15"/>
          <p:cNvSpPr/>
          <p:nvPr/>
        </p:nvSpPr>
        <p:spPr>
          <a:xfrm>
            <a:off x="12006072" y="3337560"/>
            <a:ext cx="0" cy="182880"/>
          </a:xfrm>
          <a:prstGeom prst="line">
            <a:avLst/>
          </a:prstGeom>
          <a:noFill/>
          <a:ln w="12700">
            <a:solidFill>
              <a:srgbClr val="66757F"/>
            </a:solidFill>
            <a:prstDash val="solid"/>
          </a:ln>
        </p:spPr>
      </p:sp>
      <p:sp>
        <p:nvSpPr>
          <p:cNvPr id="19" name="Text 16"/>
          <p:cNvSpPr txBox="1"/>
          <p:nvPr/>
        </p:nvSpPr>
        <p:spPr>
          <a:xfrm>
            <a:off x="566928" y="329184"/>
            <a:ext cx="11064240" cy="566928"/>
          </a:xfrm>
          <a:prstGeom prst="rect">
            <a:avLst/>
          </a:prstGeom>
          <a:noFill/>
          <a:ln/>
        </p:spPr>
        <p:txBody>
          <a:bodyPr wrap="square" lIns="0" tIns="0" rIns="0" bIns="0" rtlCol="0" anchor="t"/>
          <a:lstStyle/>
          <a:p>
            <a:pPr indent="0" marL="0">
              <a:buNone/>
            </a:pPr>
            <a:r>
              <a:rPr lang="en-US" sz="2900" b="1" dirty="0">
                <a:solidFill>
                  <a:srgbClr val="FFFFFF"/>
                </a:solidFill>
                <a:latin typeface="Arial" pitchFamily="34" charset="0"/>
                <a:ea typeface="Arial" pitchFamily="34" charset="-122"/>
                <a:cs typeface="Arial" pitchFamily="34" charset="-120"/>
              </a:rPr>
              <a:t>Audit 1 — The Action-Deletion Bias</a:t>
            </a:r>
            <a:endParaRPr lang="en-US" sz="2900" dirty="0"/>
          </a:p>
        </p:txBody>
      </p:sp>
      <p:sp>
        <p:nvSpPr>
          <p:cNvPr id="20" name="Shape 17"/>
          <p:cNvSpPr/>
          <p:nvPr/>
        </p:nvSpPr>
        <p:spPr>
          <a:xfrm>
            <a:off x="548640" y="1143000"/>
            <a:ext cx="5486400" cy="4206240"/>
          </a:xfrm>
          <a:prstGeom prst="roundRect">
            <a:avLst>
              <a:gd name="adj" fmla="val 1304"/>
            </a:avLst>
          </a:prstGeom>
          <a:solidFill>
            <a:srgbClr val="2F3A43"/>
          </a:solidFill>
          <a:ln w="12700">
            <a:solidFill>
              <a:srgbClr val="E4644C"/>
            </a:solidFill>
            <a:prstDash val="solid"/>
          </a:ln>
        </p:spPr>
      </p:sp>
      <p:sp>
        <p:nvSpPr>
          <p:cNvPr id="21" name="Text 18"/>
          <p:cNvSpPr txBox="1"/>
          <p:nvPr/>
        </p:nvSpPr>
        <p:spPr>
          <a:xfrm>
            <a:off x="822960" y="1325880"/>
            <a:ext cx="4937760" cy="310896"/>
          </a:xfrm>
          <a:prstGeom prst="rect">
            <a:avLst/>
          </a:prstGeom>
          <a:noFill/>
          <a:ln/>
        </p:spPr>
        <p:txBody>
          <a:bodyPr wrap="square" lIns="0" tIns="0" rIns="0" bIns="0" rtlCol="0" anchor="t"/>
          <a:lstStyle/>
          <a:p>
            <a:pPr indent="0" marL="0">
              <a:buNone/>
            </a:pPr>
            <a:r>
              <a:rPr lang="en-US" sz="1450" b="1" dirty="0">
                <a:solidFill>
                  <a:srgbClr val="E4644C"/>
                </a:solidFill>
                <a:latin typeface="Arial" pitchFamily="34" charset="0"/>
                <a:ea typeface="Arial" pitchFamily="34" charset="-122"/>
                <a:cs typeface="Arial" pitchFamily="34" charset="-120"/>
              </a:rPr>
              <a:t>Occlude a REQUEST node</a:t>
            </a:r>
            <a:endParaRPr lang="en-US" sz="1450" dirty="0"/>
          </a:p>
        </p:txBody>
      </p:sp>
      <p:sp>
        <p:nvSpPr>
          <p:cNvPr id="22" name="Shape 19"/>
          <p:cNvSpPr/>
          <p:nvPr/>
        </p:nvSpPr>
        <p:spPr>
          <a:xfrm>
            <a:off x="1463040" y="2057400"/>
            <a:ext cx="914400" cy="914400"/>
          </a:xfrm>
          <a:prstGeom prst="ellipse">
            <a:avLst/>
          </a:prstGeom>
          <a:solidFill>
            <a:srgbClr val="F0A030"/>
          </a:solidFill>
          <a:ln w="12700">
            <a:solidFill>
              <a:srgbClr val="F0A030"/>
            </a:solidFill>
            <a:prstDash val="solid"/>
          </a:ln>
        </p:spPr>
      </p:sp>
      <p:sp>
        <p:nvSpPr>
          <p:cNvPr id="23" name="Shape 20"/>
          <p:cNvSpPr/>
          <p:nvPr/>
        </p:nvSpPr>
        <p:spPr>
          <a:xfrm>
            <a:off x="1554480" y="2148840"/>
            <a:ext cx="731520" cy="731520"/>
          </a:xfrm>
          <a:prstGeom prst="line">
            <a:avLst/>
          </a:prstGeom>
          <a:noFill/>
          <a:ln w="38100">
            <a:solidFill>
              <a:srgbClr val="E4644C"/>
            </a:solidFill>
            <a:prstDash val="solid"/>
          </a:ln>
        </p:spPr>
      </p:sp>
      <p:sp>
        <p:nvSpPr>
          <p:cNvPr id="24" name="Shape 21"/>
          <p:cNvSpPr/>
          <p:nvPr/>
        </p:nvSpPr>
        <p:spPr>
          <a:xfrm flipV="1">
            <a:off x="1554480" y="2148840"/>
            <a:ext cx="731520" cy="731520"/>
          </a:xfrm>
          <a:prstGeom prst="line">
            <a:avLst/>
          </a:prstGeom>
          <a:noFill/>
          <a:ln w="38100">
            <a:solidFill>
              <a:srgbClr val="E4644C"/>
            </a:solidFill>
            <a:prstDash val="solid"/>
          </a:ln>
        </p:spPr>
      </p:sp>
      <p:sp>
        <p:nvSpPr>
          <p:cNvPr id="25" name="Text 22"/>
          <p:cNvSpPr txBox="1"/>
          <p:nvPr/>
        </p:nvSpPr>
        <p:spPr>
          <a:xfrm>
            <a:off x="1371600" y="3108960"/>
            <a:ext cx="1097280" cy="256032"/>
          </a:xfrm>
          <a:prstGeom prst="rect">
            <a:avLst/>
          </a:prstGeom>
          <a:noFill/>
          <a:ln/>
        </p:spPr>
        <p:txBody>
          <a:bodyPr wrap="square" lIns="0" tIns="0" rIns="0" bIns="0" rtlCol="0" anchor="t"/>
          <a:lstStyle/>
          <a:p>
            <a:pPr algn="ctr" indent="0" marL="0">
              <a:buNone/>
            </a:pPr>
            <a:r>
              <a:rPr lang="en-US" sz="1000" dirty="0">
                <a:solidFill>
                  <a:srgbClr val="AFBDC8"/>
                </a:solidFill>
                <a:latin typeface="Arial" pitchFamily="34" charset="0"/>
                <a:ea typeface="Arial" pitchFamily="34" charset="-122"/>
                <a:cs typeface="Arial" pitchFamily="34" charset="-120"/>
              </a:rPr>
              <a:t>request</a:t>
            </a:r>
            <a:endParaRPr lang="en-US" sz="1000" dirty="0"/>
          </a:p>
        </p:txBody>
      </p:sp>
      <p:sp>
        <p:nvSpPr>
          <p:cNvPr id="26" name="Shape 23"/>
          <p:cNvSpPr/>
          <p:nvPr/>
        </p:nvSpPr>
        <p:spPr>
          <a:xfrm>
            <a:off x="2743200" y="2395728"/>
            <a:ext cx="384048" cy="256032"/>
          </a:xfrm>
          <a:prstGeom prst="rightArrow">
            <a:avLst/>
          </a:prstGeom>
          <a:solidFill>
            <a:srgbClr val="AFBDC8"/>
          </a:solidFill>
          <a:ln w="12700">
            <a:solidFill>
              <a:srgbClr val="AFBDC8"/>
            </a:solidFill>
            <a:prstDash val="solid"/>
          </a:ln>
        </p:spPr>
      </p:sp>
      <p:sp>
        <p:nvSpPr>
          <p:cNvPr id="27" name="Shape 24"/>
          <p:cNvSpPr/>
          <p:nvPr/>
        </p:nvSpPr>
        <p:spPr>
          <a:xfrm>
            <a:off x="3337560" y="1874520"/>
            <a:ext cx="2423160" cy="1371600"/>
          </a:xfrm>
          <a:prstGeom prst="roundRect">
            <a:avLst>
              <a:gd name="adj" fmla="val 4000"/>
            </a:avLst>
          </a:prstGeom>
          <a:solidFill>
            <a:srgbClr val="44515C"/>
          </a:solidFill>
          <a:ln w="12700">
            <a:solidFill>
              <a:srgbClr val="E4644C"/>
            </a:solidFill>
            <a:prstDash val="solid"/>
          </a:ln>
        </p:spPr>
      </p:sp>
      <p:sp>
        <p:nvSpPr>
          <p:cNvPr id="28" name="Text 25"/>
          <p:cNvSpPr txBox="1"/>
          <p:nvPr/>
        </p:nvSpPr>
        <p:spPr>
          <a:xfrm>
            <a:off x="3520440" y="1975104"/>
            <a:ext cx="2011680" cy="256032"/>
          </a:xfrm>
          <a:prstGeom prst="rect">
            <a:avLst/>
          </a:prstGeom>
          <a:noFill/>
          <a:ln/>
        </p:spPr>
        <p:txBody>
          <a:bodyPr wrap="square" lIns="0" tIns="0" rIns="0" bIns="0" rtlCol="0" anchor="ctr"/>
          <a:lstStyle/>
          <a:p>
            <a:pPr indent="0" marL="0">
              <a:buNone/>
            </a:pPr>
            <a:r>
              <a:rPr lang="en-US" sz="1100" strike="none" dirty="0">
                <a:solidFill>
                  <a:srgbClr val="FFFFFF"/>
                </a:solidFill>
                <a:latin typeface="Arial" pitchFamily="34" charset="0"/>
                <a:ea typeface="Arial" pitchFamily="34" charset="-122"/>
                <a:cs typeface="Arial" pitchFamily="34" charset="-120"/>
              </a:rPr>
              <a:t>no-op</a:t>
            </a:r>
            <a:endParaRPr lang="en-US" sz="1100" dirty="0"/>
          </a:p>
        </p:txBody>
      </p:sp>
      <p:sp>
        <p:nvSpPr>
          <p:cNvPr id="29" name="Text 26"/>
          <p:cNvSpPr txBox="1"/>
          <p:nvPr/>
        </p:nvSpPr>
        <p:spPr>
          <a:xfrm>
            <a:off x="3520440" y="2276856"/>
            <a:ext cx="2011680" cy="256032"/>
          </a:xfrm>
          <a:prstGeom prst="rect">
            <a:avLst/>
          </a:prstGeom>
          <a:noFill/>
          <a:ln/>
        </p:spPr>
        <p:txBody>
          <a:bodyPr wrap="square" lIns="0" tIns="0" rIns="0" bIns="0" rtlCol="0" anchor="ctr"/>
          <a:lstStyle/>
          <a:p>
            <a:pPr indent="0" marL="0">
              <a:buNone/>
            </a:pPr>
            <a:r>
              <a:rPr lang="en-US" sz="1100" strike="none" dirty="0">
                <a:solidFill>
                  <a:srgbClr val="FFFFFF"/>
                </a:solidFill>
                <a:latin typeface="Arial" pitchFamily="34" charset="0"/>
                <a:ea typeface="Arial" pitchFamily="34" charset="-122"/>
                <a:cs typeface="Arial" pitchFamily="34" charset="-120"/>
              </a:rPr>
              <a:t>serve R1</a:t>
            </a:r>
            <a:endParaRPr lang="en-US" sz="1100" dirty="0"/>
          </a:p>
        </p:txBody>
      </p:sp>
      <p:sp>
        <p:nvSpPr>
          <p:cNvPr id="30" name="Text 27"/>
          <p:cNvSpPr txBox="1"/>
          <p:nvPr/>
        </p:nvSpPr>
        <p:spPr>
          <a:xfrm>
            <a:off x="3520440" y="2578608"/>
            <a:ext cx="2011680" cy="256032"/>
          </a:xfrm>
          <a:prstGeom prst="rect">
            <a:avLst/>
          </a:prstGeom>
          <a:noFill/>
          <a:ln/>
        </p:spPr>
        <p:txBody>
          <a:bodyPr wrap="square" lIns="0" tIns="0" rIns="0" bIns="0" rtlCol="0" anchor="ctr"/>
          <a:lstStyle/>
          <a:p>
            <a:pPr indent="0" marL="0">
              <a:buNone/>
            </a:pPr>
            <a:r>
              <a:rPr lang="en-US" sz="1100" strike="sngStrike" dirty="0">
                <a:solidFill>
                  <a:srgbClr val="E4644C"/>
                </a:solidFill>
                <a:latin typeface="Arial" pitchFamily="34" charset="0"/>
                <a:ea typeface="Arial" pitchFamily="34" charset="-122"/>
                <a:cs typeface="Arial" pitchFamily="34" charset="-120"/>
              </a:rPr>
              <a:t>serve R2</a:t>
            </a:r>
            <a:endParaRPr lang="en-US" sz="1100" dirty="0"/>
          </a:p>
        </p:txBody>
      </p:sp>
      <p:sp>
        <p:nvSpPr>
          <p:cNvPr id="31" name="Text 28"/>
          <p:cNvSpPr txBox="1"/>
          <p:nvPr/>
        </p:nvSpPr>
        <p:spPr>
          <a:xfrm>
            <a:off x="3520440" y="2880360"/>
            <a:ext cx="2011680" cy="256032"/>
          </a:xfrm>
          <a:prstGeom prst="rect">
            <a:avLst/>
          </a:prstGeom>
          <a:noFill/>
          <a:ln/>
        </p:spPr>
        <p:txBody>
          <a:bodyPr wrap="square" lIns="0" tIns="0" rIns="0" bIns="0" rtlCol="0" anchor="ctr"/>
          <a:lstStyle/>
          <a:p>
            <a:pPr indent="0" marL="0">
              <a:buNone/>
            </a:pPr>
            <a:r>
              <a:rPr lang="en-US" sz="1100" strike="none" dirty="0">
                <a:solidFill>
                  <a:srgbClr val="FFFFFF"/>
                </a:solidFill>
                <a:latin typeface="Arial" pitchFamily="34" charset="0"/>
                <a:ea typeface="Arial" pitchFamily="34" charset="-122"/>
                <a:cs typeface="Arial" pitchFamily="34" charset="-120"/>
              </a:rPr>
              <a:t>serve R3</a:t>
            </a:r>
            <a:endParaRPr lang="en-US" sz="1100" dirty="0"/>
          </a:p>
        </p:txBody>
      </p:sp>
      <p:sp>
        <p:nvSpPr>
          <p:cNvPr id="32" name="Text 29"/>
          <p:cNvSpPr txBox="1"/>
          <p:nvPr/>
        </p:nvSpPr>
        <p:spPr>
          <a:xfrm>
            <a:off x="822960" y="3840480"/>
            <a:ext cx="4937760" cy="310896"/>
          </a:xfrm>
          <a:prstGeom prst="rect">
            <a:avLst/>
          </a:prstGeom>
          <a:noFill/>
          <a:ln/>
        </p:spPr>
        <p:txBody>
          <a:bodyPr wrap="square" lIns="0" tIns="0" rIns="0" bIns="0" rtlCol="0" anchor="t"/>
          <a:lstStyle/>
          <a:p>
            <a:pPr indent="0" marL="0">
              <a:buNone/>
            </a:pPr>
            <a:r>
              <a:rPr lang="en-US" sz="1400" b="1" dirty="0">
                <a:solidFill>
                  <a:srgbClr val="E4644C"/>
                </a:solidFill>
                <a:latin typeface="Arial" pitchFamily="34" charset="0"/>
                <a:ea typeface="Arial" pitchFamily="34" charset="-122"/>
                <a:cs typeface="Arial" pitchFamily="34" charset="-120"/>
              </a:rPr>
              <a:t>The explained action disappears</a:t>
            </a:r>
            <a:endParaRPr lang="en-US" sz="1400" dirty="0"/>
          </a:p>
        </p:txBody>
      </p:sp>
      <p:sp>
        <p:nvSpPr>
          <p:cNvPr id="33" name="Text 30"/>
          <p:cNvSpPr txBox="1"/>
          <p:nvPr/>
        </p:nvSpPr>
        <p:spPr>
          <a:xfrm>
            <a:off x="822960" y="4233672"/>
            <a:ext cx="4937760" cy="548640"/>
          </a:xfrm>
          <a:prstGeom prst="rect">
            <a:avLst/>
          </a:prstGeom>
          <a:noFill/>
          <a:ln/>
        </p:spPr>
        <p:txBody>
          <a:bodyPr wrap="square" lIns="0" tIns="0" rIns="0" bIns="0" rtlCol="0" anchor="t"/>
          <a:lstStyle/>
          <a:p>
            <a:pPr indent="0" marL="0">
              <a:lnSpc>
                <a:spcPct val="120000"/>
              </a:lnSpc>
              <a:buNone/>
            </a:pPr>
            <a:r>
              <a:rPr lang="en-US" sz="1150" dirty="0">
                <a:solidFill>
                  <a:srgbClr val="AFBDC8"/>
                </a:solidFill>
                <a:latin typeface="Arial" pitchFamily="34" charset="0"/>
                <a:ea typeface="Arial" pitchFamily="34" charset="-122"/>
                <a:cs typeface="Arial" pitchFamily="34" charset="-120"/>
              </a:rPr>
              <a:t>The output moves for a structural reason, not an explanatory one.</a:t>
            </a:r>
            <a:endParaRPr lang="en-US" sz="1150" dirty="0"/>
          </a:p>
        </p:txBody>
      </p:sp>
      <p:sp>
        <p:nvSpPr>
          <p:cNvPr id="34" name="Shape 31"/>
          <p:cNvSpPr/>
          <p:nvPr/>
        </p:nvSpPr>
        <p:spPr>
          <a:xfrm>
            <a:off x="6153912" y="1143000"/>
            <a:ext cx="5486400" cy="4206240"/>
          </a:xfrm>
          <a:prstGeom prst="roundRect">
            <a:avLst>
              <a:gd name="adj" fmla="val 1304"/>
            </a:avLst>
          </a:prstGeom>
          <a:solidFill>
            <a:srgbClr val="2F3A43"/>
          </a:solidFill>
          <a:ln w="12700">
            <a:solidFill>
              <a:srgbClr val="5FC98B"/>
            </a:solidFill>
            <a:prstDash val="solid"/>
          </a:ln>
        </p:spPr>
      </p:sp>
      <p:sp>
        <p:nvSpPr>
          <p:cNvPr id="35" name="Text 32"/>
          <p:cNvSpPr txBox="1"/>
          <p:nvPr/>
        </p:nvSpPr>
        <p:spPr>
          <a:xfrm>
            <a:off x="6428232" y="1325880"/>
            <a:ext cx="4937760" cy="310896"/>
          </a:xfrm>
          <a:prstGeom prst="rect">
            <a:avLst/>
          </a:prstGeom>
          <a:noFill/>
          <a:ln/>
        </p:spPr>
        <p:txBody>
          <a:bodyPr wrap="square" lIns="0" tIns="0" rIns="0" bIns="0" rtlCol="0" anchor="t"/>
          <a:lstStyle/>
          <a:p>
            <a:pPr indent="0" marL="0">
              <a:buNone/>
            </a:pPr>
            <a:r>
              <a:rPr lang="en-US" sz="1450" b="1" dirty="0">
                <a:solidFill>
                  <a:srgbClr val="5FC98B"/>
                </a:solidFill>
                <a:latin typeface="Arial" pitchFamily="34" charset="0"/>
                <a:ea typeface="Arial" pitchFamily="34" charset="-122"/>
                <a:cs typeface="Arial" pitchFamily="34" charset="-120"/>
              </a:rPr>
              <a:t>Occlude a PEER TAXI node</a:t>
            </a:r>
            <a:endParaRPr lang="en-US" sz="1450" dirty="0"/>
          </a:p>
        </p:txBody>
      </p:sp>
      <p:sp>
        <p:nvSpPr>
          <p:cNvPr id="36" name="Shape 33"/>
          <p:cNvSpPr/>
          <p:nvPr/>
        </p:nvSpPr>
        <p:spPr>
          <a:xfrm>
            <a:off x="7068312" y="2057400"/>
            <a:ext cx="914400" cy="914400"/>
          </a:xfrm>
          <a:prstGeom prst="ellipse">
            <a:avLst/>
          </a:prstGeom>
          <a:solidFill>
            <a:srgbClr val="5FC98B"/>
          </a:solidFill>
          <a:ln w="12700">
            <a:solidFill>
              <a:srgbClr val="5FC98B"/>
            </a:solidFill>
            <a:prstDash val="solid"/>
          </a:ln>
        </p:spPr>
      </p:sp>
      <p:sp>
        <p:nvSpPr>
          <p:cNvPr id="37" name="Shape 34"/>
          <p:cNvSpPr/>
          <p:nvPr/>
        </p:nvSpPr>
        <p:spPr>
          <a:xfrm>
            <a:off x="7159752" y="2148840"/>
            <a:ext cx="731520" cy="731520"/>
          </a:xfrm>
          <a:prstGeom prst="line">
            <a:avLst/>
          </a:prstGeom>
          <a:noFill/>
          <a:ln w="38100">
            <a:solidFill>
              <a:srgbClr val="AFBDC8"/>
            </a:solidFill>
            <a:prstDash val="solid"/>
          </a:ln>
        </p:spPr>
      </p:sp>
      <p:sp>
        <p:nvSpPr>
          <p:cNvPr id="38" name="Shape 35"/>
          <p:cNvSpPr/>
          <p:nvPr/>
        </p:nvSpPr>
        <p:spPr>
          <a:xfrm flipV="1">
            <a:off x="7159752" y="2148840"/>
            <a:ext cx="731520" cy="731520"/>
          </a:xfrm>
          <a:prstGeom prst="line">
            <a:avLst/>
          </a:prstGeom>
          <a:noFill/>
          <a:ln w="38100">
            <a:solidFill>
              <a:srgbClr val="AFBDC8"/>
            </a:solidFill>
            <a:prstDash val="solid"/>
          </a:ln>
        </p:spPr>
      </p:sp>
      <p:sp>
        <p:nvSpPr>
          <p:cNvPr id="39" name="Text 36"/>
          <p:cNvSpPr txBox="1"/>
          <p:nvPr/>
        </p:nvSpPr>
        <p:spPr>
          <a:xfrm>
            <a:off x="6976872" y="3108960"/>
            <a:ext cx="1097280" cy="256032"/>
          </a:xfrm>
          <a:prstGeom prst="rect">
            <a:avLst/>
          </a:prstGeom>
          <a:noFill/>
          <a:ln/>
        </p:spPr>
        <p:txBody>
          <a:bodyPr wrap="square" lIns="0" tIns="0" rIns="0" bIns="0" rtlCol="0" anchor="t"/>
          <a:lstStyle/>
          <a:p>
            <a:pPr algn="ctr" indent="0" marL="0">
              <a:buNone/>
            </a:pPr>
            <a:r>
              <a:rPr lang="en-US" sz="1000" dirty="0">
                <a:solidFill>
                  <a:srgbClr val="AFBDC8"/>
                </a:solidFill>
                <a:latin typeface="Arial" pitchFamily="34" charset="0"/>
                <a:ea typeface="Arial" pitchFamily="34" charset="-122"/>
                <a:cs typeface="Arial" pitchFamily="34" charset="-120"/>
              </a:rPr>
              <a:t>peer taxi</a:t>
            </a:r>
            <a:endParaRPr lang="en-US" sz="1000" dirty="0"/>
          </a:p>
        </p:txBody>
      </p:sp>
      <p:sp>
        <p:nvSpPr>
          <p:cNvPr id="40" name="Shape 37"/>
          <p:cNvSpPr/>
          <p:nvPr/>
        </p:nvSpPr>
        <p:spPr>
          <a:xfrm>
            <a:off x="8348472" y="2395728"/>
            <a:ext cx="384048" cy="256032"/>
          </a:xfrm>
          <a:prstGeom prst="rightArrow">
            <a:avLst/>
          </a:prstGeom>
          <a:solidFill>
            <a:srgbClr val="AFBDC8"/>
          </a:solidFill>
          <a:ln w="12700">
            <a:solidFill>
              <a:srgbClr val="AFBDC8"/>
            </a:solidFill>
            <a:prstDash val="solid"/>
          </a:ln>
        </p:spPr>
      </p:sp>
      <p:sp>
        <p:nvSpPr>
          <p:cNvPr id="41" name="Shape 38"/>
          <p:cNvSpPr/>
          <p:nvPr/>
        </p:nvSpPr>
        <p:spPr>
          <a:xfrm>
            <a:off x="8942832" y="1874520"/>
            <a:ext cx="2423160" cy="1371600"/>
          </a:xfrm>
          <a:prstGeom prst="roundRect">
            <a:avLst>
              <a:gd name="adj" fmla="val 4000"/>
            </a:avLst>
          </a:prstGeom>
          <a:solidFill>
            <a:srgbClr val="44515C"/>
          </a:solidFill>
          <a:ln w="12700">
            <a:solidFill>
              <a:srgbClr val="5FC98B"/>
            </a:solidFill>
            <a:prstDash val="solid"/>
          </a:ln>
        </p:spPr>
      </p:sp>
      <p:sp>
        <p:nvSpPr>
          <p:cNvPr id="42" name="Text 39"/>
          <p:cNvSpPr txBox="1"/>
          <p:nvPr/>
        </p:nvSpPr>
        <p:spPr>
          <a:xfrm>
            <a:off x="9125712" y="1975104"/>
            <a:ext cx="2011680" cy="256032"/>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no-op</a:t>
            </a:r>
            <a:endParaRPr lang="en-US" sz="1100" dirty="0"/>
          </a:p>
        </p:txBody>
      </p:sp>
      <p:sp>
        <p:nvSpPr>
          <p:cNvPr id="43" name="Text 40"/>
          <p:cNvSpPr txBox="1"/>
          <p:nvPr/>
        </p:nvSpPr>
        <p:spPr>
          <a:xfrm>
            <a:off x="9125712" y="2276856"/>
            <a:ext cx="2011680" cy="256032"/>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serve R1</a:t>
            </a:r>
            <a:endParaRPr lang="en-US" sz="1100" dirty="0"/>
          </a:p>
        </p:txBody>
      </p:sp>
      <p:sp>
        <p:nvSpPr>
          <p:cNvPr id="44" name="Text 41"/>
          <p:cNvSpPr txBox="1"/>
          <p:nvPr/>
        </p:nvSpPr>
        <p:spPr>
          <a:xfrm>
            <a:off x="9125712" y="2578608"/>
            <a:ext cx="2011680" cy="256032"/>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serve R2</a:t>
            </a:r>
            <a:endParaRPr lang="en-US" sz="1100" dirty="0"/>
          </a:p>
        </p:txBody>
      </p:sp>
      <p:sp>
        <p:nvSpPr>
          <p:cNvPr id="45" name="Text 42"/>
          <p:cNvSpPr txBox="1"/>
          <p:nvPr/>
        </p:nvSpPr>
        <p:spPr>
          <a:xfrm>
            <a:off x="9125712" y="2880360"/>
            <a:ext cx="2011680" cy="256032"/>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serve R3</a:t>
            </a:r>
            <a:endParaRPr lang="en-US" sz="1100" dirty="0"/>
          </a:p>
        </p:txBody>
      </p:sp>
      <p:sp>
        <p:nvSpPr>
          <p:cNvPr id="46" name="Text 43"/>
          <p:cNvSpPr txBox="1"/>
          <p:nvPr/>
        </p:nvSpPr>
        <p:spPr>
          <a:xfrm>
            <a:off x="6428232" y="3840480"/>
            <a:ext cx="4937760" cy="310896"/>
          </a:xfrm>
          <a:prstGeom prst="rect">
            <a:avLst/>
          </a:prstGeom>
          <a:noFill/>
          <a:ln/>
        </p:spPr>
        <p:txBody>
          <a:bodyPr wrap="square" lIns="0" tIns="0" rIns="0" bIns="0" rtlCol="0" anchor="t"/>
          <a:lstStyle/>
          <a:p>
            <a:pPr indent="0" marL="0">
              <a:buNone/>
            </a:pPr>
            <a:r>
              <a:rPr lang="en-US" sz="1400" b="1" dirty="0">
                <a:solidFill>
                  <a:srgbClr val="5FC98B"/>
                </a:solidFill>
                <a:latin typeface="Arial" pitchFamily="34" charset="0"/>
                <a:ea typeface="Arial" pitchFamily="34" charset="-122"/>
                <a:cs typeface="Arial" pitchFamily="34" charset="-120"/>
              </a:rPr>
              <a:t>The action set is untouched</a:t>
            </a:r>
            <a:endParaRPr lang="en-US" sz="1400" dirty="0"/>
          </a:p>
        </p:txBody>
      </p:sp>
      <p:sp>
        <p:nvSpPr>
          <p:cNvPr id="47" name="Text 44"/>
          <p:cNvSpPr txBox="1"/>
          <p:nvPr/>
        </p:nvSpPr>
        <p:spPr>
          <a:xfrm>
            <a:off x="6428232" y="4233672"/>
            <a:ext cx="4937760" cy="548640"/>
          </a:xfrm>
          <a:prstGeom prst="rect">
            <a:avLst/>
          </a:prstGeom>
          <a:noFill/>
          <a:ln/>
        </p:spPr>
        <p:txBody>
          <a:bodyPr wrap="square" lIns="0" tIns="0" rIns="0" bIns="0" rtlCol="0" anchor="t"/>
          <a:lstStyle/>
          <a:p>
            <a:pPr indent="0" marL="0">
              <a:lnSpc>
                <a:spcPct val="120000"/>
              </a:lnSpc>
              <a:buNone/>
            </a:pPr>
            <a:r>
              <a:rPr lang="en-US" sz="1150" dirty="0">
                <a:solidFill>
                  <a:srgbClr val="AFBDC8"/>
                </a:solidFill>
                <a:latin typeface="Arial" pitchFamily="34" charset="0"/>
                <a:ea typeface="Arial" pitchFamily="34" charset="-122"/>
                <a:cs typeface="Arial" pitchFamily="34" charset="-120"/>
              </a:rPr>
              <a:t>Only information is removed — a completely different perturbation.</a:t>
            </a:r>
            <a:endParaRPr lang="en-US" sz="1150" dirty="0"/>
          </a:p>
        </p:txBody>
      </p:sp>
      <p:sp>
        <p:nvSpPr>
          <p:cNvPr id="48" name="Text 45"/>
          <p:cNvSpPr txBox="1"/>
          <p:nvPr/>
        </p:nvSpPr>
        <p:spPr>
          <a:xfrm>
            <a:off x="5870448" y="2286000"/>
            <a:ext cx="457200" cy="548640"/>
          </a:xfrm>
          <a:prstGeom prst="rect">
            <a:avLst/>
          </a:prstGeom>
          <a:noFill/>
          <a:ln/>
        </p:spPr>
        <p:txBody>
          <a:bodyPr wrap="square" lIns="0" tIns="0" rIns="0" bIns="0" rtlCol="0" anchor="t"/>
          <a:lstStyle/>
          <a:p>
            <a:pPr algn="ctr" indent="0" marL="0">
              <a:buNone/>
            </a:pPr>
            <a:r>
              <a:rPr lang="en-US" sz="3400" b="1" dirty="0">
                <a:solidFill>
                  <a:srgbClr val="F0A030"/>
                </a:solidFill>
                <a:latin typeface="Arial" pitchFamily="34" charset="0"/>
                <a:ea typeface="Arial" pitchFamily="34" charset="-122"/>
                <a:cs typeface="Arial" pitchFamily="34" charset="-120"/>
              </a:rPr>
              <a:t>≠</a:t>
            </a:r>
            <a:endParaRPr lang="en-US" sz="3400" dirty="0"/>
          </a:p>
        </p:txBody>
      </p:sp>
      <p:sp>
        <p:nvSpPr>
          <p:cNvPr id="49" name="Text 46"/>
          <p:cNvSpPr txBox="1"/>
          <p:nvPr/>
        </p:nvSpPr>
        <p:spPr>
          <a:xfrm>
            <a:off x="822960" y="4892040"/>
            <a:ext cx="10817352" cy="274320"/>
          </a:xfrm>
          <a:prstGeom prst="rect">
            <a:avLst/>
          </a:prstGeom>
          <a:noFill/>
          <a:ln/>
        </p:spPr>
        <p:txBody>
          <a:bodyPr wrap="square" lIns="0" tIns="0" rIns="0" bIns="0" rtlCol="0" anchor="t"/>
          <a:lstStyle/>
          <a:p>
            <a:pPr algn="ctr" indent="0" marL="0">
              <a:buNone/>
            </a:pPr>
            <a:r>
              <a:rPr lang="en-US" sz="1150" i="1" dirty="0">
                <a:solidFill>
                  <a:srgbClr val="F0A030"/>
                </a:solidFill>
                <a:latin typeface="Arial" pitchFamily="34" charset="0"/>
                <a:ea typeface="Arial" pitchFamily="34" charset="-122"/>
                <a:cs typeface="Arial" pitchFamily="34" charset="-120"/>
              </a:rPr>
              <a:t>not the same perturbation</a:t>
            </a:r>
            <a:endParaRPr lang="en-US" sz="1150" dirty="0"/>
          </a:p>
        </p:txBody>
      </p:sp>
      <p:sp>
        <p:nvSpPr>
          <p:cNvPr id="50" name="Shape 47"/>
          <p:cNvSpPr/>
          <p:nvPr/>
        </p:nvSpPr>
        <p:spPr>
          <a:xfrm>
            <a:off x="548640" y="5559552"/>
            <a:ext cx="11091672" cy="694944"/>
          </a:xfrm>
          <a:prstGeom prst="roundRect">
            <a:avLst>
              <a:gd name="adj" fmla="val 7895"/>
            </a:avLst>
          </a:prstGeom>
          <a:solidFill>
            <a:srgbClr val="44515C"/>
          </a:solidFill>
          <a:ln w="12700">
            <a:solidFill>
              <a:srgbClr val="E4644C"/>
            </a:solidFill>
            <a:prstDash val="solid"/>
          </a:ln>
        </p:spPr>
      </p:sp>
      <p:sp>
        <p:nvSpPr>
          <p:cNvPr id="51" name="Text 48"/>
          <p:cNvSpPr txBox="1"/>
          <p:nvPr/>
        </p:nvSpPr>
        <p:spPr>
          <a:xfrm>
            <a:off x="822960" y="5751576"/>
            <a:ext cx="10515600" cy="36576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A uniform random baseline mixes both effects — and manufactures faithfulness that is not there.</a:t>
            </a:r>
            <a:endParaRPr lang="en-US" sz="1400" dirty="0"/>
          </a:p>
        </p:txBody>
      </p:sp>
      <p:sp>
        <p:nvSpPr>
          <p:cNvPr id="52" name="Text 49"/>
          <p:cNvSpPr txBox="1"/>
          <p:nvPr/>
        </p:nvSpPr>
        <p:spPr>
          <a:xfrm>
            <a:off x="11365992" y="6382512"/>
            <a:ext cx="365760" cy="274320"/>
          </a:xfrm>
          <a:prstGeom prst="rect">
            <a:avLst/>
          </a:prstGeom>
          <a:noFill/>
          <a:ln/>
        </p:spPr>
        <p:txBody>
          <a:bodyPr wrap="square" lIns="0" tIns="0" rIns="0" bIns="0" rtlCol="0" anchor="ctr"/>
          <a:lstStyle/>
          <a:p>
            <a:pPr algn="r" indent="0" marL="0">
              <a:buNone/>
            </a:pPr>
            <a:r>
              <a:rPr lang="en-US" sz="900" dirty="0">
                <a:solidFill>
                  <a:srgbClr val="7C8B96"/>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39454F"/>
        </a:solidFill>
      </p:bgPr>
    </p:bg>
    <p:spTree>
      <p:nvGrpSpPr>
        <p:cNvPr id="1" name=""/>
        <p:cNvGrpSpPr/>
        <p:nvPr/>
      </p:nvGrpSpPr>
      <p:grpSpPr>
        <a:xfrm>
          <a:off x="0" y="0"/>
          <a:ext cx="0" cy="0"/>
          <a:chOff x="0" y="0"/>
          <a:chExt cx="0" cy="0"/>
        </a:xfrm>
      </p:grpSpPr>
      <p:sp>
        <p:nvSpPr>
          <p:cNvPr id="3" name="Shape 0"/>
          <p:cNvSpPr/>
          <p:nvPr/>
        </p:nvSpPr>
        <p:spPr>
          <a:xfrm>
            <a:off x="201168" y="201168"/>
            <a:ext cx="384048" cy="0"/>
          </a:xfrm>
          <a:prstGeom prst="line">
            <a:avLst/>
          </a:prstGeom>
          <a:noFill/>
          <a:ln w="12700">
            <a:solidFill>
              <a:srgbClr val="66757F"/>
            </a:solidFill>
            <a:prstDash val="solid"/>
          </a:ln>
        </p:spPr>
      </p:sp>
      <p:sp>
        <p:nvSpPr>
          <p:cNvPr id="4" name="Shape 1"/>
          <p:cNvSpPr/>
          <p:nvPr/>
        </p:nvSpPr>
        <p:spPr>
          <a:xfrm>
            <a:off x="201168" y="201168"/>
            <a:ext cx="0" cy="384048"/>
          </a:xfrm>
          <a:prstGeom prst="line">
            <a:avLst/>
          </a:prstGeom>
          <a:noFill/>
          <a:ln w="12700">
            <a:solidFill>
              <a:srgbClr val="66757F"/>
            </a:solidFill>
            <a:prstDash val="solid"/>
          </a:ln>
        </p:spPr>
      </p:sp>
      <p:sp>
        <p:nvSpPr>
          <p:cNvPr id="5" name="Shape 2"/>
          <p:cNvSpPr/>
          <p:nvPr/>
        </p:nvSpPr>
        <p:spPr>
          <a:xfrm flipH="1">
            <a:off x="11603736" y="201168"/>
            <a:ext cx="384048" cy="0"/>
          </a:xfrm>
          <a:prstGeom prst="line">
            <a:avLst/>
          </a:prstGeom>
          <a:noFill/>
          <a:ln w="12700">
            <a:solidFill>
              <a:srgbClr val="66757F"/>
            </a:solidFill>
            <a:prstDash val="solid"/>
          </a:ln>
        </p:spPr>
      </p:sp>
      <p:sp>
        <p:nvSpPr>
          <p:cNvPr id="6" name="Shape 3"/>
          <p:cNvSpPr/>
          <p:nvPr/>
        </p:nvSpPr>
        <p:spPr>
          <a:xfrm>
            <a:off x="11987784" y="201168"/>
            <a:ext cx="0" cy="384048"/>
          </a:xfrm>
          <a:prstGeom prst="line">
            <a:avLst/>
          </a:prstGeom>
          <a:noFill/>
          <a:ln w="12700">
            <a:solidFill>
              <a:srgbClr val="66757F"/>
            </a:solidFill>
            <a:prstDash val="solid"/>
          </a:ln>
        </p:spPr>
      </p:sp>
      <p:sp>
        <p:nvSpPr>
          <p:cNvPr id="7" name="Shape 4"/>
          <p:cNvSpPr/>
          <p:nvPr/>
        </p:nvSpPr>
        <p:spPr>
          <a:xfrm>
            <a:off x="201168" y="6656832"/>
            <a:ext cx="384048" cy="0"/>
          </a:xfrm>
          <a:prstGeom prst="line">
            <a:avLst/>
          </a:prstGeom>
          <a:noFill/>
          <a:ln w="12700">
            <a:solidFill>
              <a:srgbClr val="66757F"/>
            </a:solidFill>
            <a:prstDash val="solid"/>
          </a:ln>
        </p:spPr>
      </p:sp>
      <p:sp>
        <p:nvSpPr>
          <p:cNvPr id="8" name="Shape 5"/>
          <p:cNvSpPr/>
          <p:nvPr/>
        </p:nvSpPr>
        <p:spPr>
          <a:xfrm flipV="1">
            <a:off x="201168" y="6272784"/>
            <a:ext cx="0" cy="384048"/>
          </a:xfrm>
          <a:prstGeom prst="line">
            <a:avLst/>
          </a:prstGeom>
          <a:noFill/>
          <a:ln w="12700">
            <a:solidFill>
              <a:srgbClr val="66757F"/>
            </a:solidFill>
            <a:prstDash val="solid"/>
          </a:ln>
        </p:spPr>
      </p:sp>
      <p:sp>
        <p:nvSpPr>
          <p:cNvPr id="9" name="Shape 6"/>
          <p:cNvSpPr/>
          <p:nvPr/>
        </p:nvSpPr>
        <p:spPr>
          <a:xfrm flipH="1">
            <a:off x="11603736" y="6656832"/>
            <a:ext cx="384048" cy="0"/>
          </a:xfrm>
          <a:prstGeom prst="line">
            <a:avLst/>
          </a:prstGeom>
          <a:noFill/>
          <a:ln w="12700">
            <a:solidFill>
              <a:srgbClr val="66757F"/>
            </a:solidFill>
            <a:prstDash val="solid"/>
          </a:ln>
        </p:spPr>
      </p:sp>
      <p:sp>
        <p:nvSpPr>
          <p:cNvPr id="10" name="Shape 7"/>
          <p:cNvSpPr/>
          <p:nvPr/>
        </p:nvSpPr>
        <p:spPr>
          <a:xfrm flipV="1">
            <a:off x="11987784" y="6272784"/>
            <a:ext cx="0" cy="384048"/>
          </a:xfrm>
          <a:prstGeom prst="line">
            <a:avLst/>
          </a:prstGeom>
          <a:noFill/>
          <a:ln w="12700">
            <a:solidFill>
              <a:srgbClr val="66757F"/>
            </a:solidFill>
            <a:prstDash val="solid"/>
          </a:ln>
        </p:spPr>
      </p:sp>
      <p:sp>
        <p:nvSpPr>
          <p:cNvPr id="11" name="Shape 8"/>
          <p:cNvSpPr/>
          <p:nvPr/>
        </p:nvSpPr>
        <p:spPr>
          <a:xfrm>
            <a:off x="6003036" y="182880"/>
            <a:ext cx="182880" cy="0"/>
          </a:xfrm>
          <a:prstGeom prst="line">
            <a:avLst/>
          </a:prstGeom>
          <a:noFill/>
          <a:ln w="12700">
            <a:solidFill>
              <a:srgbClr val="66757F"/>
            </a:solidFill>
            <a:prstDash val="solid"/>
          </a:ln>
        </p:spPr>
      </p:sp>
      <p:sp>
        <p:nvSpPr>
          <p:cNvPr id="12" name="Shape 9"/>
          <p:cNvSpPr/>
          <p:nvPr/>
        </p:nvSpPr>
        <p:spPr>
          <a:xfrm>
            <a:off x="6094476" y="91440"/>
            <a:ext cx="0" cy="182880"/>
          </a:xfrm>
          <a:prstGeom prst="line">
            <a:avLst/>
          </a:prstGeom>
          <a:noFill/>
          <a:ln w="12700">
            <a:solidFill>
              <a:srgbClr val="66757F"/>
            </a:solidFill>
            <a:prstDash val="solid"/>
          </a:ln>
        </p:spPr>
      </p:sp>
      <p:sp>
        <p:nvSpPr>
          <p:cNvPr id="13" name="Shape 10"/>
          <p:cNvSpPr/>
          <p:nvPr/>
        </p:nvSpPr>
        <p:spPr>
          <a:xfrm>
            <a:off x="6003036" y="6675120"/>
            <a:ext cx="182880" cy="0"/>
          </a:xfrm>
          <a:prstGeom prst="line">
            <a:avLst/>
          </a:prstGeom>
          <a:noFill/>
          <a:ln w="12700">
            <a:solidFill>
              <a:srgbClr val="66757F"/>
            </a:solidFill>
            <a:prstDash val="solid"/>
          </a:ln>
        </p:spPr>
      </p:sp>
      <p:sp>
        <p:nvSpPr>
          <p:cNvPr id="14" name="Shape 11"/>
          <p:cNvSpPr/>
          <p:nvPr/>
        </p:nvSpPr>
        <p:spPr>
          <a:xfrm>
            <a:off x="6094476" y="6583680"/>
            <a:ext cx="0" cy="182880"/>
          </a:xfrm>
          <a:prstGeom prst="line">
            <a:avLst/>
          </a:prstGeom>
          <a:noFill/>
          <a:ln w="12700">
            <a:solidFill>
              <a:srgbClr val="66757F"/>
            </a:solidFill>
            <a:prstDash val="solid"/>
          </a:ln>
        </p:spPr>
      </p:sp>
      <p:sp>
        <p:nvSpPr>
          <p:cNvPr id="15" name="Shape 12"/>
          <p:cNvSpPr/>
          <p:nvPr/>
        </p:nvSpPr>
        <p:spPr>
          <a:xfrm>
            <a:off x="91440" y="3429000"/>
            <a:ext cx="182880" cy="0"/>
          </a:xfrm>
          <a:prstGeom prst="line">
            <a:avLst/>
          </a:prstGeom>
          <a:noFill/>
          <a:ln w="12700">
            <a:solidFill>
              <a:srgbClr val="66757F"/>
            </a:solidFill>
            <a:prstDash val="solid"/>
          </a:ln>
        </p:spPr>
      </p:sp>
      <p:sp>
        <p:nvSpPr>
          <p:cNvPr id="16" name="Shape 13"/>
          <p:cNvSpPr/>
          <p:nvPr/>
        </p:nvSpPr>
        <p:spPr>
          <a:xfrm>
            <a:off x="182880" y="3337560"/>
            <a:ext cx="0" cy="182880"/>
          </a:xfrm>
          <a:prstGeom prst="line">
            <a:avLst/>
          </a:prstGeom>
          <a:noFill/>
          <a:ln w="12700">
            <a:solidFill>
              <a:srgbClr val="66757F"/>
            </a:solidFill>
            <a:prstDash val="solid"/>
          </a:ln>
        </p:spPr>
      </p:sp>
      <p:sp>
        <p:nvSpPr>
          <p:cNvPr id="17" name="Shape 14"/>
          <p:cNvSpPr/>
          <p:nvPr/>
        </p:nvSpPr>
        <p:spPr>
          <a:xfrm>
            <a:off x="11914632" y="3429000"/>
            <a:ext cx="182880" cy="0"/>
          </a:xfrm>
          <a:prstGeom prst="line">
            <a:avLst/>
          </a:prstGeom>
          <a:noFill/>
          <a:ln w="12700">
            <a:solidFill>
              <a:srgbClr val="66757F"/>
            </a:solidFill>
            <a:prstDash val="solid"/>
          </a:ln>
        </p:spPr>
      </p:sp>
      <p:sp>
        <p:nvSpPr>
          <p:cNvPr id="18" name="Shape 15"/>
          <p:cNvSpPr/>
          <p:nvPr/>
        </p:nvSpPr>
        <p:spPr>
          <a:xfrm>
            <a:off x="12006072" y="3337560"/>
            <a:ext cx="0" cy="182880"/>
          </a:xfrm>
          <a:prstGeom prst="line">
            <a:avLst/>
          </a:prstGeom>
          <a:noFill/>
          <a:ln w="12700">
            <a:solidFill>
              <a:srgbClr val="66757F"/>
            </a:solidFill>
            <a:prstDash val="solid"/>
          </a:ln>
        </p:spPr>
      </p:sp>
      <p:sp>
        <p:nvSpPr>
          <p:cNvPr id="19" name="Text 16"/>
          <p:cNvSpPr txBox="1"/>
          <p:nvPr/>
        </p:nvSpPr>
        <p:spPr>
          <a:xfrm>
            <a:off x="566928" y="329184"/>
            <a:ext cx="11064240" cy="566928"/>
          </a:xfrm>
          <a:prstGeom prst="rect">
            <a:avLst/>
          </a:prstGeom>
          <a:noFill/>
          <a:ln/>
        </p:spPr>
        <p:txBody>
          <a:bodyPr wrap="square" lIns="0" tIns="0" rIns="0" bIns="0" rtlCol="0" anchor="t"/>
          <a:lstStyle/>
          <a:p>
            <a:pPr indent="0" marL="0">
              <a:buNone/>
            </a:pPr>
            <a:r>
              <a:rPr lang="en-US" sz="2900" b="1" dirty="0">
                <a:solidFill>
                  <a:srgbClr val="FFFFFF"/>
                </a:solidFill>
                <a:latin typeface="Arial" pitchFamily="34" charset="0"/>
                <a:ea typeface="Arial" pitchFamily="34" charset="-122"/>
                <a:cs typeface="Arial" pitchFamily="34" charset="-120"/>
              </a:rPr>
              <a:t>Audit 2 — Rebuilding the Test Instrument</a:t>
            </a:r>
            <a:endParaRPr lang="en-US" sz="2900" dirty="0"/>
          </a:p>
        </p:txBody>
      </p:sp>
      <p:sp>
        <p:nvSpPr>
          <p:cNvPr id="20" name="Shape 17"/>
          <p:cNvSpPr/>
          <p:nvPr/>
        </p:nvSpPr>
        <p:spPr>
          <a:xfrm>
            <a:off x="548640" y="1143000"/>
            <a:ext cx="3520440" cy="3063240"/>
          </a:xfrm>
          <a:prstGeom prst="roundRect">
            <a:avLst>
              <a:gd name="adj" fmla="val 1791"/>
            </a:avLst>
          </a:prstGeom>
          <a:solidFill>
            <a:srgbClr val="2F3A43"/>
          </a:solidFill>
          <a:ln w="12700">
            <a:solidFill>
              <a:srgbClr val="35D6E8"/>
            </a:solidFill>
            <a:prstDash val="solid"/>
          </a:ln>
        </p:spPr>
      </p:sp>
      <p:sp>
        <p:nvSpPr>
          <p:cNvPr id="21" name="Shape 18"/>
          <p:cNvSpPr/>
          <p:nvPr/>
        </p:nvSpPr>
        <p:spPr>
          <a:xfrm>
            <a:off x="1115568" y="1536192"/>
            <a:ext cx="0" cy="420624"/>
          </a:xfrm>
          <a:prstGeom prst="line">
            <a:avLst/>
          </a:prstGeom>
          <a:noFill/>
          <a:ln w="25400">
            <a:solidFill>
              <a:srgbClr val="35D6E8"/>
            </a:solidFill>
            <a:prstDash val="solid"/>
          </a:ln>
        </p:spPr>
      </p:sp>
      <p:sp>
        <p:nvSpPr>
          <p:cNvPr id="22" name="Shape 19"/>
          <p:cNvSpPr/>
          <p:nvPr/>
        </p:nvSpPr>
        <p:spPr>
          <a:xfrm>
            <a:off x="841248" y="1591056"/>
            <a:ext cx="548640" cy="0"/>
          </a:xfrm>
          <a:prstGeom prst="line">
            <a:avLst/>
          </a:prstGeom>
          <a:noFill/>
          <a:ln w="25400">
            <a:solidFill>
              <a:srgbClr val="35D6E8"/>
            </a:solidFill>
            <a:prstDash val="solid"/>
          </a:ln>
        </p:spPr>
      </p:sp>
      <p:sp>
        <p:nvSpPr>
          <p:cNvPr id="23" name="Shape 20"/>
          <p:cNvSpPr/>
          <p:nvPr/>
        </p:nvSpPr>
        <p:spPr>
          <a:xfrm>
            <a:off x="896112" y="1956816"/>
            <a:ext cx="438912" cy="0"/>
          </a:xfrm>
          <a:prstGeom prst="line">
            <a:avLst/>
          </a:prstGeom>
          <a:noFill/>
          <a:ln w="25400">
            <a:solidFill>
              <a:srgbClr val="35D6E8"/>
            </a:solidFill>
            <a:prstDash val="solid"/>
          </a:ln>
        </p:spPr>
      </p:sp>
      <p:sp>
        <p:nvSpPr>
          <p:cNvPr id="24" name="Shape 21"/>
          <p:cNvSpPr/>
          <p:nvPr/>
        </p:nvSpPr>
        <p:spPr>
          <a:xfrm>
            <a:off x="731520" y="1645920"/>
            <a:ext cx="219456" cy="219456"/>
          </a:xfrm>
          <a:prstGeom prst="ellipse">
            <a:avLst/>
          </a:prstGeom>
          <a:solidFill>
            <a:srgbClr val="39454F">
              <a:alpha val="0"/>
            </a:srgbClr>
          </a:solidFill>
          <a:ln w="19050">
            <a:solidFill>
              <a:srgbClr val="35D6E8"/>
            </a:solidFill>
            <a:prstDash val="solid"/>
          </a:ln>
        </p:spPr>
      </p:sp>
      <p:sp>
        <p:nvSpPr>
          <p:cNvPr id="25" name="Shape 22"/>
          <p:cNvSpPr/>
          <p:nvPr/>
        </p:nvSpPr>
        <p:spPr>
          <a:xfrm>
            <a:off x="1280160" y="1645920"/>
            <a:ext cx="219456" cy="219456"/>
          </a:xfrm>
          <a:prstGeom prst="ellipse">
            <a:avLst/>
          </a:prstGeom>
          <a:solidFill>
            <a:srgbClr val="39454F">
              <a:alpha val="0"/>
            </a:srgbClr>
          </a:solidFill>
          <a:ln w="19050">
            <a:solidFill>
              <a:srgbClr val="35D6E8"/>
            </a:solidFill>
            <a:prstDash val="solid"/>
          </a:ln>
        </p:spPr>
      </p:sp>
      <p:sp>
        <p:nvSpPr>
          <p:cNvPr id="26" name="Text 23"/>
          <p:cNvSpPr txBox="1"/>
          <p:nvPr/>
        </p:nvSpPr>
        <p:spPr>
          <a:xfrm>
            <a:off x="1600200" y="1572768"/>
            <a:ext cx="2331720" cy="502920"/>
          </a:xfrm>
          <a:prstGeom prst="rect">
            <a:avLst/>
          </a:prstGeom>
          <a:noFill/>
          <a:ln/>
        </p:spPr>
        <p:txBody>
          <a:bodyPr wrap="square" lIns="0" tIns="0" rIns="0" bIns="0" rtlCol="0" anchor="t"/>
          <a:lstStyle/>
          <a:p>
            <a:pPr indent="0" marL="0">
              <a:lnSpc>
                <a:spcPct val="115000"/>
              </a:lnSpc>
              <a:buNone/>
            </a:pPr>
            <a:r>
              <a:rPr lang="en-US" sz="1350" b="1" dirty="0">
                <a:solidFill>
                  <a:srgbClr val="35D6E8"/>
                </a:solidFill>
                <a:latin typeface="Arial" pitchFamily="34" charset="0"/>
                <a:ea typeface="Arial" pitchFamily="34" charset="-122"/>
                <a:cs typeface="Arial" pitchFamily="34" charset="-120"/>
              </a:rPr>
              <a:t>1.  Type matching</a:t>
            </a:r>
            <a:endParaRPr lang="en-US" sz="1350" dirty="0"/>
          </a:p>
        </p:txBody>
      </p:sp>
      <p:sp>
        <p:nvSpPr>
          <p:cNvPr id="27" name="Text 24"/>
          <p:cNvSpPr txBox="1"/>
          <p:nvPr/>
        </p:nvSpPr>
        <p:spPr>
          <a:xfrm>
            <a:off x="804672" y="2240280"/>
            <a:ext cx="3017520" cy="548640"/>
          </a:xfrm>
          <a:prstGeom prst="rect">
            <a:avLst/>
          </a:prstGeom>
          <a:noFill/>
          <a:ln/>
        </p:spPr>
        <p:txBody>
          <a:bodyPr wrap="square" lIns="0" tIns="0" rIns="0" bIns="0" rtlCol="0" anchor="t"/>
          <a:lstStyle/>
          <a:p>
            <a:pPr indent="0" marL="0">
              <a:lnSpc>
                <a:spcPct val="125000"/>
              </a:lnSpc>
              <a:buNone/>
            </a:pPr>
            <a:r>
              <a:rPr lang="en-US" sz="1200" dirty="0">
                <a:solidFill>
                  <a:srgbClr val="FFFFFF"/>
                </a:solidFill>
                <a:latin typeface="Arial" pitchFamily="34" charset="0"/>
                <a:ea typeface="Arial" pitchFamily="34" charset="-122"/>
                <a:cs typeface="Arial" pitchFamily="34" charset="-120"/>
              </a:rPr>
              <a:t>Same taxi / request mix in the random subset</a:t>
            </a:r>
            <a:endParaRPr lang="en-US" sz="1200" dirty="0"/>
          </a:p>
        </p:txBody>
      </p:sp>
      <p:sp>
        <p:nvSpPr>
          <p:cNvPr id="28" name="Shape 25"/>
          <p:cNvSpPr/>
          <p:nvPr/>
        </p:nvSpPr>
        <p:spPr>
          <a:xfrm>
            <a:off x="1097280" y="3017520"/>
            <a:ext cx="274320" cy="274320"/>
          </a:xfrm>
          <a:prstGeom prst="ellipse">
            <a:avLst/>
          </a:prstGeom>
          <a:solidFill>
            <a:srgbClr val="35D6E8"/>
          </a:solidFill>
          <a:ln w="12700">
            <a:solidFill>
              <a:srgbClr val="35D6E8"/>
            </a:solidFill>
            <a:prstDash val="solid"/>
          </a:ln>
        </p:spPr>
      </p:sp>
      <p:sp>
        <p:nvSpPr>
          <p:cNvPr id="29" name="Shape 26"/>
          <p:cNvSpPr/>
          <p:nvPr/>
        </p:nvSpPr>
        <p:spPr>
          <a:xfrm>
            <a:off x="1097280" y="3474720"/>
            <a:ext cx="274320" cy="274320"/>
          </a:xfrm>
          <a:prstGeom prst="ellipse">
            <a:avLst/>
          </a:prstGeom>
          <a:solidFill>
            <a:srgbClr val="F0A030"/>
          </a:solidFill>
          <a:ln w="12700">
            <a:solidFill>
              <a:srgbClr val="F0A030"/>
            </a:solidFill>
            <a:prstDash val="solid"/>
          </a:ln>
        </p:spPr>
      </p:sp>
      <p:sp>
        <p:nvSpPr>
          <p:cNvPr id="30" name="Shape 27"/>
          <p:cNvSpPr/>
          <p:nvPr/>
        </p:nvSpPr>
        <p:spPr>
          <a:xfrm>
            <a:off x="1508760" y="3017520"/>
            <a:ext cx="274320" cy="274320"/>
          </a:xfrm>
          <a:prstGeom prst="ellipse">
            <a:avLst/>
          </a:prstGeom>
          <a:solidFill>
            <a:srgbClr val="35D6E8"/>
          </a:solidFill>
          <a:ln w="12700">
            <a:solidFill>
              <a:srgbClr val="35D6E8"/>
            </a:solidFill>
            <a:prstDash val="solid"/>
          </a:ln>
        </p:spPr>
      </p:sp>
      <p:sp>
        <p:nvSpPr>
          <p:cNvPr id="31" name="Shape 28"/>
          <p:cNvSpPr/>
          <p:nvPr/>
        </p:nvSpPr>
        <p:spPr>
          <a:xfrm>
            <a:off x="1508760" y="3474720"/>
            <a:ext cx="274320" cy="274320"/>
          </a:xfrm>
          <a:prstGeom prst="ellipse">
            <a:avLst/>
          </a:prstGeom>
          <a:solidFill>
            <a:srgbClr val="F0A030"/>
          </a:solidFill>
          <a:ln w="12700">
            <a:solidFill>
              <a:srgbClr val="F0A030"/>
            </a:solidFill>
            <a:prstDash val="solid"/>
          </a:ln>
        </p:spPr>
      </p:sp>
      <p:sp>
        <p:nvSpPr>
          <p:cNvPr id="32" name="Text 29"/>
          <p:cNvSpPr txBox="1"/>
          <p:nvPr/>
        </p:nvSpPr>
        <p:spPr>
          <a:xfrm>
            <a:off x="2029968" y="3227832"/>
            <a:ext cx="365760" cy="274320"/>
          </a:xfrm>
          <a:prstGeom prst="rect">
            <a:avLst/>
          </a:prstGeom>
          <a:noFill/>
          <a:ln/>
        </p:spPr>
        <p:txBody>
          <a:bodyPr wrap="square" lIns="0" tIns="0" rIns="0" bIns="0" rtlCol="0" anchor="t"/>
          <a:lstStyle/>
          <a:p>
            <a:pPr algn="ctr" indent="0" marL="0">
              <a:buNone/>
            </a:pPr>
            <a:r>
              <a:rPr lang="en-US" sz="1600" b="1" dirty="0">
                <a:solidFill>
                  <a:srgbClr val="AFBDC8"/>
                </a:solidFill>
                <a:latin typeface="Arial" pitchFamily="34" charset="0"/>
                <a:ea typeface="Arial" pitchFamily="34" charset="-122"/>
                <a:cs typeface="Arial" pitchFamily="34" charset="-120"/>
              </a:rPr>
              <a:t>=</a:t>
            </a:r>
            <a:endParaRPr lang="en-US" sz="1600" dirty="0"/>
          </a:p>
        </p:txBody>
      </p:sp>
      <p:sp>
        <p:nvSpPr>
          <p:cNvPr id="33" name="Shape 30"/>
          <p:cNvSpPr/>
          <p:nvPr/>
        </p:nvSpPr>
        <p:spPr>
          <a:xfrm>
            <a:off x="2468880" y="3017520"/>
            <a:ext cx="274320" cy="274320"/>
          </a:xfrm>
          <a:prstGeom prst="ellipse">
            <a:avLst/>
          </a:prstGeom>
          <a:solidFill>
            <a:srgbClr val="AFBDC8"/>
          </a:solidFill>
          <a:ln w="12700">
            <a:solidFill>
              <a:srgbClr val="AFBDC8"/>
            </a:solidFill>
            <a:prstDash val="solid"/>
          </a:ln>
        </p:spPr>
      </p:sp>
      <p:sp>
        <p:nvSpPr>
          <p:cNvPr id="34" name="Shape 31"/>
          <p:cNvSpPr/>
          <p:nvPr/>
        </p:nvSpPr>
        <p:spPr>
          <a:xfrm>
            <a:off x="2468880" y="3474720"/>
            <a:ext cx="274320" cy="274320"/>
          </a:xfrm>
          <a:prstGeom prst="ellipse">
            <a:avLst/>
          </a:prstGeom>
          <a:solidFill>
            <a:srgbClr val="AFBDC8"/>
          </a:solidFill>
          <a:ln w="12700">
            <a:solidFill>
              <a:srgbClr val="AFBDC8"/>
            </a:solidFill>
            <a:prstDash val="solid"/>
          </a:ln>
        </p:spPr>
      </p:sp>
      <p:sp>
        <p:nvSpPr>
          <p:cNvPr id="35" name="Shape 32"/>
          <p:cNvSpPr/>
          <p:nvPr/>
        </p:nvSpPr>
        <p:spPr>
          <a:xfrm>
            <a:off x="2880360" y="3017520"/>
            <a:ext cx="274320" cy="274320"/>
          </a:xfrm>
          <a:prstGeom prst="ellipse">
            <a:avLst/>
          </a:prstGeom>
          <a:solidFill>
            <a:srgbClr val="AFBDC8"/>
          </a:solidFill>
          <a:ln w="12700">
            <a:solidFill>
              <a:srgbClr val="AFBDC8"/>
            </a:solidFill>
            <a:prstDash val="solid"/>
          </a:ln>
        </p:spPr>
      </p:sp>
      <p:sp>
        <p:nvSpPr>
          <p:cNvPr id="36" name="Shape 33"/>
          <p:cNvSpPr/>
          <p:nvPr/>
        </p:nvSpPr>
        <p:spPr>
          <a:xfrm>
            <a:off x="2880360" y="3474720"/>
            <a:ext cx="274320" cy="274320"/>
          </a:xfrm>
          <a:prstGeom prst="ellipse">
            <a:avLst/>
          </a:prstGeom>
          <a:solidFill>
            <a:srgbClr val="AFBDC8"/>
          </a:solidFill>
          <a:ln w="12700">
            <a:solidFill>
              <a:srgbClr val="AFBDC8"/>
            </a:solidFill>
            <a:prstDash val="solid"/>
          </a:ln>
        </p:spPr>
      </p:sp>
      <p:sp>
        <p:nvSpPr>
          <p:cNvPr id="37" name="Text 34"/>
          <p:cNvSpPr txBox="1"/>
          <p:nvPr/>
        </p:nvSpPr>
        <p:spPr>
          <a:xfrm>
            <a:off x="804672" y="3913632"/>
            <a:ext cx="3017520" cy="457200"/>
          </a:xfrm>
          <a:prstGeom prst="rect">
            <a:avLst/>
          </a:prstGeom>
          <a:noFill/>
          <a:ln/>
        </p:spPr>
        <p:txBody>
          <a:bodyPr wrap="square" lIns="0" tIns="0" rIns="0" bIns="0" rtlCol="0" anchor="t"/>
          <a:lstStyle/>
          <a:p>
            <a:pPr indent="0" marL="0">
              <a:lnSpc>
                <a:spcPct val="115000"/>
              </a:lnSpc>
              <a:buNone/>
            </a:pPr>
            <a:r>
              <a:rPr lang="en-US" sz="950" i="1" dirty="0">
                <a:solidFill>
                  <a:srgbClr val="93A2AD"/>
                </a:solidFill>
                <a:latin typeface="Arial" pitchFamily="34" charset="0"/>
                <a:ea typeface="Arial" pitchFamily="34" charset="-122"/>
                <a:cs typeface="Arial" pitchFamily="34" charset="-120"/>
              </a:rPr>
              <a:t>explanation subset                    matched control</a:t>
            </a:r>
            <a:endParaRPr lang="en-US" sz="950" dirty="0"/>
          </a:p>
        </p:txBody>
      </p:sp>
      <p:sp>
        <p:nvSpPr>
          <p:cNvPr id="38" name="Shape 35"/>
          <p:cNvSpPr/>
          <p:nvPr/>
        </p:nvSpPr>
        <p:spPr>
          <a:xfrm>
            <a:off x="4306824" y="1143000"/>
            <a:ext cx="3520440" cy="3063240"/>
          </a:xfrm>
          <a:prstGeom prst="roundRect">
            <a:avLst>
              <a:gd name="adj" fmla="val 1791"/>
            </a:avLst>
          </a:prstGeom>
          <a:solidFill>
            <a:srgbClr val="2F3A43"/>
          </a:solidFill>
          <a:ln w="12700">
            <a:solidFill>
              <a:srgbClr val="F0A030"/>
            </a:solidFill>
            <a:prstDash val="solid"/>
          </a:ln>
        </p:spPr>
      </p:sp>
      <p:sp>
        <p:nvSpPr>
          <p:cNvPr id="39" name="Shape 36"/>
          <p:cNvSpPr/>
          <p:nvPr/>
        </p:nvSpPr>
        <p:spPr>
          <a:xfrm rot="5400000">
            <a:off x="4636008" y="1481328"/>
            <a:ext cx="475488" cy="512064"/>
          </a:xfrm>
          <a:prstGeom prst="homePlate">
            <a:avLst/>
          </a:prstGeom>
          <a:solidFill>
            <a:srgbClr val="39454F">
              <a:alpha val="0"/>
            </a:srgbClr>
          </a:solidFill>
          <a:ln w="25400">
            <a:solidFill>
              <a:srgbClr val="F0A030"/>
            </a:solidFill>
            <a:prstDash val="solid"/>
          </a:ln>
        </p:spPr>
      </p:sp>
      <p:sp>
        <p:nvSpPr>
          <p:cNvPr id="40" name="Text 37"/>
          <p:cNvSpPr txBox="1"/>
          <p:nvPr/>
        </p:nvSpPr>
        <p:spPr>
          <a:xfrm>
            <a:off x="5358384" y="1572768"/>
            <a:ext cx="2331720" cy="502920"/>
          </a:xfrm>
          <a:prstGeom prst="rect">
            <a:avLst/>
          </a:prstGeom>
          <a:noFill/>
          <a:ln/>
        </p:spPr>
        <p:txBody>
          <a:bodyPr wrap="square" lIns="0" tIns="0" rIns="0" bIns="0" rtlCol="0" anchor="t"/>
          <a:lstStyle/>
          <a:p>
            <a:pPr indent="0" marL="0">
              <a:lnSpc>
                <a:spcPct val="115000"/>
              </a:lnSpc>
              <a:buNone/>
            </a:pPr>
            <a:r>
              <a:rPr lang="en-US" sz="1350" b="1" dirty="0">
                <a:solidFill>
                  <a:srgbClr val="F0A030"/>
                </a:solidFill>
                <a:latin typeface="Arial" pitchFamily="34" charset="0"/>
                <a:ea typeface="Arial" pitchFamily="34" charset="-122"/>
                <a:cs typeface="Arial" pitchFamily="34" charset="-120"/>
              </a:rPr>
              <a:t>2.  Chosen-action protection</a:t>
            </a:r>
            <a:endParaRPr lang="en-US" sz="1350" dirty="0"/>
          </a:p>
        </p:txBody>
      </p:sp>
      <p:sp>
        <p:nvSpPr>
          <p:cNvPr id="41" name="Text 38"/>
          <p:cNvSpPr txBox="1"/>
          <p:nvPr/>
        </p:nvSpPr>
        <p:spPr>
          <a:xfrm>
            <a:off x="4562856" y="2240280"/>
            <a:ext cx="3017520" cy="548640"/>
          </a:xfrm>
          <a:prstGeom prst="rect">
            <a:avLst/>
          </a:prstGeom>
          <a:noFill/>
          <a:ln/>
        </p:spPr>
        <p:txBody>
          <a:bodyPr wrap="square" lIns="0" tIns="0" rIns="0" bIns="0" rtlCol="0" anchor="t"/>
          <a:lstStyle/>
          <a:p>
            <a:pPr indent="0" marL="0">
              <a:lnSpc>
                <a:spcPct val="125000"/>
              </a:lnSpc>
              <a:buNone/>
            </a:pPr>
            <a:r>
              <a:rPr lang="en-US" sz="1200" dirty="0">
                <a:solidFill>
                  <a:srgbClr val="FFFFFF"/>
                </a:solidFill>
                <a:latin typeface="Arial" pitchFamily="34" charset="0"/>
                <a:ea typeface="Arial" pitchFamily="34" charset="-122"/>
                <a:cs typeface="Arial" pitchFamily="34" charset="-120"/>
              </a:rPr>
              <a:t>The selected request is never deleted</a:t>
            </a:r>
            <a:endParaRPr lang="en-US" sz="1200" dirty="0"/>
          </a:p>
        </p:txBody>
      </p:sp>
      <p:sp>
        <p:nvSpPr>
          <p:cNvPr id="42" name="Shape 39"/>
          <p:cNvSpPr/>
          <p:nvPr/>
        </p:nvSpPr>
        <p:spPr>
          <a:xfrm>
            <a:off x="5129784" y="3154680"/>
            <a:ext cx="274320" cy="274320"/>
          </a:xfrm>
          <a:prstGeom prst="ellipse">
            <a:avLst/>
          </a:prstGeom>
          <a:solidFill>
            <a:srgbClr val="AFBDC8"/>
          </a:solidFill>
          <a:ln w="12700">
            <a:solidFill>
              <a:srgbClr val="AFBDC8"/>
            </a:solidFill>
            <a:prstDash val="solid"/>
          </a:ln>
        </p:spPr>
      </p:sp>
      <p:sp>
        <p:nvSpPr>
          <p:cNvPr id="43" name="Shape 40"/>
          <p:cNvSpPr/>
          <p:nvPr/>
        </p:nvSpPr>
        <p:spPr>
          <a:xfrm>
            <a:off x="5157216" y="3182112"/>
            <a:ext cx="219456" cy="219456"/>
          </a:xfrm>
          <a:prstGeom prst="line">
            <a:avLst/>
          </a:prstGeom>
          <a:noFill/>
          <a:ln w="38100">
            <a:solidFill>
              <a:srgbClr val="E4644C"/>
            </a:solidFill>
            <a:prstDash val="solid"/>
          </a:ln>
        </p:spPr>
      </p:sp>
      <p:sp>
        <p:nvSpPr>
          <p:cNvPr id="44" name="Shape 41"/>
          <p:cNvSpPr/>
          <p:nvPr/>
        </p:nvSpPr>
        <p:spPr>
          <a:xfrm flipV="1">
            <a:off x="5157216" y="3182112"/>
            <a:ext cx="219456" cy="219456"/>
          </a:xfrm>
          <a:prstGeom prst="line">
            <a:avLst/>
          </a:prstGeom>
          <a:noFill/>
          <a:ln w="38100">
            <a:solidFill>
              <a:srgbClr val="E4644C"/>
            </a:solidFill>
            <a:prstDash val="solid"/>
          </a:ln>
        </p:spPr>
      </p:sp>
      <p:sp>
        <p:nvSpPr>
          <p:cNvPr id="45" name="Shape 42"/>
          <p:cNvSpPr/>
          <p:nvPr/>
        </p:nvSpPr>
        <p:spPr>
          <a:xfrm>
            <a:off x="6684264" y="3154680"/>
            <a:ext cx="274320" cy="274320"/>
          </a:xfrm>
          <a:prstGeom prst="ellipse">
            <a:avLst/>
          </a:prstGeom>
          <a:solidFill>
            <a:srgbClr val="AFBDC8"/>
          </a:solidFill>
          <a:ln w="12700">
            <a:solidFill>
              <a:srgbClr val="AFBDC8"/>
            </a:solidFill>
            <a:prstDash val="solid"/>
          </a:ln>
        </p:spPr>
      </p:sp>
      <p:sp>
        <p:nvSpPr>
          <p:cNvPr id="46" name="Shape 43"/>
          <p:cNvSpPr/>
          <p:nvPr/>
        </p:nvSpPr>
        <p:spPr>
          <a:xfrm>
            <a:off x="6711696" y="3182112"/>
            <a:ext cx="219456" cy="219456"/>
          </a:xfrm>
          <a:prstGeom prst="line">
            <a:avLst/>
          </a:prstGeom>
          <a:noFill/>
          <a:ln w="38100">
            <a:solidFill>
              <a:srgbClr val="E4644C"/>
            </a:solidFill>
            <a:prstDash val="solid"/>
          </a:ln>
        </p:spPr>
      </p:sp>
      <p:sp>
        <p:nvSpPr>
          <p:cNvPr id="47" name="Shape 44"/>
          <p:cNvSpPr/>
          <p:nvPr/>
        </p:nvSpPr>
        <p:spPr>
          <a:xfrm flipV="1">
            <a:off x="6711696" y="3182112"/>
            <a:ext cx="219456" cy="219456"/>
          </a:xfrm>
          <a:prstGeom prst="line">
            <a:avLst/>
          </a:prstGeom>
          <a:noFill/>
          <a:ln w="38100">
            <a:solidFill>
              <a:srgbClr val="E4644C"/>
            </a:solidFill>
            <a:prstDash val="solid"/>
          </a:ln>
        </p:spPr>
      </p:sp>
      <p:sp>
        <p:nvSpPr>
          <p:cNvPr id="48" name="Shape 45"/>
          <p:cNvSpPr/>
          <p:nvPr/>
        </p:nvSpPr>
        <p:spPr>
          <a:xfrm>
            <a:off x="5852160" y="3099816"/>
            <a:ext cx="384048" cy="384048"/>
          </a:xfrm>
          <a:prstGeom prst="ellipse">
            <a:avLst/>
          </a:prstGeom>
          <a:solidFill>
            <a:srgbClr val="F0A030"/>
          </a:solidFill>
          <a:ln w="12700">
            <a:solidFill>
              <a:srgbClr val="F0A030"/>
            </a:solidFill>
            <a:prstDash val="solid"/>
          </a:ln>
        </p:spPr>
      </p:sp>
      <p:sp>
        <p:nvSpPr>
          <p:cNvPr id="49" name="Shape 46"/>
          <p:cNvSpPr/>
          <p:nvPr/>
        </p:nvSpPr>
        <p:spPr>
          <a:xfrm>
            <a:off x="5715000" y="2962656"/>
            <a:ext cx="658368" cy="658368"/>
          </a:xfrm>
          <a:prstGeom prst="ellipse">
            <a:avLst/>
          </a:prstGeom>
          <a:solidFill>
            <a:srgbClr val="39454F">
              <a:alpha val="0"/>
            </a:srgbClr>
          </a:solidFill>
          <a:ln w="25400">
            <a:solidFill>
              <a:srgbClr val="F0A030"/>
            </a:solidFill>
            <a:prstDash val="solid"/>
          </a:ln>
        </p:spPr>
      </p:sp>
      <p:sp>
        <p:nvSpPr>
          <p:cNvPr id="50" name="Text 47"/>
          <p:cNvSpPr txBox="1"/>
          <p:nvPr/>
        </p:nvSpPr>
        <p:spPr>
          <a:xfrm>
            <a:off x="4562856" y="3913632"/>
            <a:ext cx="3017520" cy="457200"/>
          </a:xfrm>
          <a:prstGeom prst="rect">
            <a:avLst/>
          </a:prstGeom>
          <a:noFill/>
          <a:ln/>
        </p:spPr>
        <p:txBody>
          <a:bodyPr wrap="square" lIns="0" tIns="0" rIns="0" bIns="0" rtlCol="0" anchor="t"/>
          <a:lstStyle/>
          <a:p>
            <a:pPr indent="0" marL="0">
              <a:lnSpc>
                <a:spcPct val="115000"/>
              </a:lnSpc>
              <a:buNone/>
            </a:pPr>
            <a:r>
              <a:rPr lang="en-US" sz="950" i="1" dirty="0">
                <a:solidFill>
                  <a:srgbClr val="93A2AD"/>
                </a:solidFill>
                <a:latin typeface="Arial" pitchFamily="34" charset="0"/>
                <a:ea typeface="Arial" pitchFamily="34" charset="-122"/>
                <a:cs typeface="Arial" pitchFamily="34" charset="-120"/>
              </a:rPr>
              <a:t>the chosen request stays in every counterfactual</a:t>
            </a:r>
            <a:endParaRPr lang="en-US" sz="950" dirty="0"/>
          </a:p>
        </p:txBody>
      </p:sp>
      <p:sp>
        <p:nvSpPr>
          <p:cNvPr id="51" name="Shape 48"/>
          <p:cNvSpPr/>
          <p:nvPr/>
        </p:nvSpPr>
        <p:spPr>
          <a:xfrm>
            <a:off x="8065008" y="1143000"/>
            <a:ext cx="3520440" cy="3063240"/>
          </a:xfrm>
          <a:prstGeom prst="roundRect">
            <a:avLst>
              <a:gd name="adj" fmla="val 1791"/>
            </a:avLst>
          </a:prstGeom>
          <a:solidFill>
            <a:srgbClr val="2F3A43"/>
          </a:solidFill>
          <a:ln w="12700">
            <a:solidFill>
              <a:srgbClr val="5FC98B"/>
            </a:solidFill>
            <a:prstDash val="solid"/>
          </a:ln>
        </p:spPr>
      </p:sp>
      <p:sp>
        <p:nvSpPr>
          <p:cNvPr id="52" name="Shape 49"/>
          <p:cNvSpPr/>
          <p:nvPr/>
        </p:nvSpPr>
        <p:spPr>
          <a:xfrm>
            <a:off x="8357616" y="1572768"/>
            <a:ext cx="548640" cy="0"/>
          </a:xfrm>
          <a:prstGeom prst="line">
            <a:avLst/>
          </a:prstGeom>
          <a:noFill/>
          <a:ln w="19050">
            <a:solidFill>
              <a:srgbClr val="5FC98B"/>
            </a:solidFill>
            <a:prstDash val="dash"/>
          </a:ln>
        </p:spPr>
      </p:sp>
      <p:sp>
        <p:nvSpPr>
          <p:cNvPr id="53" name="Shape 50"/>
          <p:cNvSpPr/>
          <p:nvPr/>
        </p:nvSpPr>
        <p:spPr>
          <a:xfrm>
            <a:off x="8357616" y="1938528"/>
            <a:ext cx="548640" cy="0"/>
          </a:xfrm>
          <a:prstGeom prst="line">
            <a:avLst/>
          </a:prstGeom>
          <a:noFill/>
          <a:ln w="19050">
            <a:solidFill>
              <a:srgbClr val="5FC98B"/>
            </a:solidFill>
            <a:prstDash val="dash"/>
          </a:ln>
        </p:spPr>
      </p:sp>
      <p:sp>
        <p:nvSpPr>
          <p:cNvPr id="54" name="Shape 51"/>
          <p:cNvSpPr/>
          <p:nvPr/>
        </p:nvSpPr>
        <p:spPr>
          <a:xfrm flipV="1">
            <a:off x="8357616" y="1682496"/>
            <a:ext cx="182880" cy="146304"/>
          </a:xfrm>
          <a:prstGeom prst="line">
            <a:avLst/>
          </a:prstGeom>
          <a:noFill/>
          <a:ln w="25400">
            <a:solidFill>
              <a:srgbClr val="5FC98B"/>
            </a:solidFill>
            <a:prstDash val="solid"/>
          </a:ln>
        </p:spPr>
      </p:sp>
      <p:sp>
        <p:nvSpPr>
          <p:cNvPr id="55" name="Shape 52"/>
          <p:cNvSpPr/>
          <p:nvPr/>
        </p:nvSpPr>
        <p:spPr>
          <a:xfrm>
            <a:off x="8540496" y="1682496"/>
            <a:ext cx="164592" cy="182880"/>
          </a:xfrm>
          <a:prstGeom prst="line">
            <a:avLst/>
          </a:prstGeom>
          <a:noFill/>
          <a:ln w="25400">
            <a:solidFill>
              <a:srgbClr val="5FC98B"/>
            </a:solidFill>
            <a:prstDash val="solid"/>
          </a:ln>
        </p:spPr>
      </p:sp>
      <p:sp>
        <p:nvSpPr>
          <p:cNvPr id="56" name="Shape 53"/>
          <p:cNvSpPr/>
          <p:nvPr/>
        </p:nvSpPr>
        <p:spPr>
          <a:xfrm flipV="1">
            <a:off x="8705088" y="1627632"/>
            <a:ext cx="201168" cy="237744"/>
          </a:xfrm>
          <a:prstGeom prst="line">
            <a:avLst/>
          </a:prstGeom>
          <a:noFill/>
          <a:ln w="25400">
            <a:solidFill>
              <a:srgbClr val="5FC98B"/>
            </a:solidFill>
            <a:prstDash val="solid"/>
          </a:ln>
        </p:spPr>
      </p:sp>
      <p:sp>
        <p:nvSpPr>
          <p:cNvPr id="57" name="Text 54"/>
          <p:cNvSpPr txBox="1"/>
          <p:nvPr/>
        </p:nvSpPr>
        <p:spPr>
          <a:xfrm>
            <a:off x="9116568" y="1572768"/>
            <a:ext cx="2331720" cy="502920"/>
          </a:xfrm>
          <a:prstGeom prst="rect">
            <a:avLst/>
          </a:prstGeom>
          <a:noFill/>
          <a:ln/>
        </p:spPr>
        <p:txBody>
          <a:bodyPr wrap="square" lIns="0" tIns="0" rIns="0" bIns="0" rtlCol="0" anchor="t"/>
          <a:lstStyle/>
          <a:p>
            <a:pPr indent="0" marL="0">
              <a:lnSpc>
                <a:spcPct val="115000"/>
              </a:lnSpc>
              <a:buNone/>
            </a:pPr>
            <a:r>
              <a:rPr lang="en-US" sz="1350" b="1" dirty="0">
                <a:solidFill>
                  <a:srgbClr val="5FC98B"/>
                </a:solidFill>
                <a:latin typeface="Arial" pitchFamily="34" charset="0"/>
                <a:ea typeface="Arial" pitchFamily="34" charset="-122"/>
                <a:cs typeface="Arial" pitchFamily="34" charset="-120"/>
              </a:rPr>
              <a:t>3.  Clamp logging</a:t>
            </a:r>
            <a:endParaRPr lang="en-US" sz="1350" dirty="0"/>
          </a:p>
        </p:txBody>
      </p:sp>
      <p:sp>
        <p:nvSpPr>
          <p:cNvPr id="58" name="Text 55"/>
          <p:cNvSpPr txBox="1"/>
          <p:nvPr/>
        </p:nvSpPr>
        <p:spPr>
          <a:xfrm>
            <a:off x="8321040" y="2240280"/>
            <a:ext cx="3017520" cy="548640"/>
          </a:xfrm>
          <a:prstGeom prst="rect">
            <a:avLst/>
          </a:prstGeom>
          <a:noFill/>
          <a:ln/>
        </p:spPr>
        <p:txBody>
          <a:bodyPr wrap="square" lIns="0" tIns="0" rIns="0" bIns="0" rtlCol="0" anchor="t"/>
          <a:lstStyle/>
          <a:p>
            <a:pPr indent="0" marL="0">
              <a:lnSpc>
                <a:spcPct val="125000"/>
              </a:lnSpc>
              <a:buNone/>
            </a:pPr>
            <a:r>
              <a:rPr lang="en-US" sz="1200" dirty="0">
                <a:solidFill>
                  <a:srgbClr val="FFFFFF"/>
                </a:solidFill>
                <a:latin typeface="Arial" pitchFamily="34" charset="0"/>
                <a:ea typeface="Arial" pitchFamily="34" charset="-122"/>
                <a:cs typeface="Arial" pitchFamily="34" charset="-120"/>
              </a:rPr>
              <a:t>Margin clamps counted, so deletion is detectable</a:t>
            </a:r>
            <a:endParaRPr lang="en-US" sz="1200" dirty="0"/>
          </a:p>
        </p:txBody>
      </p:sp>
      <p:sp>
        <p:nvSpPr>
          <p:cNvPr id="59" name="Shape 56"/>
          <p:cNvSpPr/>
          <p:nvPr/>
        </p:nvSpPr>
        <p:spPr>
          <a:xfrm>
            <a:off x="8631936" y="3063240"/>
            <a:ext cx="2377440" cy="0"/>
          </a:xfrm>
          <a:prstGeom prst="line">
            <a:avLst/>
          </a:prstGeom>
          <a:noFill/>
          <a:ln w="12700">
            <a:solidFill>
              <a:srgbClr val="F0A030"/>
            </a:solidFill>
            <a:prstDash val="dash"/>
          </a:ln>
        </p:spPr>
      </p:sp>
      <p:sp>
        <p:nvSpPr>
          <p:cNvPr id="60" name="Shape 57"/>
          <p:cNvSpPr/>
          <p:nvPr/>
        </p:nvSpPr>
        <p:spPr>
          <a:xfrm>
            <a:off x="8631936" y="3703320"/>
            <a:ext cx="2377440" cy="0"/>
          </a:xfrm>
          <a:prstGeom prst="line">
            <a:avLst/>
          </a:prstGeom>
          <a:noFill/>
          <a:ln w="12700">
            <a:solidFill>
              <a:srgbClr val="F0A030"/>
            </a:solidFill>
            <a:prstDash val="dash"/>
          </a:ln>
        </p:spPr>
      </p:sp>
      <p:sp>
        <p:nvSpPr>
          <p:cNvPr id="61" name="Shape 58"/>
          <p:cNvSpPr/>
          <p:nvPr/>
        </p:nvSpPr>
        <p:spPr>
          <a:xfrm flipV="1">
            <a:off x="8631936" y="3337560"/>
            <a:ext cx="411480" cy="228600"/>
          </a:xfrm>
          <a:prstGeom prst="line">
            <a:avLst/>
          </a:prstGeom>
          <a:noFill/>
          <a:ln w="19050">
            <a:solidFill>
              <a:srgbClr val="FFFFFF"/>
            </a:solidFill>
            <a:prstDash val="solid"/>
          </a:ln>
        </p:spPr>
      </p:sp>
      <p:sp>
        <p:nvSpPr>
          <p:cNvPr id="62" name="Shape 59"/>
          <p:cNvSpPr/>
          <p:nvPr/>
        </p:nvSpPr>
        <p:spPr>
          <a:xfrm>
            <a:off x="9043416" y="3337560"/>
            <a:ext cx="338328" cy="137160"/>
          </a:xfrm>
          <a:prstGeom prst="line">
            <a:avLst/>
          </a:prstGeom>
          <a:noFill/>
          <a:ln w="19050">
            <a:solidFill>
              <a:srgbClr val="FFFFFF"/>
            </a:solidFill>
            <a:prstDash val="solid"/>
          </a:ln>
        </p:spPr>
      </p:sp>
      <p:sp>
        <p:nvSpPr>
          <p:cNvPr id="63" name="Shape 60"/>
          <p:cNvSpPr/>
          <p:nvPr/>
        </p:nvSpPr>
        <p:spPr>
          <a:xfrm flipV="1">
            <a:off x="9381744" y="3108960"/>
            <a:ext cx="420624" cy="365760"/>
          </a:xfrm>
          <a:prstGeom prst="line">
            <a:avLst/>
          </a:prstGeom>
          <a:noFill/>
          <a:ln w="19050">
            <a:solidFill>
              <a:srgbClr val="FFFFFF"/>
            </a:solidFill>
            <a:prstDash val="solid"/>
          </a:ln>
        </p:spPr>
      </p:sp>
      <p:sp>
        <p:nvSpPr>
          <p:cNvPr id="64" name="Shape 61"/>
          <p:cNvSpPr/>
          <p:nvPr/>
        </p:nvSpPr>
        <p:spPr>
          <a:xfrm>
            <a:off x="9802368" y="3108960"/>
            <a:ext cx="411480" cy="320040"/>
          </a:xfrm>
          <a:prstGeom prst="line">
            <a:avLst/>
          </a:prstGeom>
          <a:noFill/>
          <a:ln w="19050">
            <a:solidFill>
              <a:srgbClr val="FFFFFF"/>
            </a:solidFill>
            <a:prstDash val="solid"/>
          </a:ln>
        </p:spPr>
      </p:sp>
      <p:sp>
        <p:nvSpPr>
          <p:cNvPr id="65" name="Shape 62"/>
          <p:cNvSpPr/>
          <p:nvPr/>
        </p:nvSpPr>
        <p:spPr>
          <a:xfrm flipV="1">
            <a:off x="10213848" y="3063240"/>
            <a:ext cx="420624" cy="365760"/>
          </a:xfrm>
          <a:prstGeom prst="line">
            <a:avLst/>
          </a:prstGeom>
          <a:noFill/>
          <a:ln w="19050">
            <a:solidFill>
              <a:srgbClr val="FFFFFF"/>
            </a:solidFill>
            <a:prstDash val="solid"/>
          </a:ln>
        </p:spPr>
      </p:sp>
      <p:sp>
        <p:nvSpPr>
          <p:cNvPr id="66" name="Shape 63"/>
          <p:cNvSpPr/>
          <p:nvPr/>
        </p:nvSpPr>
        <p:spPr>
          <a:xfrm>
            <a:off x="10634472" y="3063240"/>
            <a:ext cx="374904" cy="594360"/>
          </a:xfrm>
          <a:prstGeom prst="line">
            <a:avLst/>
          </a:prstGeom>
          <a:noFill/>
          <a:ln w="19050">
            <a:solidFill>
              <a:srgbClr val="FFFFFF"/>
            </a:solidFill>
            <a:prstDash val="solid"/>
          </a:ln>
        </p:spPr>
      </p:sp>
      <p:sp>
        <p:nvSpPr>
          <p:cNvPr id="67" name="Text 64"/>
          <p:cNvSpPr txBox="1"/>
          <p:nvPr/>
        </p:nvSpPr>
        <p:spPr>
          <a:xfrm>
            <a:off x="8321040" y="3913632"/>
            <a:ext cx="3017520" cy="457200"/>
          </a:xfrm>
          <a:prstGeom prst="rect">
            <a:avLst/>
          </a:prstGeom>
          <a:noFill/>
          <a:ln/>
        </p:spPr>
        <p:txBody>
          <a:bodyPr wrap="square" lIns="0" tIns="0" rIns="0" bIns="0" rtlCol="0" anchor="t"/>
          <a:lstStyle/>
          <a:p>
            <a:pPr indent="0" marL="0">
              <a:lnSpc>
                <a:spcPct val="115000"/>
              </a:lnSpc>
              <a:buNone/>
            </a:pPr>
            <a:r>
              <a:rPr lang="en-US" sz="950" i="1" dirty="0">
                <a:solidFill>
                  <a:srgbClr val="93A2AD"/>
                </a:solidFill>
                <a:latin typeface="Arial" pitchFamily="34" charset="0"/>
                <a:ea typeface="Arial" pitchFamily="34" charset="-122"/>
                <a:cs typeface="Arial" pitchFamily="34" charset="-120"/>
              </a:rPr>
              <a:t>clamps at the margin limits are logged, never silent</a:t>
            </a:r>
            <a:endParaRPr lang="en-US" sz="950" dirty="0"/>
          </a:p>
        </p:txBody>
      </p:sp>
      <p:sp>
        <p:nvSpPr>
          <p:cNvPr id="68" name="Shape 65"/>
          <p:cNvSpPr/>
          <p:nvPr/>
        </p:nvSpPr>
        <p:spPr>
          <a:xfrm>
            <a:off x="548640" y="4343400"/>
            <a:ext cx="11091672" cy="1005840"/>
          </a:xfrm>
          <a:prstGeom prst="roundRect">
            <a:avLst>
              <a:gd name="adj" fmla="val 5455"/>
            </a:avLst>
          </a:prstGeom>
          <a:solidFill>
            <a:srgbClr val="2F3A43"/>
          </a:solidFill>
          <a:ln w="12700">
            <a:solidFill>
              <a:srgbClr val="5A6772"/>
            </a:solidFill>
            <a:prstDash val="solid"/>
          </a:ln>
        </p:spPr>
      </p:sp>
      <p:sp>
        <p:nvSpPr>
          <p:cNvPr id="69" name="Text 66"/>
          <p:cNvSpPr txBox="1"/>
          <p:nvPr/>
        </p:nvSpPr>
        <p:spPr>
          <a:xfrm>
            <a:off x="822960" y="4526280"/>
            <a:ext cx="2011680" cy="274320"/>
          </a:xfrm>
          <a:prstGeom prst="rect">
            <a:avLst/>
          </a:prstGeom>
          <a:noFill/>
          <a:ln/>
        </p:spPr>
        <p:txBody>
          <a:bodyPr wrap="square" lIns="0" tIns="0" rIns="0" bIns="0" rtlCol="0" anchor="ctr"/>
          <a:lstStyle/>
          <a:p>
            <a:pPr indent="0" marL="0">
              <a:buNone/>
            </a:pPr>
            <a:r>
              <a:rPr lang="en-US" sz="1200" b="1" dirty="0">
                <a:solidFill>
                  <a:srgbClr val="AFBDC8"/>
                </a:solidFill>
                <a:latin typeface="Arial" pitchFamily="34" charset="0"/>
                <a:ea typeface="Arial" pitchFamily="34" charset="-122"/>
                <a:cs typeface="Arial" pitchFamily="34" charset="-120"/>
              </a:rPr>
              <a:t>Added baselines</a:t>
            </a:r>
            <a:endParaRPr lang="en-US" sz="1200" dirty="0"/>
          </a:p>
        </p:txBody>
      </p:sp>
      <p:sp>
        <p:nvSpPr>
          <p:cNvPr id="70" name="Shape 67"/>
          <p:cNvSpPr/>
          <p:nvPr/>
        </p:nvSpPr>
        <p:spPr>
          <a:xfrm>
            <a:off x="2834640" y="4526280"/>
            <a:ext cx="3840480" cy="310896"/>
          </a:xfrm>
          <a:prstGeom prst="roundRect">
            <a:avLst>
              <a:gd name="adj" fmla="val 14706"/>
            </a:avLst>
          </a:prstGeom>
          <a:solidFill>
            <a:srgbClr val="5FC98B"/>
          </a:solidFill>
          <a:ln w="12700">
            <a:solidFill>
              <a:srgbClr val="5FC98B"/>
            </a:solidFill>
            <a:prstDash val="solid"/>
          </a:ln>
        </p:spPr>
      </p:sp>
      <p:sp>
        <p:nvSpPr>
          <p:cNvPr id="71" name="Text 68"/>
          <p:cNvSpPr txBox="1"/>
          <p:nvPr/>
        </p:nvSpPr>
        <p:spPr>
          <a:xfrm>
            <a:off x="2834640" y="4526280"/>
            <a:ext cx="3840480" cy="310896"/>
          </a:xfrm>
          <a:prstGeom prst="rect">
            <a:avLst/>
          </a:prstGeom>
          <a:noFill/>
          <a:ln/>
        </p:spPr>
        <p:txBody>
          <a:bodyPr wrap="square" lIns="0" tIns="0" rIns="0" bIns="0" rtlCol="0" anchor="ctr"/>
          <a:lstStyle/>
          <a:p>
            <a:pPr algn="ctr" indent="0" marL="0">
              <a:buNone/>
            </a:pPr>
            <a:r>
              <a:rPr lang="en-US" sz="1100" b="1" dirty="0">
                <a:solidFill>
                  <a:srgbClr val="1F2830"/>
                </a:solidFill>
                <a:latin typeface="Arial" pitchFamily="34" charset="0"/>
                <a:ea typeface="Arial" pitchFamily="34" charset="-122"/>
                <a:cs typeface="Arial" pitchFamily="34" charset="-120"/>
              </a:rPr>
              <a:t>Leave-One-Out  —  positive control</a:t>
            </a:r>
            <a:endParaRPr lang="en-US" sz="1100" dirty="0"/>
          </a:p>
        </p:txBody>
      </p:sp>
      <p:sp>
        <p:nvSpPr>
          <p:cNvPr id="72" name="Shape 69"/>
          <p:cNvSpPr/>
          <p:nvPr/>
        </p:nvSpPr>
        <p:spPr>
          <a:xfrm>
            <a:off x="6903720" y="4526280"/>
            <a:ext cx="4480560" cy="310896"/>
          </a:xfrm>
          <a:prstGeom prst="roundRect">
            <a:avLst>
              <a:gd name="adj" fmla="val 14706"/>
            </a:avLst>
          </a:prstGeom>
          <a:solidFill>
            <a:srgbClr val="AFBDC8"/>
          </a:solidFill>
          <a:ln w="12700">
            <a:solidFill>
              <a:srgbClr val="AFBDC8"/>
            </a:solidFill>
            <a:prstDash val="solid"/>
          </a:ln>
        </p:spPr>
      </p:sp>
      <p:sp>
        <p:nvSpPr>
          <p:cNvPr id="73" name="Text 70"/>
          <p:cNvSpPr txBox="1"/>
          <p:nvPr/>
        </p:nvSpPr>
        <p:spPr>
          <a:xfrm>
            <a:off x="6903720" y="4526280"/>
            <a:ext cx="4480560" cy="310896"/>
          </a:xfrm>
          <a:prstGeom prst="rect">
            <a:avLst/>
          </a:prstGeom>
          <a:noFill/>
          <a:ln/>
        </p:spPr>
        <p:txBody>
          <a:bodyPr wrap="square" lIns="0" tIns="0" rIns="0" bIns="0" rtlCol="0" anchor="ctr"/>
          <a:lstStyle/>
          <a:p>
            <a:pPr algn="ctr" indent="0" marL="0">
              <a:buNone/>
            </a:pPr>
            <a:r>
              <a:rPr lang="en-US" sz="1100" b="1" dirty="0">
                <a:solidFill>
                  <a:srgbClr val="1F2830"/>
                </a:solidFill>
                <a:latin typeface="Arial" pitchFamily="34" charset="0"/>
                <a:ea typeface="Arial" pitchFamily="34" charset="-122"/>
                <a:cs typeface="Arial" pitchFamily="34" charset="-120"/>
              </a:rPr>
              <a:t>Gradient x Input  —  attention-free comparator</a:t>
            </a:r>
            <a:endParaRPr lang="en-US" sz="1100" dirty="0"/>
          </a:p>
        </p:txBody>
      </p:sp>
      <p:sp>
        <p:nvSpPr>
          <p:cNvPr id="74" name="Text 71"/>
          <p:cNvSpPr txBox="1"/>
          <p:nvPr/>
        </p:nvSpPr>
        <p:spPr>
          <a:xfrm>
            <a:off x="2834640" y="4956048"/>
            <a:ext cx="8595360" cy="274320"/>
          </a:xfrm>
          <a:prstGeom prst="rect">
            <a:avLst/>
          </a:prstGeom>
          <a:noFill/>
          <a:ln/>
        </p:spPr>
        <p:txBody>
          <a:bodyPr wrap="square" lIns="0" tIns="0" rIns="0" bIns="0" rtlCol="0" anchor="t"/>
          <a:lstStyle/>
          <a:p>
            <a:pPr indent="0" marL="0">
              <a:buNone/>
            </a:pPr>
            <a:r>
              <a:rPr lang="en-US" sz="1100" dirty="0">
                <a:solidFill>
                  <a:srgbClr val="AFBDC8"/>
                </a:solidFill>
                <a:latin typeface="Arial" pitchFamily="34" charset="0"/>
                <a:ea typeface="Arial" pitchFamily="34" charset="-122"/>
                <a:cs typeface="Arial" pitchFamily="34" charset="-120"/>
              </a:rPr>
              <a:t>Both scored on the same decisions, with the same protected action.</a:t>
            </a:r>
            <a:endParaRPr lang="en-US" sz="1100" dirty="0"/>
          </a:p>
        </p:txBody>
      </p:sp>
      <p:sp>
        <p:nvSpPr>
          <p:cNvPr id="75" name="Shape 72"/>
          <p:cNvSpPr/>
          <p:nvPr/>
        </p:nvSpPr>
        <p:spPr>
          <a:xfrm>
            <a:off x="548640" y="5559552"/>
            <a:ext cx="11091672" cy="694944"/>
          </a:xfrm>
          <a:prstGeom prst="roundRect">
            <a:avLst>
              <a:gd name="adj" fmla="val 7895"/>
            </a:avLst>
          </a:prstGeom>
          <a:solidFill>
            <a:srgbClr val="44515C"/>
          </a:solidFill>
          <a:ln w="12700">
            <a:solidFill>
              <a:srgbClr val="35D6E8"/>
            </a:solidFill>
            <a:prstDash val="solid"/>
          </a:ln>
        </p:spPr>
      </p:sp>
      <p:sp>
        <p:nvSpPr>
          <p:cNvPr id="76" name="Text 73"/>
          <p:cNvSpPr txBox="1"/>
          <p:nvPr/>
        </p:nvSpPr>
        <p:spPr>
          <a:xfrm>
            <a:off x="822960" y="5751576"/>
            <a:ext cx="10515600" cy="36576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Without these controls, a faithfulness score measures node-type composition rather than explanation quality.</a:t>
            </a:r>
            <a:endParaRPr lang="en-US" sz="1400" dirty="0"/>
          </a:p>
        </p:txBody>
      </p:sp>
      <p:sp>
        <p:nvSpPr>
          <p:cNvPr id="77" name="Text 74"/>
          <p:cNvSpPr txBox="1"/>
          <p:nvPr/>
        </p:nvSpPr>
        <p:spPr>
          <a:xfrm>
            <a:off x="11365992" y="6382512"/>
            <a:ext cx="365760" cy="274320"/>
          </a:xfrm>
          <a:prstGeom prst="rect">
            <a:avLst/>
          </a:prstGeom>
          <a:noFill/>
          <a:ln/>
        </p:spPr>
        <p:txBody>
          <a:bodyPr wrap="square" lIns="0" tIns="0" rIns="0" bIns="0" rtlCol="0" anchor="ctr"/>
          <a:lstStyle/>
          <a:p>
            <a:pPr algn="r" indent="0" marL="0">
              <a:buNone/>
            </a:pPr>
            <a:r>
              <a:rPr lang="en-US" sz="900" dirty="0">
                <a:solidFill>
                  <a:srgbClr val="7C8B96"/>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9454F"/>
        </a:solidFill>
      </p:bgPr>
    </p:bg>
    <p:spTree>
      <p:nvGrpSpPr>
        <p:cNvPr id="1" name=""/>
        <p:cNvGrpSpPr/>
        <p:nvPr/>
      </p:nvGrpSpPr>
      <p:grpSpPr>
        <a:xfrm>
          <a:off x="0" y="0"/>
          <a:ext cx="0" cy="0"/>
          <a:chOff x="0" y="0"/>
          <a:chExt cx="0" cy="0"/>
        </a:xfrm>
      </p:grpSpPr>
      <p:sp>
        <p:nvSpPr>
          <p:cNvPr id="3" name="Shape 0"/>
          <p:cNvSpPr/>
          <p:nvPr/>
        </p:nvSpPr>
        <p:spPr>
          <a:xfrm>
            <a:off x="201168" y="201168"/>
            <a:ext cx="384048" cy="0"/>
          </a:xfrm>
          <a:prstGeom prst="line">
            <a:avLst/>
          </a:prstGeom>
          <a:noFill/>
          <a:ln w="12700">
            <a:solidFill>
              <a:srgbClr val="66757F"/>
            </a:solidFill>
            <a:prstDash val="solid"/>
          </a:ln>
        </p:spPr>
      </p:sp>
      <p:sp>
        <p:nvSpPr>
          <p:cNvPr id="4" name="Shape 1"/>
          <p:cNvSpPr/>
          <p:nvPr/>
        </p:nvSpPr>
        <p:spPr>
          <a:xfrm>
            <a:off x="201168" y="201168"/>
            <a:ext cx="0" cy="384048"/>
          </a:xfrm>
          <a:prstGeom prst="line">
            <a:avLst/>
          </a:prstGeom>
          <a:noFill/>
          <a:ln w="12700">
            <a:solidFill>
              <a:srgbClr val="66757F"/>
            </a:solidFill>
            <a:prstDash val="solid"/>
          </a:ln>
        </p:spPr>
      </p:sp>
      <p:sp>
        <p:nvSpPr>
          <p:cNvPr id="5" name="Shape 2"/>
          <p:cNvSpPr/>
          <p:nvPr/>
        </p:nvSpPr>
        <p:spPr>
          <a:xfrm flipH="1">
            <a:off x="11603736" y="201168"/>
            <a:ext cx="384048" cy="0"/>
          </a:xfrm>
          <a:prstGeom prst="line">
            <a:avLst/>
          </a:prstGeom>
          <a:noFill/>
          <a:ln w="12700">
            <a:solidFill>
              <a:srgbClr val="66757F"/>
            </a:solidFill>
            <a:prstDash val="solid"/>
          </a:ln>
        </p:spPr>
      </p:sp>
      <p:sp>
        <p:nvSpPr>
          <p:cNvPr id="6" name="Shape 3"/>
          <p:cNvSpPr/>
          <p:nvPr/>
        </p:nvSpPr>
        <p:spPr>
          <a:xfrm>
            <a:off x="11987784" y="201168"/>
            <a:ext cx="0" cy="384048"/>
          </a:xfrm>
          <a:prstGeom prst="line">
            <a:avLst/>
          </a:prstGeom>
          <a:noFill/>
          <a:ln w="12700">
            <a:solidFill>
              <a:srgbClr val="66757F"/>
            </a:solidFill>
            <a:prstDash val="solid"/>
          </a:ln>
        </p:spPr>
      </p:sp>
      <p:sp>
        <p:nvSpPr>
          <p:cNvPr id="7" name="Shape 4"/>
          <p:cNvSpPr/>
          <p:nvPr/>
        </p:nvSpPr>
        <p:spPr>
          <a:xfrm>
            <a:off x="201168" y="6656832"/>
            <a:ext cx="384048" cy="0"/>
          </a:xfrm>
          <a:prstGeom prst="line">
            <a:avLst/>
          </a:prstGeom>
          <a:noFill/>
          <a:ln w="12700">
            <a:solidFill>
              <a:srgbClr val="66757F"/>
            </a:solidFill>
            <a:prstDash val="solid"/>
          </a:ln>
        </p:spPr>
      </p:sp>
      <p:sp>
        <p:nvSpPr>
          <p:cNvPr id="8" name="Shape 5"/>
          <p:cNvSpPr/>
          <p:nvPr/>
        </p:nvSpPr>
        <p:spPr>
          <a:xfrm flipV="1">
            <a:off x="201168" y="6272784"/>
            <a:ext cx="0" cy="384048"/>
          </a:xfrm>
          <a:prstGeom prst="line">
            <a:avLst/>
          </a:prstGeom>
          <a:noFill/>
          <a:ln w="12700">
            <a:solidFill>
              <a:srgbClr val="66757F"/>
            </a:solidFill>
            <a:prstDash val="solid"/>
          </a:ln>
        </p:spPr>
      </p:sp>
      <p:sp>
        <p:nvSpPr>
          <p:cNvPr id="9" name="Shape 6"/>
          <p:cNvSpPr/>
          <p:nvPr/>
        </p:nvSpPr>
        <p:spPr>
          <a:xfrm flipH="1">
            <a:off x="11603736" y="6656832"/>
            <a:ext cx="384048" cy="0"/>
          </a:xfrm>
          <a:prstGeom prst="line">
            <a:avLst/>
          </a:prstGeom>
          <a:noFill/>
          <a:ln w="12700">
            <a:solidFill>
              <a:srgbClr val="66757F"/>
            </a:solidFill>
            <a:prstDash val="solid"/>
          </a:ln>
        </p:spPr>
      </p:sp>
      <p:sp>
        <p:nvSpPr>
          <p:cNvPr id="10" name="Shape 7"/>
          <p:cNvSpPr/>
          <p:nvPr/>
        </p:nvSpPr>
        <p:spPr>
          <a:xfrm flipV="1">
            <a:off x="11987784" y="6272784"/>
            <a:ext cx="0" cy="384048"/>
          </a:xfrm>
          <a:prstGeom prst="line">
            <a:avLst/>
          </a:prstGeom>
          <a:noFill/>
          <a:ln w="12700">
            <a:solidFill>
              <a:srgbClr val="66757F"/>
            </a:solidFill>
            <a:prstDash val="solid"/>
          </a:ln>
        </p:spPr>
      </p:sp>
      <p:sp>
        <p:nvSpPr>
          <p:cNvPr id="11" name="Shape 8"/>
          <p:cNvSpPr/>
          <p:nvPr/>
        </p:nvSpPr>
        <p:spPr>
          <a:xfrm>
            <a:off x="6003036" y="182880"/>
            <a:ext cx="182880" cy="0"/>
          </a:xfrm>
          <a:prstGeom prst="line">
            <a:avLst/>
          </a:prstGeom>
          <a:noFill/>
          <a:ln w="12700">
            <a:solidFill>
              <a:srgbClr val="66757F"/>
            </a:solidFill>
            <a:prstDash val="solid"/>
          </a:ln>
        </p:spPr>
      </p:sp>
      <p:sp>
        <p:nvSpPr>
          <p:cNvPr id="12" name="Shape 9"/>
          <p:cNvSpPr/>
          <p:nvPr/>
        </p:nvSpPr>
        <p:spPr>
          <a:xfrm>
            <a:off x="6094476" y="91440"/>
            <a:ext cx="0" cy="182880"/>
          </a:xfrm>
          <a:prstGeom prst="line">
            <a:avLst/>
          </a:prstGeom>
          <a:noFill/>
          <a:ln w="12700">
            <a:solidFill>
              <a:srgbClr val="66757F"/>
            </a:solidFill>
            <a:prstDash val="solid"/>
          </a:ln>
        </p:spPr>
      </p:sp>
      <p:sp>
        <p:nvSpPr>
          <p:cNvPr id="13" name="Shape 10"/>
          <p:cNvSpPr/>
          <p:nvPr/>
        </p:nvSpPr>
        <p:spPr>
          <a:xfrm>
            <a:off x="6003036" y="6675120"/>
            <a:ext cx="182880" cy="0"/>
          </a:xfrm>
          <a:prstGeom prst="line">
            <a:avLst/>
          </a:prstGeom>
          <a:noFill/>
          <a:ln w="12700">
            <a:solidFill>
              <a:srgbClr val="66757F"/>
            </a:solidFill>
            <a:prstDash val="solid"/>
          </a:ln>
        </p:spPr>
      </p:sp>
      <p:sp>
        <p:nvSpPr>
          <p:cNvPr id="14" name="Shape 11"/>
          <p:cNvSpPr/>
          <p:nvPr/>
        </p:nvSpPr>
        <p:spPr>
          <a:xfrm>
            <a:off x="6094476" y="6583680"/>
            <a:ext cx="0" cy="182880"/>
          </a:xfrm>
          <a:prstGeom prst="line">
            <a:avLst/>
          </a:prstGeom>
          <a:noFill/>
          <a:ln w="12700">
            <a:solidFill>
              <a:srgbClr val="66757F"/>
            </a:solidFill>
            <a:prstDash val="solid"/>
          </a:ln>
        </p:spPr>
      </p:sp>
      <p:sp>
        <p:nvSpPr>
          <p:cNvPr id="15" name="Shape 12"/>
          <p:cNvSpPr/>
          <p:nvPr/>
        </p:nvSpPr>
        <p:spPr>
          <a:xfrm>
            <a:off x="91440" y="3429000"/>
            <a:ext cx="182880" cy="0"/>
          </a:xfrm>
          <a:prstGeom prst="line">
            <a:avLst/>
          </a:prstGeom>
          <a:noFill/>
          <a:ln w="12700">
            <a:solidFill>
              <a:srgbClr val="66757F"/>
            </a:solidFill>
            <a:prstDash val="solid"/>
          </a:ln>
        </p:spPr>
      </p:sp>
      <p:sp>
        <p:nvSpPr>
          <p:cNvPr id="16" name="Shape 13"/>
          <p:cNvSpPr/>
          <p:nvPr/>
        </p:nvSpPr>
        <p:spPr>
          <a:xfrm>
            <a:off x="182880" y="3337560"/>
            <a:ext cx="0" cy="182880"/>
          </a:xfrm>
          <a:prstGeom prst="line">
            <a:avLst/>
          </a:prstGeom>
          <a:noFill/>
          <a:ln w="12700">
            <a:solidFill>
              <a:srgbClr val="66757F"/>
            </a:solidFill>
            <a:prstDash val="solid"/>
          </a:ln>
        </p:spPr>
      </p:sp>
      <p:sp>
        <p:nvSpPr>
          <p:cNvPr id="17" name="Shape 14"/>
          <p:cNvSpPr/>
          <p:nvPr/>
        </p:nvSpPr>
        <p:spPr>
          <a:xfrm>
            <a:off x="11914632" y="3429000"/>
            <a:ext cx="182880" cy="0"/>
          </a:xfrm>
          <a:prstGeom prst="line">
            <a:avLst/>
          </a:prstGeom>
          <a:noFill/>
          <a:ln w="12700">
            <a:solidFill>
              <a:srgbClr val="66757F"/>
            </a:solidFill>
            <a:prstDash val="solid"/>
          </a:ln>
        </p:spPr>
      </p:sp>
      <p:sp>
        <p:nvSpPr>
          <p:cNvPr id="18" name="Shape 15"/>
          <p:cNvSpPr/>
          <p:nvPr/>
        </p:nvSpPr>
        <p:spPr>
          <a:xfrm>
            <a:off x="12006072" y="3337560"/>
            <a:ext cx="0" cy="182880"/>
          </a:xfrm>
          <a:prstGeom prst="line">
            <a:avLst/>
          </a:prstGeom>
          <a:noFill/>
          <a:ln w="12700">
            <a:solidFill>
              <a:srgbClr val="66757F"/>
            </a:solidFill>
            <a:prstDash val="solid"/>
          </a:ln>
        </p:spPr>
      </p:sp>
      <p:sp>
        <p:nvSpPr>
          <p:cNvPr id="19" name="Text 16"/>
          <p:cNvSpPr txBox="1"/>
          <p:nvPr/>
        </p:nvSpPr>
        <p:spPr>
          <a:xfrm>
            <a:off x="566928" y="329184"/>
            <a:ext cx="11064240" cy="566928"/>
          </a:xfrm>
          <a:prstGeom prst="rect">
            <a:avLst/>
          </a:prstGeom>
          <a:noFill/>
          <a:ln/>
        </p:spPr>
        <p:txBody>
          <a:bodyPr wrap="square" lIns="0" tIns="0" rIns="0" bIns="0" rtlCol="0" anchor="t"/>
          <a:lstStyle/>
          <a:p>
            <a:pPr indent="0" marL="0">
              <a:buNone/>
            </a:pPr>
            <a:r>
              <a:rPr lang="en-US" sz="2900" b="1" dirty="0">
                <a:solidFill>
                  <a:srgbClr val="FFFFFF"/>
                </a:solidFill>
                <a:latin typeface="Arial" pitchFamily="34" charset="0"/>
                <a:ea typeface="Arial" pitchFamily="34" charset="-122"/>
                <a:cs typeface="Arial" pitchFamily="34" charset="-120"/>
              </a:rPr>
              <a:t>Telemetry Degradation Injection</a:t>
            </a:r>
            <a:endParaRPr lang="en-US" sz="2900" dirty="0"/>
          </a:p>
        </p:txBody>
      </p:sp>
      <p:sp>
        <p:nvSpPr>
          <p:cNvPr id="20" name="Shape 17"/>
          <p:cNvSpPr/>
          <p:nvPr/>
        </p:nvSpPr>
        <p:spPr>
          <a:xfrm>
            <a:off x="548640" y="1143000"/>
            <a:ext cx="11091672" cy="4251960"/>
          </a:xfrm>
          <a:prstGeom prst="roundRect">
            <a:avLst>
              <a:gd name="adj" fmla="val 1290"/>
            </a:avLst>
          </a:prstGeom>
          <a:solidFill>
            <a:srgbClr val="2F3A43"/>
          </a:solidFill>
          <a:ln w="12700">
            <a:solidFill>
              <a:srgbClr val="5A6772"/>
            </a:solidFill>
            <a:prstDash val="solid"/>
          </a:ln>
        </p:spPr>
      </p:sp>
      <p:sp>
        <p:nvSpPr>
          <p:cNvPr id="21" name="Shape 18"/>
          <p:cNvSpPr/>
          <p:nvPr/>
        </p:nvSpPr>
        <p:spPr>
          <a:xfrm>
            <a:off x="2743200" y="1508760"/>
            <a:ext cx="0" cy="3611880"/>
          </a:xfrm>
          <a:prstGeom prst="line">
            <a:avLst/>
          </a:prstGeom>
          <a:noFill/>
          <a:ln w="19050">
            <a:solidFill>
              <a:srgbClr val="F0A030"/>
            </a:solidFill>
            <a:prstDash val="dash"/>
          </a:ln>
        </p:spPr>
      </p:sp>
      <p:sp>
        <p:nvSpPr>
          <p:cNvPr id="22" name="Text 19"/>
          <p:cNvSpPr txBox="1"/>
          <p:nvPr/>
        </p:nvSpPr>
        <p:spPr>
          <a:xfrm>
            <a:off x="1874520" y="1481328"/>
            <a:ext cx="822960" cy="256032"/>
          </a:xfrm>
          <a:prstGeom prst="rect">
            <a:avLst/>
          </a:prstGeom>
          <a:noFill/>
          <a:ln/>
        </p:spPr>
        <p:txBody>
          <a:bodyPr wrap="square" lIns="0" tIns="0" rIns="0" bIns="0" rtlCol="0" anchor="t"/>
          <a:lstStyle/>
          <a:p>
            <a:pPr algn="r" indent="0" marL="0">
              <a:buNone/>
            </a:pPr>
            <a:r>
              <a:rPr lang="en-US" sz="1050" b="1" dirty="0">
                <a:solidFill>
                  <a:srgbClr val="F0A030"/>
                </a:solidFill>
                <a:latin typeface="Arial" pitchFamily="34" charset="0"/>
                <a:ea typeface="Arial" pitchFamily="34" charset="-122"/>
                <a:cs typeface="Arial" pitchFamily="34" charset="-120"/>
              </a:rPr>
              <a:t>TRIGGER</a:t>
            </a:r>
            <a:endParaRPr lang="en-US" sz="1050" dirty="0"/>
          </a:p>
        </p:txBody>
      </p:sp>
      <p:sp>
        <p:nvSpPr>
          <p:cNvPr id="23" name="Text 20"/>
          <p:cNvSpPr txBox="1"/>
          <p:nvPr/>
        </p:nvSpPr>
        <p:spPr>
          <a:xfrm>
            <a:off x="1600200" y="1737360"/>
            <a:ext cx="1097280" cy="256032"/>
          </a:xfrm>
          <a:prstGeom prst="rect">
            <a:avLst/>
          </a:prstGeom>
          <a:noFill/>
          <a:ln/>
        </p:spPr>
        <p:txBody>
          <a:bodyPr wrap="square" lIns="0" tIns="0" rIns="0" bIns="0" rtlCol="0" anchor="t"/>
          <a:lstStyle/>
          <a:p>
            <a:pPr algn="r" indent="0" marL="0">
              <a:buNone/>
            </a:pPr>
            <a:r>
              <a:rPr lang="en-US" sz="1000" dirty="0">
                <a:solidFill>
                  <a:srgbClr val="AFBDC8"/>
                </a:solidFill>
                <a:latin typeface="Arial" pitchFamily="34" charset="0"/>
                <a:ea typeface="Arial" pitchFamily="34" charset="-122"/>
                <a:cs typeface="Arial" pitchFamily="34" charset="-120"/>
              </a:rPr>
              <a:t>tunnel entry</a:t>
            </a:r>
            <a:endParaRPr lang="en-US" sz="1000" dirty="0"/>
          </a:p>
        </p:txBody>
      </p:sp>
      <p:sp>
        <p:nvSpPr>
          <p:cNvPr id="24" name="Shape 21"/>
          <p:cNvSpPr/>
          <p:nvPr/>
        </p:nvSpPr>
        <p:spPr>
          <a:xfrm>
            <a:off x="2423160" y="1874520"/>
            <a:ext cx="658368" cy="566928"/>
          </a:xfrm>
          <a:prstGeom prst="blockArc">
            <a:avLst/>
          </a:prstGeom>
          <a:solidFill>
            <a:srgbClr val="6B7A86"/>
          </a:solidFill>
          <a:ln w="12700">
            <a:solidFill>
              <a:srgbClr val="6B7A86"/>
            </a:solidFill>
            <a:prstDash val="solid"/>
          </a:ln>
        </p:spPr>
      </p:sp>
      <p:sp>
        <p:nvSpPr>
          <p:cNvPr id="25" name="Shape 22"/>
          <p:cNvSpPr/>
          <p:nvPr/>
        </p:nvSpPr>
        <p:spPr>
          <a:xfrm>
            <a:off x="2487168" y="2194560"/>
            <a:ext cx="384048" cy="130576"/>
          </a:xfrm>
          <a:prstGeom prst="roundRect">
            <a:avLst>
              <a:gd name="adj" fmla="val 210085"/>
            </a:avLst>
          </a:prstGeom>
          <a:solidFill>
            <a:srgbClr val="F0A030"/>
          </a:solidFill>
          <a:ln w="12700">
            <a:solidFill>
              <a:srgbClr val="F0A030"/>
            </a:solidFill>
            <a:prstDash val="solid"/>
          </a:ln>
        </p:spPr>
      </p:sp>
      <p:sp>
        <p:nvSpPr>
          <p:cNvPr id="26" name="Shape 23"/>
          <p:cNvSpPr/>
          <p:nvPr/>
        </p:nvSpPr>
        <p:spPr>
          <a:xfrm>
            <a:off x="2563978" y="2118826"/>
            <a:ext cx="211226" cy="86180"/>
          </a:xfrm>
          <a:prstGeom prst="roundRect">
            <a:avLst>
              <a:gd name="adj" fmla="val 318311"/>
            </a:avLst>
          </a:prstGeom>
          <a:solidFill>
            <a:srgbClr val="F0A030"/>
          </a:solidFill>
          <a:ln w="12700">
            <a:solidFill>
              <a:srgbClr val="F0A030"/>
            </a:solidFill>
            <a:prstDash val="solid"/>
          </a:ln>
        </p:spPr>
      </p:sp>
      <p:sp>
        <p:nvSpPr>
          <p:cNvPr id="27" name="Shape 24"/>
          <p:cNvSpPr/>
          <p:nvPr/>
        </p:nvSpPr>
        <p:spPr>
          <a:xfrm>
            <a:off x="2550613" y="2296410"/>
            <a:ext cx="57454" cy="57454"/>
          </a:xfrm>
          <a:prstGeom prst="ellipse">
            <a:avLst/>
          </a:prstGeom>
          <a:solidFill>
            <a:srgbClr val="1F2830"/>
          </a:solidFill>
          <a:ln w="12700">
            <a:solidFill>
              <a:srgbClr val="1F2830"/>
            </a:solidFill>
            <a:prstDash val="solid"/>
          </a:ln>
        </p:spPr>
      </p:sp>
      <p:sp>
        <p:nvSpPr>
          <p:cNvPr id="28" name="Shape 25"/>
          <p:cNvSpPr/>
          <p:nvPr/>
        </p:nvSpPr>
        <p:spPr>
          <a:xfrm>
            <a:off x="2750318" y="2296410"/>
            <a:ext cx="57454" cy="57454"/>
          </a:xfrm>
          <a:prstGeom prst="ellipse">
            <a:avLst/>
          </a:prstGeom>
          <a:solidFill>
            <a:srgbClr val="1F2830"/>
          </a:solidFill>
          <a:ln w="12700">
            <a:solidFill>
              <a:srgbClr val="1F2830"/>
            </a:solidFill>
            <a:prstDash val="solid"/>
          </a:ln>
        </p:spPr>
      </p:sp>
      <p:sp>
        <p:nvSpPr>
          <p:cNvPr id="29" name="Shape 26"/>
          <p:cNvSpPr/>
          <p:nvPr/>
        </p:nvSpPr>
        <p:spPr>
          <a:xfrm>
            <a:off x="914400" y="2514600"/>
            <a:ext cx="10241280" cy="0"/>
          </a:xfrm>
          <a:prstGeom prst="line">
            <a:avLst/>
          </a:prstGeom>
          <a:noFill/>
          <a:ln w="31750">
            <a:solidFill>
              <a:srgbClr val="35D6E8"/>
            </a:solidFill>
            <a:prstDash val="solid"/>
          </a:ln>
        </p:spPr>
      </p:sp>
      <p:sp>
        <p:nvSpPr>
          <p:cNvPr id="30" name="Shape 27"/>
          <p:cNvSpPr/>
          <p:nvPr/>
        </p:nvSpPr>
        <p:spPr>
          <a:xfrm>
            <a:off x="3493008" y="2441448"/>
            <a:ext cx="146304" cy="146304"/>
          </a:xfrm>
          <a:prstGeom prst="ellipse">
            <a:avLst/>
          </a:prstGeom>
          <a:solidFill>
            <a:srgbClr val="35D6E8"/>
          </a:solidFill>
          <a:ln w="12700">
            <a:solidFill>
              <a:srgbClr val="35D6E8"/>
            </a:solidFill>
            <a:prstDash val="solid"/>
          </a:ln>
        </p:spPr>
      </p:sp>
      <p:sp>
        <p:nvSpPr>
          <p:cNvPr id="31" name="Shape 28"/>
          <p:cNvSpPr/>
          <p:nvPr/>
        </p:nvSpPr>
        <p:spPr>
          <a:xfrm>
            <a:off x="4590288" y="2441448"/>
            <a:ext cx="146304" cy="146304"/>
          </a:xfrm>
          <a:prstGeom prst="ellipse">
            <a:avLst/>
          </a:prstGeom>
          <a:solidFill>
            <a:srgbClr val="35D6E8"/>
          </a:solidFill>
          <a:ln w="12700">
            <a:solidFill>
              <a:srgbClr val="35D6E8"/>
            </a:solidFill>
            <a:prstDash val="solid"/>
          </a:ln>
        </p:spPr>
      </p:sp>
      <p:sp>
        <p:nvSpPr>
          <p:cNvPr id="32" name="Shape 29"/>
          <p:cNvSpPr/>
          <p:nvPr/>
        </p:nvSpPr>
        <p:spPr>
          <a:xfrm>
            <a:off x="5687568" y="2441448"/>
            <a:ext cx="146304" cy="146304"/>
          </a:xfrm>
          <a:prstGeom prst="ellipse">
            <a:avLst/>
          </a:prstGeom>
          <a:solidFill>
            <a:srgbClr val="35D6E8"/>
          </a:solidFill>
          <a:ln w="12700">
            <a:solidFill>
              <a:srgbClr val="35D6E8"/>
            </a:solidFill>
            <a:prstDash val="solid"/>
          </a:ln>
        </p:spPr>
      </p:sp>
      <p:sp>
        <p:nvSpPr>
          <p:cNvPr id="33" name="Shape 30"/>
          <p:cNvSpPr/>
          <p:nvPr/>
        </p:nvSpPr>
        <p:spPr>
          <a:xfrm>
            <a:off x="6784848" y="2441448"/>
            <a:ext cx="146304" cy="146304"/>
          </a:xfrm>
          <a:prstGeom prst="ellipse">
            <a:avLst/>
          </a:prstGeom>
          <a:solidFill>
            <a:srgbClr val="35D6E8"/>
          </a:solidFill>
          <a:ln w="12700">
            <a:solidFill>
              <a:srgbClr val="35D6E8"/>
            </a:solidFill>
            <a:prstDash val="solid"/>
          </a:ln>
        </p:spPr>
      </p:sp>
      <p:sp>
        <p:nvSpPr>
          <p:cNvPr id="34" name="Shape 31"/>
          <p:cNvSpPr/>
          <p:nvPr/>
        </p:nvSpPr>
        <p:spPr>
          <a:xfrm>
            <a:off x="7882128" y="2441448"/>
            <a:ext cx="146304" cy="146304"/>
          </a:xfrm>
          <a:prstGeom prst="ellipse">
            <a:avLst/>
          </a:prstGeom>
          <a:solidFill>
            <a:srgbClr val="35D6E8"/>
          </a:solidFill>
          <a:ln w="12700">
            <a:solidFill>
              <a:srgbClr val="35D6E8"/>
            </a:solidFill>
            <a:prstDash val="solid"/>
          </a:ln>
        </p:spPr>
      </p:sp>
      <p:sp>
        <p:nvSpPr>
          <p:cNvPr id="35" name="Shape 32"/>
          <p:cNvSpPr/>
          <p:nvPr/>
        </p:nvSpPr>
        <p:spPr>
          <a:xfrm>
            <a:off x="8979408" y="2441448"/>
            <a:ext cx="146304" cy="146304"/>
          </a:xfrm>
          <a:prstGeom prst="ellipse">
            <a:avLst/>
          </a:prstGeom>
          <a:solidFill>
            <a:srgbClr val="35D6E8"/>
          </a:solidFill>
          <a:ln w="12700">
            <a:solidFill>
              <a:srgbClr val="35D6E8"/>
            </a:solidFill>
            <a:prstDash val="solid"/>
          </a:ln>
        </p:spPr>
      </p:sp>
      <p:sp>
        <p:nvSpPr>
          <p:cNvPr id="36" name="Shape 33"/>
          <p:cNvSpPr/>
          <p:nvPr/>
        </p:nvSpPr>
        <p:spPr>
          <a:xfrm>
            <a:off x="10076688" y="2441448"/>
            <a:ext cx="146304" cy="146304"/>
          </a:xfrm>
          <a:prstGeom prst="ellipse">
            <a:avLst/>
          </a:prstGeom>
          <a:solidFill>
            <a:srgbClr val="35D6E8"/>
          </a:solidFill>
          <a:ln w="12700">
            <a:solidFill>
              <a:srgbClr val="35D6E8"/>
            </a:solidFill>
            <a:prstDash val="solid"/>
          </a:ln>
        </p:spPr>
      </p:sp>
      <p:sp>
        <p:nvSpPr>
          <p:cNvPr id="37" name="Text 34"/>
          <p:cNvSpPr txBox="1"/>
          <p:nvPr/>
        </p:nvSpPr>
        <p:spPr>
          <a:xfrm>
            <a:off x="914400" y="2194560"/>
            <a:ext cx="1645920" cy="256032"/>
          </a:xfrm>
          <a:prstGeom prst="rect">
            <a:avLst/>
          </a:prstGeom>
          <a:noFill/>
          <a:ln/>
        </p:spPr>
        <p:txBody>
          <a:bodyPr wrap="square" lIns="0" tIns="0" rIns="0" bIns="0" rtlCol="0" anchor="t"/>
          <a:lstStyle/>
          <a:p>
            <a:pPr indent="0" marL="0">
              <a:buNone/>
            </a:pPr>
            <a:r>
              <a:rPr lang="en-US" sz="1200" b="1" dirty="0">
                <a:solidFill>
                  <a:srgbClr val="35D6E8"/>
                </a:solidFill>
                <a:latin typeface="Arial" pitchFamily="34" charset="0"/>
                <a:ea typeface="Arial" pitchFamily="34" charset="-122"/>
                <a:cs typeface="Arial" pitchFamily="34" charset="-120"/>
              </a:rPr>
              <a:t>Clean twin</a:t>
            </a:r>
            <a:endParaRPr lang="en-US" sz="1200" dirty="0"/>
          </a:p>
        </p:txBody>
      </p:sp>
      <p:sp>
        <p:nvSpPr>
          <p:cNvPr id="38" name="Text 35"/>
          <p:cNvSpPr txBox="1"/>
          <p:nvPr/>
        </p:nvSpPr>
        <p:spPr>
          <a:xfrm>
            <a:off x="8778240" y="2194560"/>
            <a:ext cx="2468880" cy="256032"/>
          </a:xfrm>
          <a:prstGeom prst="rect">
            <a:avLst/>
          </a:prstGeom>
          <a:noFill/>
          <a:ln/>
        </p:spPr>
        <p:txBody>
          <a:bodyPr wrap="square" lIns="0" tIns="0" rIns="0" bIns="0" rtlCol="0" anchor="t"/>
          <a:lstStyle/>
          <a:p>
            <a:pPr algn="r" indent="0" marL="0">
              <a:buNone/>
            </a:pPr>
            <a:r>
              <a:rPr lang="en-US" sz="1000" dirty="0">
                <a:solidFill>
                  <a:srgbClr val="35D6E8"/>
                </a:solidFill>
                <a:latin typeface="Arial" pitchFamily="34" charset="0"/>
                <a:ea typeface="Arial" pitchFamily="34" charset="-122"/>
                <a:cs typeface="Arial" pitchFamily="34" charset="-120"/>
              </a:rPr>
              <a:t>true state · scored, never acts</a:t>
            </a:r>
            <a:endParaRPr lang="en-US" sz="1000" dirty="0"/>
          </a:p>
        </p:txBody>
      </p:sp>
      <p:sp>
        <p:nvSpPr>
          <p:cNvPr id="39" name="Shape 36"/>
          <p:cNvSpPr/>
          <p:nvPr/>
        </p:nvSpPr>
        <p:spPr>
          <a:xfrm>
            <a:off x="914400" y="3794760"/>
            <a:ext cx="1828800" cy="0"/>
          </a:xfrm>
          <a:prstGeom prst="line">
            <a:avLst/>
          </a:prstGeom>
          <a:noFill/>
          <a:ln w="31750">
            <a:solidFill>
              <a:srgbClr val="F0A030"/>
            </a:solidFill>
            <a:prstDash val="solid"/>
          </a:ln>
        </p:spPr>
      </p:sp>
      <p:sp>
        <p:nvSpPr>
          <p:cNvPr id="40" name="Shape 37"/>
          <p:cNvSpPr/>
          <p:nvPr/>
        </p:nvSpPr>
        <p:spPr>
          <a:xfrm>
            <a:off x="2743200" y="3794760"/>
            <a:ext cx="548640" cy="0"/>
          </a:xfrm>
          <a:prstGeom prst="line">
            <a:avLst/>
          </a:prstGeom>
          <a:noFill/>
          <a:ln w="31750">
            <a:solidFill>
              <a:srgbClr val="F0A030"/>
            </a:solidFill>
            <a:prstDash val="solid"/>
          </a:ln>
        </p:spPr>
      </p:sp>
      <p:sp>
        <p:nvSpPr>
          <p:cNvPr id="41" name="Shape 38"/>
          <p:cNvSpPr/>
          <p:nvPr/>
        </p:nvSpPr>
        <p:spPr>
          <a:xfrm>
            <a:off x="3291840" y="3794760"/>
            <a:ext cx="0" cy="411480"/>
          </a:xfrm>
          <a:prstGeom prst="line">
            <a:avLst/>
          </a:prstGeom>
          <a:noFill/>
          <a:ln w="31750">
            <a:solidFill>
              <a:srgbClr val="F0A030"/>
            </a:solidFill>
            <a:prstDash val="solid"/>
          </a:ln>
        </p:spPr>
      </p:sp>
      <p:sp>
        <p:nvSpPr>
          <p:cNvPr id="42" name="Shape 39"/>
          <p:cNvSpPr/>
          <p:nvPr/>
        </p:nvSpPr>
        <p:spPr>
          <a:xfrm>
            <a:off x="3291840" y="4206240"/>
            <a:ext cx="822960" cy="0"/>
          </a:xfrm>
          <a:prstGeom prst="line">
            <a:avLst/>
          </a:prstGeom>
          <a:noFill/>
          <a:ln w="31750">
            <a:solidFill>
              <a:srgbClr val="F0A030"/>
            </a:solidFill>
            <a:prstDash val="solid"/>
          </a:ln>
        </p:spPr>
      </p:sp>
      <p:sp>
        <p:nvSpPr>
          <p:cNvPr id="43" name="Shape 40"/>
          <p:cNvSpPr/>
          <p:nvPr/>
        </p:nvSpPr>
        <p:spPr>
          <a:xfrm flipV="1">
            <a:off x="4114800" y="3794760"/>
            <a:ext cx="0" cy="411480"/>
          </a:xfrm>
          <a:prstGeom prst="line">
            <a:avLst/>
          </a:prstGeom>
          <a:noFill/>
          <a:ln w="31750">
            <a:solidFill>
              <a:srgbClr val="F0A030"/>
            </a:solidFill>
            <a:prstDash val="solid"/>
          </a:ln>
        </p:spPr>
      </p:sp>
      <p:sp>
        <p:nvSpPr>
          <p:cNvPr id="44" name="Shape 41"/>
          <p:cNvSpPr/>
          <p:nvPr/>
        </p:nvSpPr>
        <p:spPr>
          <a:xfrm>
            <a:off x="4114800" y="3794760"/>
            <a:ext cx="640080" cy="0"/>
          </a:xfrm>
          <a:prstGeom prst="line">
            <a:avLst/>
          </a:prstGeom>
          <a:noFill/>
          <a:ln w="31750">
            <a:solidFill>
              <a:srgbClr val="F0A030"/>
            </a:solidFill>
            <a:prstDash val="solid"/>
          </a:ln>
        </p:spPr>
      </p:sp>
      <p:sp>
        <p:nvSpPr>
          <p:cNvPr id="45" name="Shape 42"/>
          <p:cNvSpPr/>
          <p:nvPr/>
        </p:nvSpPr>
        <p:spPr>
          <a:xfrm>
            <a:off x="4754880" y="3794760"/>
            <a:ext cx="0" cy="411480"/>
          </a:xfrm>
          <a:prstGeom prst="line">
            <a:avLst/>
          </a:prstGeom>
          <a:noFill/>
          <a:ln w="31750">
            <a:solidFill>
              <a:srgbClr val="F0A030"/>
            </a:solidFill>
            <a:prstDash val="solid"/>
          </a:ln>
        </p:spPr>
      </p:sp>
      <p:sp>
        <p:nvSpPr>
          <p:cNvPr id="46" name="Shape 43"/>
          <p:cNvSpPr/>
          <p:nvPr/>
        </p:nvSpPr>
        <p:spPr>
          <a:xfrm>
            <a:off x="4754880" y="4206240"/>
            <a:ext cx="1097280" cy="0"/>
          </a:xfrm>
          <a:prstGeom prst="line">
            <a:avLst/>
          </a:prstGeom>
          <a:noFill/>
          <a:ln w="31750">
            <a:solidFill>
              <a:srgbClr val="F0A030"/>
            </a:solidFill>
            <a:prstDash val="solid"/>
          </a:ln>
        </p:spPr>
      </p:sp>
      <p:sp>
        <p:nvSpPr>
          <p:cNvPr id="47" name="Shape 44"/>
          <p:cNvSpPr/>
          <p:nvPr/>
        </p:nvSpPr>
        <p:spPr>
          <a:xfrm flipV="1">
            <a:off x="5852160" y="3794760"/>
            <a:ext cx="0" cy="411480"/>
          </a:xfrm>
          <a:prstGeom prst="line">
            <a:avLst/>
          </a:prstGeom>
          <a:noFill/>
          <a:ln w="31750">
            <a:solidFill>
              <a:srgbClr val="F0A030"/>
            </a:solidFill>
            <a:prstDash val="solid"/>
          </a:ln>
        </p:spPr>
      </p:sp>
      <p:sp>
        <p:nvSpPr>
          <p:cNvPr id="48" name="Shape 45"/>
          <p:cNvSpPr/>
          <p:nvPr/>
        </p:nvSpPr>
        <p:spPr>
          <a:xfrm>
            <a:off x="5852160" y="3794760"/>
            <a:ext cx="731520" cy="0"/>
          </a:xfrm>
          <a:prstGeom prst="line">
            <a:avLst/>
          </a:prstGeom>
          <a:noFill/>
          <a:ln w="31750">
            <a:solidFill>
              <a:srgbClr val="F0A030"/>
            </a:solidFill>
            <a:prstDash val="solid"/>
          </a:ln>
        </p:spPr>
      </p:sp>
      <p:sp>
        <p:nvSpPr>
          <p:cNvPr id="49" name="Shape 46"/>
          <p:cNvSpPr/>
          <p:nvPr/>
        </p:nvSpPr>
        <p:spPr>
          <a:xfrm>
            <a:off x="6583680" y="3794760"/>
            <a:ext cx="0" cy="411480"/>
          </a:xfrm>
          <a:prstGeom prst="line">
            <a:avLst/>
          </a:prstGeom>
          <a:noFill/>
          <a:ln w="31750">
            <a:solidFill>
              <a:srgbClr val="F0A030"/>
            </a:solidFill>
            <a:prstDash val="dash"/>
          </a:ln>
        </p:spPr>
      </p:sp>
      <p:sp>
        <p:nvSpPr>
          <p:cNvPr id="50" name="Shape 47"/>
          <p:cNvSpPr/>
          <p:nvPr/>
        </p:nvSpPr>
        <p:spPr>
          <a:xfrm>
            <a:off x="6583680" y="4206240"/>
            <a:ext cx="2194560" cy="0"/>
          </a:xfrm>
          <a:prstGeom prst="line">
            <a:avLst/>
          </a:prstGeom>
          <a:noFill/>
          <a:ln w="31750">
            <a:solidFill>
              <a:srgbClr val="F0A030"/>
            </a:solidFill>
            <a:prstDash val="dash"/>
          </a:ln>
        </p:spPr>
      </p:sp>
      <p:sp>
        <p:nvSpPr>
          <p:cNvPr id="51" name="Shape 48"/>
          <p:cNvSpPr/>
          <p:nvPr/>
        </p:nvSpPr>
        <p:spPr>
          <a:xfrm flipV="1">
            <a:off x="8778240" y="3794760"/>
            <a:ext cx="0" cy="411480"/>
          </a:xfrm>
          <a:prstGeom prst="line">
            <a:avLst/>
          </a:prstGeom>
          <a:noFill/>
          <a:ln w="31750">
            <a:solidFill>
              <a:srgbClr val="F0A030"/>
            </a:solidFill>
            <a:prstDash val="dash"/>
          </a:ln>
        </p:spPr>
      </p:sp>
      <p:sp>
        <p:nvSpPr>
          <p:cNvPr id="52" name="Shape 49"/>
          <p:cNvSpPr/>
          <p:nvPr/>
        </p:nvSpPr>
        <p:spPr>
          <a:xfrm>
            <a:off x="8778240" y="3794760"/>
            <a:ext cx="2377440" cy="0"/>
          </a:xfrm>
          <a:prstGeom prst="line">
            <a:avLst/>
          </a:prstGeom>
          <a:noFill/>
          <a:ln w="31750">
            <a:solidFill>
              <a:srgbClr val="F0A030"/>
            </a:solidFill>
            <a:prstDash val="solid"/>
          </a:ln>
        </p:spPr>
      </p:sp>
      <p:sp>
        <p:nvSpPr>
          <p:cNvPr id="53" name="Text 50"/>
          <p:cNvSpPr txBox="1"/>
          <p:nvPr/>
        </p:nvSpPr>
        <p:spPr>
          <a:xfrm>
            <a:off x="914400" y="3474720"/>
            <a:ext cx="2194560" cy="256032"/>
          </a:xfrm>
          <a:prstGeom prst="rect">
            <a:avLst/>
          </a:prstGeom>
          <a:noFill/>
          <a:ln/>
        </p:spPr>
        <p:txBody>
          <a:bodyPr wrap="square" lIns="0" tIns="0" rIns="0" bIns="0" rtlCol="0" anchor="t"/>
          <a:lstStyle/>
          <a:p>
            <a:pPr indent="0" marL="0">
              <a:buNone/>
            </a:pPr>
            <a:r>
              <a:rPr lang="en-US" sz="1200" b="1" dirty="0">
                <a:solidFill>
                  <a:srgbClr val="F0A030"/>
                </a:solidFill>
                <a:latin typeface="Arial" pitchFamily="34" charset="0"/>
                <a:ea typeface="Arial" pitchFamily="34" charset="-122"/>
                <a:cs typeface="Arial" pitchFamily="34" charset="-120"/>
              </a:rPr>
              <a:t>Degraded observation</a:t>
            </a:r>
            <a:endParaRPr lang="en-US" sz="1200" dirty="0"/>
          </a:p>
        </p:txBody>
      </p:sp>
      <p:sp>
        <p:nvSpPr>
          <p:cNvPr id="54" name="Text 51"/>
          <p:cNvSpPr txBox="1"/>
          <p:nvPr/>
        </p:nvSpPr>
        <p:spPr>
          <a:xfrm>
            <a:off x="8686800" y="3474720"/>
            <a:ext cx="2560320" cy="256032"/>
          </a:xfrm>
          <a:prstGeom prst="rect">
            <a:avLst/>
          </a:prstGeom>
          <a:noFill/>
          <a:ln/>
        </p:spPr>
        <p:txBody>
          <a:bodyPr wrap="square" lIns="0" tIns="0" rIns="0" bIns="0" rtlCol="0" anchor="t"/>
          <a:lstStyle/>
          <a:p>
            <a:pPr algn="r" indent="0" marL="0">
              <a:buNone/>
            </a:pPr>
            <a:r>
              <a:rPr lang="en-US" sz="1000" dirty="0">
                <a:solidFill>
                  <a:srgbClr val="F0A030"/>
                </a:solidFill>
                <a:latin typeface="Arial" pitchFamily="34" charset="0"/>
                <a:ea typeface="Arial" pitchFamily="34" charset="-122"/>
                <a:cs typeface="Arial" pitchFamily="34" charset="-120"/>
              </a:rPr>
              <a:t>last valid reading held · AoI grows</a:t>
            </a:r>
            <a:endParaRPr lang="en-US" sz="1000" dirty="0"/>
          </a:p>
        </p:txBody>
      </p:sp>
      <p:sp>
        <p:nvSpPr>
          <p:cNvPr id="55" name="Shape 52"/>
          <p:cNvSpPr/>
          <p:nvPr/>
        </p:nvSpPr>
        <p:spPr>
          <a:xfrm>
            <a:off x="3291840" y="4617720"/>
            <a:ext cx="822960" cy="0"/>
          </a:xfrm>
          <a:prstGeom prst="line">
            <a:avLst/>
          </a:prstGeom>
          <a:noFill/>
          <a:ln w="12700">
            <a:solidFill>
              <a:srgbClr val="AFBDC8"/>
            </a:solidFill>
            <a:prstDash val="dash"/>
          </a:ln>
        </p:spPr>
      </p:sp>
      <p:sp>
        <p:nvSpPr>
          <p:cNvPr id="56" name="Shape 53"/>
          <p:cNvSpPr/>
          <p:nvPr/>
        </p:nvSpPr>
        <p:spPr>
          <a:xfrm>
            <a:off x="3291840" y="4553712"/>
            <a:ext cx="0" cy="128016"/>
          </a:xfrm>
          <a:prstGeom prst="line">
            <a:avLst/>
          </a:prstGeom>
          <a:noFill/>
          <a:ln w="12700">
            <a:solidFill>
              <a:srgbClr val="AFBDC8"/>
            </a:solidFill>
            <a:prstDash val="solid"/>
          </a:ln>
        </p:spPr>
      </p:sp>
      <p:sp>
        <p:nvSpPr>
          <p:cNvPr id="57" name="Shape 54"/>
          <p:cNvSpPr/>
          <p:nvPr/>
        </p:nvSpPr>
        <p:spPr>
          <a:xfrm>
            <a:off x="4114800" y="4553712"/>
            <a:ext cx="0" cy="128016"/>
          </a:xfrm>
          <a:prstGeom prst="line">
            <a:avLst/>
          </a:prstGeom>
          <a:noFill/>
          <a:ln w="12700">
            <a:solidFill>
              <a:srgbClr val="AFBDC8"/>
            </a:solidFill>
            <a:prstDash val="solid"/>
          </a:ln>
        </p:spPr>
      </p:sp>
      <p:sp>
        <p:nvSpPr>
          <p:cNvPr id="58" name="Text 55"/>
          <p:cNvSpPr txBox="1"/>
          <p:nvPr/>
        </p:nvSpPr>
        <p:spPr>
          <a:xfrm>
            <a:off x="4224528" y="4498848"/>
            <a:ext cx="640080" cy="237744"/>
          </a:xfrm>
          <a:prstGeom prst="rect">
            <a:avLst/>
          </a:prstGeom>
          <a:noFill/>
          <a:ln/>
        </p:spPr>
        <p:txBody>
          <a:bodyPr wrap="square" lIns="0" tIns="0" rIns="0" bIns="0" rtlCol="0" anchor="ctr"/>
          <a:lstStyle/>
          <a:p>
            <a:pPr indent="0" marL="0">
              <a:buNone/>
            </a:pPr>
            <a:r>
              <a:rPr lang="en-US" sz="1000" b="1" dirty="0">
                <a:solidFill>
                  <a:srgbClr val="AFBDC8"/>
                </a:solidFill>
                <a:latin typeface="Arial" pitchFamily="34" charset="0"/>
                <a:ea typeface="Arial" pitchFamily="34" charset="-122"/>
                <a:cs typeface="Arial" pitchFamily="34" charset="-120"/>
              </a:rPr>
              <a:t>10 s</a:t>
            </a:r>
            <a:endParaRPr lang="en-US" sz="1000" dirty="0"/>
          </a:p>
        </p:txBody>
      </p:sp>
      <p:sp>
        <p:nvSpPr>
          <p:cNvPr id="59" name="Shape 56"/>
          <p:cNvSpPr/>
          <p:nvPr/>
        </p:nvSpPr>
        <p:spPr>
          <a:xfrm>
            <a:off x="3291840" y="4828032"/>
            <a:ext cx="1463040" cy="0"/>
          </a:xfrm>
          <a:prstGeom prst="line">
            <a:avLst/>
          </a:prstGeom>
          <a:noFill/>
          <a:ln w="12700">
            <a:solidFill>
              <a:srgbClr val="AFBDC8"/>
            </a:solidFill>
            <a:prstDash val="dash"/>
          </a:ln>
        </p:spPr>
      </p:sp>
      <p:sp>
        <p:nvSpPr>
          <p:cNvPr id="60" name="Shape 57"/>
          <p:cNvSpPr/>
          <p:nvPr/>
        </p:nvSpPr>
        <p:spPr>
          <a:xfrm>
            <a:off x="3291840" y="4764024"/>
            <a:ext cx="0" cy="128016"/>
          </a:xfrm>
          <a:prstGeom prst="line">
            <a:avLst/>
          </a:prstGeom>
          <a:noFill/>
          <a:ln w="12700">
            <a:solidFill>
              <a:srgbClr val="AFBDC8"/>
            </a:solidFill>
            <a:prstDash val="solid"/>
          </a:ln>
        </p:spPr>
      </p:sp>
      <p:sp>
        <p:nvSpPr>
          <p:cNvPr id="61" name="Shape 58"/>
          <p:cNvSpPr/>
          <p:nvPr/>
        </p:nvSpPr>
        <p:spPr>
          <a:xfrm>
            <a:off x="4754880" y="4764024"/>
            <a:ext cx="0" cy="128016"/>
          </a:xfrm>
          <a:prstGeom prst="line">
            <a:avLst/>
          </a:prstGeom>
          <a:noFill/>
          <a:ln w="12700">
            <a:solidFill>
              <a:srgbClr val="AFBDC8"/>
            </a:solidFill>
            <a:prstDash val="solid"/>
          </a:ln>
        </p:spPr>
      </p:sp>
      <p:sp>
        <p:nvSpPr>
          <p:cNvPr id="62" name="Text 59"/>
          <p:cNvSpPr txBox="1"/>
          <p:nvPr/>
        </p:nvSpPr>
        <p:spPr>
          <a:xfrm>
            <a:off x="4864608" y="4709160"/>
            <a:ext cx="640080" cy="237744"/>
          </a:xfrm>
          <a:prstGeom prst="rect">
            <a:avLst/>
          </a:prstGeom>
          <a:noFill/>
          <a:ln/>
        </p:spPr>
        <p:txBody>
          <a:bodyPr wrap="square" lIns="0" tIns="0" rIns="0" bIns="0" rtlCol="0" anchor="ctr"/>
          <a:lstStyle/>
          <a:p>
            <a:pPr indent="0" marL="0">
              <a:buNone/>
            </a:pPr>
            <a:r>
              <a:rPr lang="en-US" sz="1000" b="1" dirty="0">
                <a:solidFill>
                  <a:srgbClr val="AFBDC8"/>
                </a:solidFill>
                <a:latin typeface="Arial" pitchFamily="34" charset="0"/>
                <a:ea typeface="Arial" pitchFamily="34" charset="-122"/>
                <a:cs typeface="Arial" pitchFamily="34" charset="-120"/>
              </a:rPr>
              <a:t>20 s</a:t>
            </a:r>
            <a:endParaRPr lang="en-US" sz="1000" dirty="0"/>
          </a:p>
        </p:txBody>
      </p:sp>
      <p:sp>
        <p:nvSpPr>
          <p:cNvPr id="63" name="Shape 60"/>
          <p:cNvSpPr/>
          <p:nvPr/>
        </p:nvSpPr>
        <p:spPr>
          <a:xfrm>
            <a:off x="3291840" y="5038344"/>
            <a:ext cx="2560320" cy="0"/>
          </a:xfrm>
          <a:prstGeom prst="line">
            <a:avLst/>
          </a:prstGeom>
          <a:noFill/>
          <a:ln w="12700">
            <a:solidFill>
              <a:srgbClr val="AFBDC8"/>
            </a:solidFill>
            <a:prstDash val="dash"/>
          </a:ln>
        </p:spPr>
      </p:sp>
      <p:sp>
        <p:nvSpPr>
          <p:cNvPr id="64" name="Shape 61"/>
          <p:cNvSpPr/>
          <p:nvPr/>
        </p:nvSpPr>
        <p:spPr>
          <a:xfrm>
            <a:off x="3291840" y="4974336"/>
            <a:ext cx="0" cy="128016"/>
          </a:xfrm>
          <a:prstGeom prst="line">
            <a:avLst/>
          </a:prstGeom>
          <a:noFill/>
          <a:ln w="12700">
            <a:solidFill>
              <a:srgbClr val="AFBDC8"/>
            </a:solidFill>
            <a:prstDash val="solid"/>
          </a:ln>
        </p:spPr>
      </p:sp>
      <p:sp>
        <p:nvSpPr>
          <p:cNvPr id="65" name="Shape 62"/>
          <p:cNvSpPr/>
          <p:nvPr/>
        </p:nvSpPr>
        <p:spPr>
          <a:xfrm>
            <a:off x="5852160" y="4974336"/>
            <a:ext cx="0" cy="128016"/>
          </a:xfrm>
          <a:prstGeom prst="line">
            <a:avLst/>
          </a:prstGeom>
          <a:noFill/>
          <a:ln w="12700">
            <a:solidFill>
              <a:srgbClr val="AFBDC8"/>
            </a:solidFill>
            <a:prstDash val="solid"/>
          </a:ln>
        </p:spPr>
      </p:sp>
      <p:sp>
        <p:nvSpPr>
          <p:cNvPr id="66" name="Text 63"/>
          <p:cNvSpPr txBox="1"/>
          <p:nvPr/>
        </p:nvSpPr>
        <p:spPr>
          <a:xfrm>
            <a:off x="5961888" y="4919472"/>
            <a:ext cx="640080" cy="237744"/>
          </a:xfrm>
          <a:prstGeom prst="rect">
            <a:avLst/>
          </a:prstGeom>
          <a:noFill/>
          <a:ln/>
        </p:spPr>
        <p:txBody>
          <a:bodyPr wrap="square" lIns="0" tIns="0" rIns="0" bIns="0" rtlCol="0" anchor="ctr"/>
          <a:lstStyle/>
          <a:p>
            <a:pPr indent="0" marL="0">
              <a:buNone/>
            </a:pPr>
            <a:r>
              <a:rPr lang="en-US" sz="1000" b="1" dirty="0">
                <a:solidFill>
                  <a:srgbClr val="AFBDC8"/>
                </a:solidFill>
                <a:latin typeface="Arial" pitchFamily="34" charset="0"/>
                <a:ea typeface="Arial" pitchFamily="34" charset="-122"/>
                <a:cs typeface="Arial" pitchFamily="34" charset="-120"/>
              </a:rPr>
              <a:t>30 s</a:t>
            </a:r>
            <a:endParaRPr lang="en-US" sz="1000" dirty="0"/>
          </a:p>
        </p:txBody>
      </p:sp>
      <p:sp>
        <p:nvSpPr>
          <p:cNvPr id="67" name="Shape 64"/>
          <p:cNvSpPr/>
          <p:nvPr/>
        </p:nvSpPr>
        <p:spPr>
          <a:xfrm>
            <a:off x="3291840" y="5248656"/>
            <a:ext cx="5486400" cy="0"/>
          </a:xfrm>
          <a:prstGeom prst="line">
            <a:avLst/>
          </a:prstGeom>
          <a:noFill/>
          <a:ln w="12700">
            <a:solidFill>
              <a:srgbClr val="AFBDC8"/>
            </a:solidFill>
            <a:prstDash val="dash"/>
          </a:ln>
        </p:spPr>
      </p:sp>
      <p:sp>
        <p:nvSpPr>
          <p:cNvPr id="68" name="Shape 65"/>
          <p:cNvSpPr/>
          <p:nvPr/>
        </p:nvSpPr>
        <p:spPr>
          <a:xfrm>
            <a:off x="3291840" y="5184648"/>
            <a:ext cx="0" cy="128016"/>
          </a:xfrm>
          <a:prstGeom prst="line">
            <a:avLst/>
          </a:prstGeom>
          <a:noFill/>
          <a:ln w="12700">
            <a:solidFill>
              <a:srgbClr val="AFBDC8"/>
            </a:solidFill>
            <a:prstDash val="solid"/>
          </a:ln>
        </p:spPr>
      </p:sp>
      <p:sp>
        <p:nvSpPr>
          <p:cNvPr id="69" name="Shape 66"/>
          <p:cNvSpPr/>
          <p:nvPr/>
        </p:nvSpPr>
        <p:spPr>
          <a:xfrm>
            <a:off x="8778240" y="5184648"/>
            <a:ext cx="0" cy="128016"/>
          </a:xfrm>
          <a:prstGeom prst="line">
            <a:avLst/>
          </a:prstGeom>
          <a:noFill/>
          <a:ln w="12700">
            <a:solidFill>
              <a:srgbClr val="AFBDC8"/>
            </a:solidFill>
            <a:prstDash val="solid"/>
          </a:ln>
        </p:spPr>
      </p:sp>
      <p:sp>
        <p:nvSpPr>
          <p:cNvPr id="70" name="Text 67"/>
          <p:cNvSpPr txBox="1"/>
          <p:nvPr/>
        </p:nvSpPr>
        <p:spPr>
          <a:xfrm>
            <a:off x="8887968" y="5129784"/>
            <a:ext cx="640080" cy="237744"/>
          </a:xfrm>
          <a:prstGeom prst="rect">
            <a:avLst/>
          </a:prstGeom>
          <a:noFill/>
          <a:ln/>
        </p:spPr>
        <p:txBody>
          <a:bodyPr wrap="square" lIns="0" tIns="0" rIns="0" bIns="0" rtlCol="0" anchor="ctr"/>
          <a:lstStyle/>
          <a:p>
            <a:pPr indent="0" marL="0">
              <a:buNone/>
            </a:pPr>
            <a:r>
              <a:rPr lang="en-US" sz="1000" b="1" dirty="0">
                <a:solidFill>
                  <a:srgbClr val="AFBDC8"/>
                </a:solidFill>
                <a:latin typeface="Arial" pitchFamily="34" charset="0"/>
                <a:ea typeface="Arial" pitchFamily="34" charset="-122"/>
                <a:cs typeface="Arial" pitchFamily="34" charset="-120"/>
              </a:rPr>
              <a:t>60 s</a:t>
            </a:r>
            <a:endParaRPr lang="en-US" sz="1000" dirty="0"/>
          </a:p>
        </p:txBody>
      </p:sp>
      <p:sp>
        <p:nvSpPr>
          <p:cNvPr id="71" name="Text 68"/>
          <p:cNvSpPr txBox="1"/>
          <p:nvPr/>
        </p:nvSpPr>
        <p:spPr>
          <a:xfrm>
            <a:off x="9052560" y="4892040"/>
            <a:ext cx="2377440" cy="457200"/>
          </a:xfrm>
          <a:prstGeom prst="rect">
            <a:avLst/>
          </a:prstGeom>
          <a:noFill/>
          <a:ln/>
        </p:spPr>
        <p:txBody>
          <a:bodyPr wrap="square" lIns="0" tIns="0" rIns="0" bIns="0" rtlCol="0" anchor="t"/>
          <a:lstStyle/>
          <a:p>
            <a:pPr algn="r" indent="0" marL="0">
              <a:lnSpc>
                <a:spcPct val="115000"/>
              </a:lnSpc>
              <a:buNone/>
            </a:pPr>
            <a:r>
              <a:rPr lang="en-US" sz="1000" i="1" dirty="0">
                <a:solidFill>
                  <a:srgbClr val="AFBDC8"/>
                </a:solidFill>
                <a:latin typeface="Arial" pitchFamily="34" charset="0"/>
                <a:ea typeface="Arial" pitchFamily="34" charset="-122"/>
                <a:cs typeface="Arial" pitchFamily="34" charset="-120"/>
              </a:rPr>
              <a:t>identical nodes, order, masks and sampled action</a:t>
            </a:r>
            <a:endParaRPr lang="en-US" sz="1000" dirty="0"/>
          </a:p>
        </p:txBody>
      </p:sp>
      <p:sp>
        <p:nvSpPr>
          <p:cNvPr id="72" name="Shape 69"/>
          <p:cNvSpPr/>
          <p:nvPr/>
        </p:nvSpPr>
        <p:spPr>
          <a:xfrm>
            <a:off x="548640" y="5559552"/>
            <a:ext cx="11091672" cy="694944"/>
          </a:xfrm>
          <a:prstGeom prst="roundRect">
            <a:avLst>
              <a:gd name="adj" fmla="val 7895"/>
            </a:avLst>
          </a:prstGeom>
          <a:solidFill>
            <a:srgbClr val="44515C"/>
          </a:solidFill>
          <a:ln w="12700">
            <a:solidFill>
              <a:srgbClr val="F0A030"/>
            </a:solidFill>
            <a:prstDash val="solid"/>
          </a:ln>
        </p:spPr>
      </p:sp>
      <p:sp>
        <p:nvSpPr>
          <p:cNvPr id="73" name="Text 70"/>
          <p:cNvSpPr txBox="1"/>
          <p:nvPr/>
        </p:nvSpPr>
        <p:spPr>
          <a:xfrm>
            <a:off x="822960" y="5751576"/>
            <a:ext cx="10515600" cy="36576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The outage exists only in what the policy sees — the physical world and the clean twin keep running.</a:t>
            </a:r>
            <a:endParaRPr lang="en-US" sz="1400" dirty="0"/>
          </a:p>
        </p:txBody>
      </p:sp>
      <p:sp>
        <p:nvSpPr>
          <p:cNvPr id="74" name="Text 71"/>
          <p:cNvSpPr txBox="1"/>
          <p:nvPr/>
        </p:nvSpPr>
        <p:spPr>
          <a:xfrm>
            <a:off x="11365992" y="6382512"/>
            <a:ext cx="365760" cy="274320"/>
          </a:xfrm>
          <a:prstGeom prst="rect">
            <a:avLst/>
          </a:prstGeom>
          <a:noFill/>
          <a:ln/>
        </p:spPr>
        <p:txBody>
          <a:bodyPr wrap="square" lIns="0" tIns="0" rIns="0" bIns="0" rtlCol="0" anchor="ctr"/>
          <a:lstStyle/>
          <a:p>
            <a:pPr algn="r" indent="0" marL="0">
              <a:buNone/>
            </a:pPr>
            <a:r>
              <a:rPr lang="en-US" sz="900" dirty="0">
                <a:solidFill>
                  <a:srgbClr val="7C8B96"/>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39454F"/>
        </a:solidFill>
      </p:bgPr>
    </p:bg>
    <p:spTree>
      <p:nvGrpSpPr>
        <p:cNvPr id="1" name=""/>
        <p:cNvGrpSpPr/>
        <p:nvPr/>
      </p:nvGrpSpPr>
      <p:grpSpPr>
        <a:xfrm>
          <a:off x="0" y="0"/>
          <a:ext cx="0" cy="0"/>
          <a:chOff x="0" y="0"/>
          <a:chExt cx="0" cy="0"/>
        </a:xfrm>
      </p:grpSpPr>
      <p:sp>
        <p:nvSpPr>
          <p:cNvPr id="3" name="Shape 0"/>
          <p:cNvSpPr/>
          <p:nvPr/>
        </p:nvSpPr>
        <p:spPr>
          <a:xfrm>
            <a:off x="201168" y="201168"/>
            <a:ext cx="384048" cy="0"/>
          </a:xfrm>
          <a:prstGeom prst="line">
            <a:avLst/>
          </a:prstGeom>
          <a:noFill/>
          <a:ln w="12700">
            <a:solidFill>
              <a:srgbClr val="66757F"/>
            </a:solidFill>
            <a:prstDash val="solid"/>
          </a:ln>
        </p:spPr>
      </p:sp>
      <p:sp>
        <p:nvSpPr>
          <p:cNvPr id="4" name="Shape 1"/>
          <p:cNvSpPr/>
          <p:nvPr/>
        </p:nvSpPr>
        <p:spPr>
          <a:xfrm>
            <a:off x="201168" y="201168"/>
            <a:ext cx="0" cy="384048"/>
          </a:xfrm>
          <a:prstGeom prst="line">
            <a:avLst/>
          </a:prstGeom>
          <a:noFill/>
          <a:ln w="12700">
            <a:solidFill>
              <a:srgbClr val="66757F"/>
            </a:solidFill>
            <a:prstDash val="solid"/>
          </a:ln>
        </p:spPr>
      </p:sp>
      <p:sp>
        <p:nvSpPr>
          <p:cNvPr id="5" name="Shape 2"/>
          <p:cNvSpPr/>
          <p:nvPr/>
        </p:nvSpPr>
        <p:spPr>
          <a:xfrm flipH="1">
            <a:off x="11603736" y="201168"/>
            <a:ext cx="384048" cy="0"/>
          </a:xfrm>
          <a:prstGeom prst="line">
            <a:avLst/>
          </a:prstGeom>
          <a:noFill/>
          <a:ln w="12700">
            <a:solidFill>
              <a:srgbClr val="66757F"/>
            </a:solidFill>
            <a:prstDash val="solid"/>
          </a:ln>
        </p:spPr>
      </p:sp>
      <p:sp>
        <p:nvSpPr>
          <p:cNvPr id="6" name="Shape 3"/>
          <p:cNvSpPr/>
          <p:nvPr/>
        </p:nvSpPr>
        <p:spPr>
          <a:xfrm>
            <a:off x="11987784" y="201168"/>
            <a:ext cx="0" cy="384048"/>
          </a:xfrm>
          <a:prstGeom prst="line">
            <a:avLst/>
          </a:prstGeom>
          <a:noFill/>
          <a:ln w="12700">
            <a:solidFill>
              <a:srgbClr val="66757F"/>
            </a:solidFill>
            <a:prstDash val="solid"/>
          </a:ln>
        </p:spPr>
      </p:sp>
      <p:sp>
        <p:nvSpPr>
          <p:cNvPr id="7" name="Shape 4"/>
          <p:cNvSpPr/>
          <p:nvPr/>
        </p:nvSpPr>
        <p:spPr>
          <a:xfrm>
            <a:off x="201168" y="6656832"/>
            <a:ext cx="384048" cy="0"/>
          </a:xfrm>
          <a:prstGeom prst="line">
            <a:avLst/>
          </a:prstGeom>
          <a:noFill/>
          <a:ln w="12700">
            <a:solidFill>
              <a:srgbClr val="66757F"/>
            </a:solidFill>
            <a:prstDash val="solid"/>
          </a:ln>
        </p:spPr>
      </p:sp>
      <p:sp>
        <p:nvSpPr>
          <p:cNvPr id="8" name="Shape 5"/>
          <p:cNvSpPr/>
          <p:nvPr/>
        </p:nvSpPr>
        <p:spPr>
          <a:xfrm flipV="1">
            <a:off x="201168" y="6272784"/>
            <a:ext cx="0" cy="384048"/>
          </a:xfrm>
          <a:prstGeom prst="line">
            <a:avLst/>
          </a:prstGeom>
          <a:noFill/>
          <a:ln w="12700">
            <a:solidFill>
              <a:srgbClr val="66757F"/>
            </a:solidFill>
            <a:prstDash val="solid"/>
          </a:ln>
        </p:spPr>
      </p:sp>
      <p:sp>
        <p:nvSpPr>
          <p:cNvPr id="9" name="Shape 6"/>
          <p:cNvSpPr/>
          <p:nvPr/>
        </p:nvSpPr>
        <p:spPr>
          <a:xfrm flipH="1">
            <a:off x="11603736" y="6656832"/>
            <a:ext cx="384048" cy="0"/>
          </a:xfrm>
          <a:prstGeom prst="line">
            <a:avLst/>
          </a:prstGeom>
          <a:noFill/>
          <a:ln w="12700">
            <a:solidFill>
              <a:srgbClr val="66757F"/>
            </a:solidFill>
            <a:prstDash val="solid"/>
          </a:ln>
        </p:spPr>
      </p:sp>
      <p:sp>
        <p:nvSpPr>
          <p:cNvPr id="10" name="Shape 7"/>
          <p:cNvSpPr/>
          <p:nvPr/>
        </p:nvSpPr>
        <p:spPr>
          <a:xfrm flipV="1">
            <a:off x="11987784" y="6272784"/>
            <a:ext cx="0" cy="384048"/>
          </a:xfrm>
          <a:prstGeom prst="line">
            <a:avLst/>
          </a:prstGeom>
          <a:noFill/>
          <a:ln w="12700">
            <a:solidFill>
              <a:srgbClr val="66757F"/>
            </a:solidFill>
            <a:prstDash val="solid"/>
          </a:ln>
        </p:spPr>
      </p:sp>
      <p:sp>
        <p:nvSpPr>
          <p:cNvPr id="11" name="Shape 8"/>
          <p:cNvSpPr/>
          <p:nvPr/>
        </p:nvSpPr>
        <p:spPr>
          <a:xfrm>
            <a:off x="6003036" y="182880"/>
            <a:ext cx="182880" cy="0"/>
          </a:xfrm>
          <a:prstGeom prst="line">
            <a:avLst/>
          </a:prstGeom>
          <a:noFill/>
          <a:ln w="12700">
            <a:solidFill>
              <a:srgbClr val="66757F"/>
            </a:solidFill>
            <a:prstDash val="solid"/>
          </a:ln>
        </p:spPr>
      </p:sp>
      <p:sp>
        <p:nvSpPr>
          <p:cNvPr id="12" name="Shape 9"/>
          <p:cNvSpPr/>
          <p:nvPr/>
        </p:nvSpPr>
        <p:spPr>
          <a:xfrm>
            <a:off x="6094476" y="91440"/>
            <a:ext cx="0" cy="182880"/>
          </a:xfrm>
          <a:prstGeom prst="line">
            <a:avLst/>
          </a:prstGeom>
          <a:noFill/>
          <a:ln w="12700">
            <a:solidFill>
              <a:srgbClr val="66757F"/>
            </a:solidFill>
            <a:prstDash val="solid"/>
          </a:ln>
        </p:spPr>
      </p:sp>
      <p:sp>
        <p:nvSpPr>
          <p:cNvPr id="13" name="Shape 10"/>
          <p:cNvSpPr/>
          <p:nvPr/>
        </p:nvSpPr>
        <p:spPr>
          <a:xfrm>
            <a:off x="6003036" y="6675120"/>
            <a:ext cx="182880" cy="0"/>
          </a:xfrm>
          <a:prstGeom prst="line">
            <a:avLst/>
          </a:prstGeom>
          <a:noFill/>
          <a:ln w="12700">
            <a:solidFill>
              <a:srgbClr val="66757F"/>
            </a:solidFill>
            <a:prstDash val="solid"/>
          </a:ln>
        </p:spPr>
      </p:sp>
      <p:sp>
        <p:nvSpPr>
          <p:cNvPr id="14" name="Shape 11"/>
          <p:cNvSpPr/>
          <p:nvPr/>
        </p:nvSpPr>
        <p:spPr>
          <a:xfrm>
            <a:off x="6094476" y="6583680"/>
            <a:ext cx="0" cy="182880"/>
          </a:xfrm>
          <a:prstGeom prst="line">
            <a:avLst/>
          </a:prstGeom>
          <a:noFill/>
          <a:ln w="12700">
            <a:solidFill>
              <a:srgbClr val="66757F"/>
            </a:solidFill>
            <a:prstDash val="solid"/>
          </a:ln>
        </p:spPr>
      </p:sp>
      <p:sp>
        <p:nvSpPr>
          <p:cNvPr id="15" name="Shape 12"/>
          <p:cNvSpPr/>
          <p:nvPr/>
        </p:nvSpPr>
        <p:spPr>
          <a:xfrm>
            <a:off x="91440" y="3429000"/>
            <a:ext cx="182880" cy="0"/>
          </a:xfrm>
          <a:prstGeom prst="line">
            <a:avLst/>
          </a:prstGeom>
          <a:noFill/>
          <a:ln w="12700">
            <a:solidFill>
              <a:srgbClr val="66757F"/>
            </a:solidFill>
            <a:prstDash val="solid"/>
          </a:ln>
        </p:spPr>
      </p:sp>
      <p:sp>
        <p:nvSpPr>
          <p:cNvPr id="16" name="Shape 13"/>
          <p:cNvSpPr/>
          <p:nvPr/>
        </p:nvSpPr>
        <p:spPr>
          <a:xfrm>
            <a:off x="182880" y="3337560"/>
            <a:ext cx="0" cy="182880"/>
          </a:xfrm>
          <a:prstGeom prst="line">
            <a:avLst/>
          </a:prstGeom>
          <a:noFill/>
          <a:ln w="12700">
            <a:solidFill>
              <a:srgbClr val="66757F"/>
            </a:solidFill>
            <a:prstDash val="solid"/>
          </a:ln>
        </p:spPr>
      </p:sp>
      <p:sp>
        <p:nvSpPr>
          <p:cNvPr id="17" name="Shape 14"/>
          <p:cNvSpPr/>
          <p:nvPr/>
        </p:nvSpPr>
        <p:spPr>
          <a:xfrm>
            <a:off x="11914632" y="3429000"/>
            <a:ext cx="182880" cy="0"/>
          </a:xfrm>
          <a:prstGeom prst="line">
            <a:avLst/>
          </a:prstGeom>
          <a:noFill/>
          <a:ln w="12700">
            <a:solidFill>
              <a:srgbClr val="66757F"/>
            </a:solidFill>
            <a:prstDash val="solid"/>
          </a:ln>
        </p:spPr>
      </p:sp>
      <p:sp>
        <p:nvSpPr>
          <p:cNvPr id="18" name="Shape 15"/>
          <p:cNvSpPr/>
          <p:nvPr/>
        </p:nvSpPr>
        <p:spPr>
          <a:xfrm>
            <a:off x="12006072" y="3337560"/>
            <a:ext cx="0" cy="182880"/>
          </a:xfrm>
          <a:prstGeom prst="line">
            <a:avLst/>
          </a:prstGeom>
          <a:noFill/>
          <a:ln w="12700">
            <a:solidFill>
              <a:srgbClr val="66757F"/>
            </a:solidFill>
            <a:prstDash val="solid"/>
          </a:ln>
        </p:spPr>
      </p:sp>
      <p:sp>
        <p:nvSpPr>
          <p:cNvPr id="19" name="Text 16"/>
          <p:cNvSpPr txBox="1"/>
          <p:nvPr/>
        </p:nvSpPr>
        <p:spPr>
          <a:xfrm>
            <a:off x="566928" y="329184"/>
            <a:ext cx="11064240" cy="566928"/>
          </a:xfrm>
          <a:prstGeom prst="rect">
            <a:avLst/>
          </a:prstGeom>
          <a:noFill/>
          <a:ln/>
        </p:spPr>
        <p:txBody>
          <a:bodyPr wrap="square" lIns="0" tIns="0" rIns="0" bIns="0" rtlCol="0" anchor="t"/>
          <a:lstStyle/>
          <a:p>
            <a:pPr indent="0" marL="0">
              <a:buNone/>
            </a:pPr>
            <a:r>
              <a:rPr lang="en-US" sz="2900" b="1" dirty="0">
                <a:solidFill>
                  <a:srgbClr val="FFFFFF"/>
                </a:solidFill>
                <a:latin typeface="Arial" pitchFamily="34" charset="0"/>
                <a:ea typeface="Arial" pitchFamily="34" charset="-122"/>
                <a:cs typeface="Arial" pitchFamily="34" charset="-120"/>
              </a:rPr>
              <a:t>Two Measures, Two Questions</a:t>
            </a:r>
            <a:endParaRPr lang="en-US" sz="2900" dirty="0"/>
          </a:p>
        </p:txBody>
      </p:sp>
      <p:sp>
        <p:nvSpPr>
          <p:cNvPr id="20" name="Shape 17"/>
          <p:cNvSpPr/>
          <p:nvPr/>
        </p:nvSpPr>
        <p:spPr>
          <a:xfrm>
            <a:off x="548640" y="1143000"/>
            <a:ext cx="5486400" cy="4160520"/>
          </a:xfrm>
          <a:prstGeom prst="roundRect">
            <a:avLst>
              <a:gd name="adj" fmla="val 1319"/>
            </a:avLst>
          </a:prstGeom>
          <a:solidFill>
            <a:srgbClr val="2F3A43"/>
          </a:solidFill>
          <a:ln w="12700">
            <a:solidFill>
              <a:srgbClr val="35D6E8"/>
            </a:solidFill>
            <a:prstDash val="solid"/>
          </a:ln>
        </p:spPr>
      </p:sp>
      <p:sp>
        <p:nvSpPr>
          <p:cNvPr id="21" name="Shape 18"/>
          <p:cNvSpPr/>
          <p:nvPr/>
        </p:nvSpPr>
        <p:spPr>
          <a:xfrm>
            <a:off x="777240" y="1325880"/>
            <a:ext cx="777240" cy="292608"/>
          </a:xfrm>
          <a:prstGeom prst="roundRect">
            <a:avLst>
              <a:gd name="adj" fmla="val 15625"/>
            </a:avLst>
          </a:prstGeom>
          <a:solidFill>
            <a:srgbClr val="35D6E8"/>
          </a:solidFill>
          <a:ln w="12700">
            <a:solidFill>
              <a:srgbClr val="35D6E8"/>
            </a:solidFill>
            <a:prstDash val="solid"/>
          </a:ln>
        </p:spPr>
      </p:sp>
      <p:sp>
        <p:nvSpPr>
          <p:cNvPr id="22" name="Text 19"/>
          <p:cNvSpPr txBox="1"/>
          <p:nvPr/>
        </p:nvSpPr>
        <p:spPr>
          <a:xfrm>
            <a:off x="777240" y="1325880"/>
            <a:ext cx="777240" cy="292608"/>
          </a:xfrm>
          <a:prstGeom prst="rect">
            <a:avLst/>
          </a:prstGeom>
          <a:noFill/>
          <a:ln/>
        </p:spPr>
        <p:txBody>
          <a:bodyPr wrap="square" lIns="0" tIns="0" rIns="0" bIns="0" rtlCol="0" anchor="ctr"/>
          <a:lstStyle/>
          <a:p>
            <a:pPr algn="ctr" indent="0" marL="0">
              <a:buNone/>
            </a:pPr>
            <a:r>
              <a:rPr lang="en-US" sz="1100" b="1" dirty="0">
                <a:solidFill>
                  <a:srgbClr val="1F2830"/>
                </a:solidFill>
                <a:latin typeface="Arial" pitchFamily="34" charset="0"/>
                <a:ea typeface="Arial" pitchFamily="34" charset="-122"/>
                <a:cs typeface="Arial" pitchFamily="34" charset="-120"/>
              </a:rPr>
              <a:t>DEF</a:t>
            </a:r>
            <a:endParaRPr lang="en-US" sz="1100" dirty="0"/>
          </a:p>
        </p:txBody>
      </p:sp>
      <p:sp>
        <p:nvSpPr>
          <p:cNvPr id="23" name="Text 20"/>
          <p:cNvSpPr txBox="1"/>
          <p:nvPr/>
        </p:nvSpPr>
        <p:spPr>
          <a:xfrm>
            <a:off x="1691640" y="1353312"/>
            <a:ext cx="4114800" cy="274320"/>
          </a:xfrm>
          <a:prstGeom prst="rect">
            <a:avLst/>
          </a:prstGeom>
          <a:noFill/>
          <a:ln/>
        </p:spPr>
        <p:txBody>
          <a:bodyPr wrap="square" lIns="0" tIns="0" rIns="0" bIns="0" rtlCol="0" anchor="ctr"/>
          <a:lstStyle/>
          <a:p>
            <a:pPr indent="0" marL="0">
              <a:buNone/>
            </a:pPr>
            <a:r>
              <a:rPr lang="en-US" sz="1300" b="1" dirty="0">
                <a:solidFill>
                  <a:srgbClr val="35D6E8"/>
                </a:solidFill>
                <a:latin typeface="Arial" pitchFamily="34" charset="0"/>
                <a:ea typeface="Arial" pitchFamily="34" charset="-122"/>
                <a:cs typeface="Arial" pitchFamily="34" charset="-120"/>
              </a:rPr>
              <a:t>Does attention identify what moved the decision?</a:t>
            </a:r>
            <a:endParaRPr lang="en-US" sz="1300" dirty="0"/>
          </a:p>
        </p:txBody>
      </p:sp>
      <p:sp>
        <p:nvSpPr>
          <p:cNvPr id="24" name="Text 21"/>
          <p:cNvSpPr txBox="1"/>
          <p:nvPr/>
        </p:nvSpPr>
        <p:spPr>
          <a:xfrm>
            <a:off x="822960" y="1874520"/>
            <a:ext cx="2011680" cy="237744"/>
          </a:xfrm>
          <a:prstGeom prst="rect">
            <a:avLst/>
          </a:prstGeom>
          <a:noFill/>
          <a:ln/>
        </p:spPr>
        <p:txBody>
          <a:bodyPr wrap="square" lIns="0" tIns="0" rIns="0" bIns="0" rtlCol="0" anchor="t"/>
          <a:lstStyle/>
          <a:p>
            <a:pPr indent="0" marL="0">
              <a:buNone/>
            </a:pPr>
            <a:r>
              <a:rPr lang="en-US" sz="1050" dirty="0">
                <a:solidFill>
                  <a:srgbClr val="AFBDC8"/>
                </a:solidFill>
                <a:latin typeface="Arial" pitchFamily="34" charset="0"/>
                <a:ea typeface="Arial" pitchFamily="34" charset="-122"/>
                <a:cs typeface="Arial" pitchFamily="34" charset="-120"/>
              </a:rPr>
              <a:t>attention top-k</a:t>
            </a:r>
            <a:endParaRPr lang="en-US" sz="1050" dirty="0"/>
          </a:p>
        </p:txBody>
      </p:sp>
      <p:sp>
        <p:nvSpPr>
          <p:cNvPr id="25" name="Shape 22"/>
          <p:cNvSpPr/>
          <p:nvPr/>
        </p:nvSpPr>
        <p:spPr>
          <a:xfrm>
            <a:off x="813816" y="2231136"/>
            <a:ext cx="292608" cy="292608"/>
          </a:xfrm>
          <a:prstGeom prst="ellipse">
            <a:avLst/>
          </a:prstGeom>
          <a:solidFill>
            <a:srgbClr val="35D6E8"/>
          </a:solidFill>
          <a:ln w="12700">
            <a:solidFill>
              <a:srgbClr val="35D6E8"/>
            </a:solidFill>
            <a:prstDash val="solid"/>
          </a:ln>
        </p:spPr>
      </p:sp>
      <p:sp>
        <p:nvSpPr>
          <p:cNvPr id="26" name="Shape 23"/>
          <p:cNvSpPr/>
          <p:nvPr/>
        </p:nvSpPr>
        <p:spPr>
          <a:xfrm>
            <a:off x="1197864" y="2231136"/>
            <a:ext cx="292608" cy="292608"/>
          </a:xfrm>
          <a:prstGeom prst="ellipse">
            <a:avLst/>
          </a:prstGeom>
          <a:solidFill>
            <a:srgbClr val="35D6E8"/>
          </a:solidFill>
          <a:ln w="12700">
            <a:solidFill>
              <a:srgbClr val="35D6E8"/>
            </a:solidFill>
            <a:prstDash val="solid"/>
          </a:ln>
        </p:spPr>
      </p:sp>
      <p:sp>
        <p:nvSpPr>
          <p:cNvPr id="27" name="Shape 24"/>
          <p:cNvSpPr/>
          <p:nvPr/>
        </p:nvSpPr>
        <p:spPr>
          <a:xfrm>
            <a:off x="1581912" y="2231136"/>
            <a:ext cx="292608" cy="292608"/>
          </a:xfrm>
          <a:prstGeom prst="ellipse">
            <a:avLst/>
          </a:prstGeom>
          <a:solidFill>
            <a:srgbClr val="35D6E8"/>
          </a:solidFill>
          <a:ln w="12700">
            <a:solidFill>
              <a:srgbClr val="35D6E8"/>
            </a:solidFill>
            <a:prstDash val="solid"/>
          </a:ln>
        </p:spPr>
      </p:sp>
      <p:sp>
        <p:nvSpPr>
          <p:cNvPr id="28" name="Shape 25"/>
          <p:cNvSpPr/>
          <p:nvPr/>
        </p:nvSpPr>
        <p:spPr>
          <a:xfrm>
            <a:off x="1965960" y="2231136"/>
            <a:ext cx="292608" cy="292608"/>
          </a:xfrm>
          <a:prstGeom prst="ellipse">
            <a:avLst/>
          </a:prstGeom>
          <a:solidFill>
            <a:srgbClr val="6B7A86"/>
          </a:solidFill>
          <a:ln w="12700">
            <a:solidFill>
              <a:srgbClr val="6B7A86"/>
            </a:solidFill>
            <a:prstDash val="solid"/>
          </a:ln>
        </p:spPr>
      </p:sp>
      <p:sp>
        <p:nvSpPr>
          <p:cNvPr id="29" name="Shape 26"/>
          <p:cNvSpPr/>
          <p:nvPr/>
        </p:nvSpPr>
        <p:spPr>
          <a:xfrm>
            <a:off x="2350008" y="2231136"/>
            <a:ext cx="292608" cy="292608"/>
          </a:xfrm>
          <a:prstGeom prst="ellipse">
            <a:avLst/>
          </a:prstGeom>
          <a:solidFill>
            <a:srgbClr val="6B7A86"/>
          </a:solidFill>
          <a:ln w="12700">
            <a:solidFill>
              <a:srgbClr val="6B7A86"/>
            </a:solidFill>
            <a:prstDash val="solid"/>
          </a:ln>
        </p:spPr>
      </p:sp>
      <p:sp>
        <p:nvSpPr>
          <p:cNvPr id="30" name="Text 27"/>
          <p:cNvSpPr txBox="1"/>
          <p:nvPr/>
        </p:nvSpPr>
        <p:spPr>
          <a:xfrm>
            <a:off x="2880360" y="2249424"/>
            <a:ext cx="365760" cy="256032"/>
          </a:xfrm>
          <a:prstGeom prst="rect">
            <a:avLst/>
          </a:prstGeom>
          <a:noFill/>
          <a:ln/>
        </p:spPr>
        <p:txBody>
          <a:bodyPr wrap="square" lIns="0" tIns="0" rIns="0" bIns="0" rtlCol="0" anchor="t"/>
          <a:lstStyle/>
          <a:p>
            <a:pPr algn="ctr" indent="0" marL="0">
              <a:buNone/>
            </a:pPr>
            <a:r>
              <a:rPr lang="en-US" sz="1200" b="1" dirty="0">
                <a:solidFill>
                  <a:srgbClr val="AFBDC8"/>
                </a:solidFill>
                <a:latin typeface="Arial" pitchFamily="34" charset="0"/>
                <a:ea typeface="Arial" pitchFamily="34" charset="-122"/>
                <a:cs typeface="Arial" pitchFamily="34" charset="-120"/>
              </a:rPr>
              <a:t>vs</a:t>
            </a:r>
            <a:endParaRPr lang="en-US" sz="1200" dirty="0"/>
          </a:p>
        </p:txBody>
      </p:sp>
      <p:sp>
        <p:nvSpPr>
          <p:cNvPr id="31" name="Text 28"/>
          <p:cNvSpPr txBox="1"/>
          <p:nvPr/>
        </p:nvSpPr>
        <p:spPr>
          <a:xfrm>
            <a:off x="3474720" y="1874520"/>
            <a:ext cx="2194560" cy="237744"/>
          </a:xfrm>
          <a:prstGeom prst="rect">
            <a:avLst/>
          </a:prstGeom>
          <a:noFill/>
          <a:ln/>
        </p:spPr>
        <p:txBody>
          <a:bodyPr wrap="square" lIns="0" tIns="0" rIns="0" bIns="0" rtlCol="0" anchor="t"/>
          <a:lstStyle/>
          <a:p>
            <a:pPr indent="0" marL="0">
              <a:buNone/>
            </a:pPr>
            <a:r>
              <a:rPr lang="en-US" sz="1050" dirty="0">
                <a:solidFill>
                  <a:srgbClr val="AFBDC8"/>
                </a:solidFill>
                <a:latin typeface="Arial" pitchFamily="34" charset="0"/>
                <a:ea typeface="Arial" pitchFamily="34" charset="-122"/>
                <a:cs typeface="Arial" pitchFamily="34" charset="-120"/>
              </a:rPr>
              <a:t>matched random</a:t>
            </a:r>
            <a:endParaRPr lang="en-US" sz="1050" dirty="0"/>
          </a:p>
        </p:txBody>
      </p:sp>
      <p:sp>
        <p:nvSpPr>
          <p:cNvPr id="32" name="Shape 29"/>
          <p:cNvSpPr/>
          <p:nvPr/>
        </p:nvSpPr>
        <p:spPr>
          <a:xfrm>
            <a:off x="3465576" y="2231136"/>
            <a:ext cx="292608" cy="292608"/>
          </a:xfrm>
          <a:prstGeom prst="ellipse">
            <a:avLst/>
          </a:prstGeom>
          <a:solidFill>
            <a:srgbClr val="AFBDC8"/>
          </a:solidFill>
          <a:ln w="12700">
            <a:solidFill>
              <a:srgbClr val="AFBDC8"/>
            </a:solidFill>
            <a:prstDash val="solid"/>
          </a:ln>
        </p:spPr>
      </p:sp>
      <p:sp>
        <p:nvSpPr>
          <p:cNvPr id="33" name="Shape 30"/>
          <p:cNvSpPr/>
          <p:nvPr/>
        </p:nvSpPr>
        <p:spPr>
          <a:xfrm>
            <a:off x="3849624" y="2231136"/>
            <a:ext cx="292608" cy="292608"/>
          </a:xfrm>
          <a:prstGeom prst="ellipse">
            <a:avLst/>
          </a:prstGeom>
          <a:solidFill>
            <a:srgbClr val="AFBDC8"/>
          </a:solidFill>
          <a:ln w="12700">
            <a:solidFill>
              <a:srgbClr val="AFBDC8"/>
            </a:solidFill>
            <a:prstDash val="solid"/>
          </a:ln>
        </p:spPr>
      </p:sp>
      <p:sp>
        <p:nvSpPr>
          <p:cNvPr id="34" name="Shape 31"/>
          <p:cNvSpPr/>
          <p:nvPr/>
        </p:nvSpPr>
        <p:spPr>
          <a:xfrm>
            <a:off x="4233672" y="2231136"/>
            <a:ext cx="292608" cy="292608"/>
          </a:xfrm>
          <a:prstGeom prst="ellipse">
            <a:avLst/>
          </a:prstGeom>
          <a:solidFill>
            <a:srgbClr val="AFBDC8"/>
          </a:solidFill>
          <a:ln w="12700">
            <a:solidFill>
              <a:srgbClr val="AFBDC8"/>
            </a:solidFill>
            <a:prstDash val="solid"/>
          </a:ln>
        </p:spPr>
      </p:sp>
      <p:sp>
        <p:nvSpPr>
          <p:cNvPr id="35" name="Shape 32"/>
          <p:cNvSpPr/>
          <p:nvPr/>
        </p:nvSpPr>
        <p:spPr>
          <a:xfrm>
            <a:off x="4617720" y="2231136"/>
            <a:ext cx="292608" cy="292608"/>
          </a:xfrm>
          <a:prstGeom prst="ellipse">
            <a:avLst/>
          </a:prstGeom>
          <a:solidFill>
            <a:srgbClr val="6B7A86"/>
          </a:solidFill>
          <a:ln w="12700">
            <a:solidFill>
              <a:srgbClr val="6B7A86"/>
            </a:solidFill>
            <a:prstDash val="solid"/>
          </a:ln>
        </p:spPr>
      </p:sp>
      <p:sp>
        <p:nvSpPr>
          <p:cNvPr id="36" name="Shape 33"/>
          <p:cNvSpPr/>
          <p:nvPr/>
        </p:nvSpPr>
        <p:spPr>
          <a:xfrm>
            <a:off x="5001768" y="2231136"/>
            <a:ext cx="292608" cy="292608"/>
          </a:xfrm>
          <a:prstGeom prst="ellipse">
            <a:avLst/>
          </a:prstGeom>
          <a:solidFill>
            <a:srgbClr val="6B7A86"/>
          </a:solidFill>
          <a:ln w="12700">
            <a:solidFill>
              <a:srgbClr val="6B7A86"/>
            </a:solidFill>
            <a:prstDash val="solid"/>
          </a:ln>
        </p:spPr>
      </p:sp>
      <p:sp>
        <p:nvSpPr>
          <p:cNvPr id="37" name="Shape 34"/>
          <p:cNvSpPr/>
          <p:nvPr/>
        </p:nvSpPr>
        <p:spPr>
          <a:xfrm>
            <a:off x="2926080" y="2743200"/>
            <a:ext cx="274320" cy="320040"/>
          </a:xfrm>
          <a:prstGeom prst="downArrow">
            <a:avLst/>
          </a:prstGeom>
          <a:solidFill>
            <a:srgbClr val="5A6772"/>
          </a:solidFill>
          <a:ln w="12700">
            <a:solidFill>
              <a:srgbClr val="5A6772"/>
            </a:solidFill>
            <a:prstDash val="solid"/>
          </a:ln>
        </p:spPr>
      </p:sp>
      <p:sp>
        <p:nvSpPr>
          <p:cNvPr id="38" name="Text 35"/>
          <p:cNvSpPr txBox="1"/>
          <p:nvPr/>
        </p:nvSpPr>
        <p:spPr>
          <a:xfrm>
            <a:off x="822960" y="3200400"/>
            <a:ext cx="4937760" cy="27432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remove each set · compare the change in the selected action</a:t>
            </a:r>
            <a:endParaRPr lang="en-US" sz="1100" dirty="0"/>
          </a:p>
        </p:txBody>
      </p:sp>
      <p:sp>
        <p:nvSpPr>
          <p:cNvPr id="39" name="Shape 36"/>
          <p:cNvSpPr/>
          <p:nvPr/>
        </p:nvSpPr>
        <p:spPr>
          <a:xfrm>
            <a:off x="868680" y="3666744"/>
            <a:ext cx="182880" cy="182880"/>
          </a:xfrm>
          <a:prstGeom prst="ellipse">
            <a:avLst/>
          </a:prstGeom>
          <a:solidFill>
            <a:srgbClr val="5FC98B"/>
          </a:solidFill>
          <a:ln w="12700">
            <a:solidFill>
              <a:srgbClr val="5FC98B"/>
            </a:solidFill>
            <a:prstDash val="solid"/>
          </a:ln>
        </p:spPr>
      </p:sp>
      <p:sp>
        <p:nvSpPr>
          <p:cNvPr id="40" name="Text 37"/>
          <p:cNvSpPr txBox="1"/>
          <p:nvPr/>
        </p:nvSpPr>
        <p:spPr>
          <a:xfrm>
            <a:off x="1188720" y="3611880"/>
            <a:ext cx="1280160" cy="292608"/>
          </a:xfrm>
          <a:prstGeom prst="rect">
            <a:avLst/>
          </a:prstGeom>
          <a:noFill/>
          <a:ln/>
        </p:spPr>
        <p:txBody>
          <a:bodyPr wrap="square" lIns="0" tIns="0" rIns="0" bIns="0" rtlCol="0" anchor="ctr"/>
          <a:lstStyle/>
          <a:p>
            <a:pPr indent="0" marL="0">
              <a:buNone/>
            </a:pPr>
            <a:r>
              <a:rPr lang="en-US" sz="1250" b="1" dirty="0">
                <a:solidFill>
                  <a:srgbClr val="5FC98B"/>
                </a:solidFill>
                <a:latin typeface="Arial" pitchFamily="34" charset="0"/>
                <a:ea typeface="Arial" pitchFamily="34" charset="-122"/>
                <a:cs typeface="Arial" pitchFamily="34" charset="-120"/>
              </a:rPr>
              <a:t>Positive</a:t>
            </a:r>
            <a:endParaRPr lang="en-US" sz="1250" dirty="0"/>
          </a:p>
        </p:txBody>
      </p:sp>
      <p:sp>
        <p:nvSpPr>
          <p:cNvPr id="41" name="Text 38"/>
          <p:cNvSpPr txBox="1"/>
          <p:nvPr/>
        </p:nvSpPr>
        <p:spPr>
          <a:xfrm>
            <a:off x="2514600" y="3611880"/>
            <a:ext cx="3291840" cy="292608"/>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attention beats random</a:t>
            </a:r>
            <a:endParaRPr lang="en-US" sz="1150" dirty="0"/>
          </a:p>
        </p:txBody>
      </p:sp>
      <p:sp>
        <p:nvSpPr>
          <p:cNvPr id="42" name="Shape 39"/>
          <p:cNvSpPr/>
          <p:nvPr/>
        </p:nvSpPr>
        <p:spPr>
          <a:xfrm>
            <a:off x="868680" y="4169664"/>
            <a:ext cx="182880" cy="182880"/>
          </a:xfrm>
          <a:prstGeom prst="ellipse">
            <a:avLst/>
          </a:prstGeom>
          <a:solidFill>
            <a:srgbClr val="AFBDC8"/>
          </a:solidFill>
          <a:ln w="12700">
            <a:solidFill>
              <a:srgbClr val="AFBDC8"/>
            </a:solidFill>
            <a:prstDash val="solid"/>
          </a:ln>
        </p:spPr>
      </p:sp>
      <p:sp>
        <p:nvSpPr>
          <p:cNvPr id="43" name="Text 40"/>
          <p:cNvSpPr txBox="1"/>
          <p:nvPr/>
        </p:nvSpPr>
        <p:spPr>
          <a:xfrm>
            <a:off x="1188720" y="4114800"/>
            <a:ext cx="1280160" cy="292608"/>
          </a:xfrm>
          <a:prstGeom prst="rect">
            <a:avLst/>
          </a:prstGeom>
          <a:noFill/>
          <a:ln/>
        </p:spPr>
        <p:txBody>
          <a:bodyPr wrap="square" lIns="0" tIns="0" rIns="0" bIns="0" rtlCol="0" anchor="ctr"/>
          <a:lstStyle/>
          <a:p>
            <a:pPr indent="0" marL="0">
              <a:buNone/>
            </a:pPr>
            <a:r>
              <a:rPr lang="en-US" sz="1250" b="1" dirty="0">
                <a:solidFill>
                  <a:srgbClr val="AFBDC8"/>
                </a:solidFill>
                <a:latin typeface="Arial" pitchFamily="34" charset="0"/>
                <a:ea typeface="Arial" pitchFamily="34" charset="-122"/>
                <a:cs typeface="Arial" pitchFamily="34" charset="-120"/>
              </a:rPr>
              <a:t>Near zero</a:t>
            </a:r>
            <a:endParaRPr lang="en-US" sz="1250" dirty="0"/>
          </a:p>
        </p:txBody>
      </p:sp>
      <p:sp>
        <p:nvSpPr>
          <p:cNvPr id="44" name="Text 41"/>
          <p:cNvSpPr txBox="1"/>
          <p:nvPr/>
        </p:nvSpPr>
        <p:spPr>
          <a:xfrm>
            <a:off x="2514600" y="4114800"/>
            <a:ext cx="3291840" cy="292608"/>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no advantage</a:t>
            </a:r>
            <a:endParaRPr lang="en-US" sz="1150" dirty="0"/>
          </a:p>
        </p:txBody>
      </p:sp>
      <p:sp>
        <p:nvSpPr>
          <p:cNvPr id="45" name="Shape 42"/>
          <p:cNvSpPr/>
          <p:nvPr/>
        </p:nvSpPr>
        <p:spPr>
          <a:xfrm>
            <a:off x="868680" y="4672584"/>
            <a:ext cx="182880" cy="182880"/>
          </a:xfrm>
          <a:prstGeom prst="ellipse">
            <a:avLst/>
          </a:prstGeom>
          <a:solidFill>
            <a:srgbClr val="E4644C"/>
          </a:solidFill>
          <a:ln w="12700">
            <a:solidFill>
              <a:srgbClr val="E4644C"/>
            </a:solidFill>
            <a:prstDash val="solid"/>
          </a:ln>
        </p:spPr>
      </p:sp>
      <p:sp>
        <p:nvSpPr>
          <p:cNvPr id="46" name="Text 43"/>
          <p:cNvSpPr txBox="1"/>
          <p:nvPr/>
        </p:nvSpPr>
        <p:spPr>
          <a:xfrm>
            <a:off x="1188720" y="4617720"/>
            <a:ext cx="1280160" cy="292608"/>
          </a:xfrm>
          <a:prstGeom prst="rect">
            <a:avLst/>
          </a:prstGeom>
          <a:noFill/>
          <a:ln/>
        </p:spPr>
        <p:txBody>
          <a:bodyPr wrap="square" lIns="0" tIns="0" rIns="0" bIns="0" rtlCol="0" anchor="ctr"/>
          <a:lstStyle/>
          <a:p>
            <a:pPr indent="0" marL="0">
              <a:buNone/>
            </a:pPr>
            <a:r>
              <a:rPr lang="en-US" sz="1250" b="1" dirty="0">
                <a:solidFill>
                  <a:srgbClr val="E4644C"/>
                </a:solidFill>
                <a:latin typeface="Arial" pitchFamily="34" charset="0"/>
                <a:ea typeface="Arial" pitchFamily="34" charset="-122"/>
                <a:cs typeface="Arial" pitchFamily="34" charset="-120"/>
              </a:rPr>
              <a:t>Negative</a:t>
            </a:r>
            <a:endParaRPr lang="en-US" sz="1250" dirty="0"/>
          </a:p>
        </p:txBody>
      </p:sp>
      <p:sp>
        <p:nvSpPr>
          <p:cNvPr id="47" name="Text 44"/>
          <p:cNvSpPr txBox="1"/>
          <p:nvPr/>
        </p:nvSpPr>
        <p:spPr>
          <a:xfrm>
            <a:off x="2514600" y="4617720"/>
            <a:ext cx="3291840" cy="292608"/>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worse than random</a:t>
            </a:r>
            <a:endParaRPr lang="en-US" sz="1150" dirty="0"/>
          </a:p>
        </p:txBody>
      </p:sp>
      <p:sp>
        <p:nvSpPr>
          <p:cNvPr id="48" name="Shape 45"/>
          <p:cNvSpPr/>
          <p:nvPr/>
        </p:nvSpPr>
        <p:spPr>
          <a:xfrm>
            <a:off x="6153912" y="1143000"/>
            <a:ext cx="5486400" cy="4160520"/>
          </a:xfrm>
          <a:prstGeom prst="roundRect">
            <a:avLst>
              <a:gd name="adj" fmla="val 1319"/>
            </a:avLst>
          </a:prstGeom>
          <a:solidFill>
            <a:srgbClr val="2F3A43"/>
          </a:solidFill>
          <a:ln w="12700">
            <a:solidFill>
              <a:srgbClr val="F0A030"/>
            </a:solidFill>
            <a:prstDash val="solid"/>
          </a:ln>
        </p:spPr>
      </p:sp>
      <p:sp>
        <p:nvSpPr>
          <p:cNvPr id="49" name="Shape 46"/>
          <p:cNvSpPr/>
          <p:nvPr/>
        </p:nvSpPr>
        <p:spPr>
          <a:xfrm>
            <a:off x="6382512" y="1325880"/>
            <a:ext cx="1188720" cy="292608"/>
          </a:xfrm>
          <a:prstGeom prst="roundRect">
            <a:avLst>
              <a:gd name="adj" fmla="val 15625"/>
            </a:avLst>
          </a:prstGeom>
          <a:solidFill>
            <a:srgbClr val="F0A030"/>
          </a:solidFill>
          <a:ln w="12700">
            <a:solidFill>
              <a:srgbClr val="F0A030"/>
            </a:solidFill>
            <a:prstDash val="solid"/>
          </a:ln>
        </p:spPr>
      </p:sp>
      <p:sp>
        <p:nvSpPr>
          <p:cNvPr id="50" name="Text 47"/>
          <p:cNvSpPr txBox="1"/>
          <p:nvPr/>
        </p:nvSpPr>
        <p:spPr>
          <a:xfrm>
            <a:off x="6382512" y="1325880"/>
            <a:ext cx="1188720" cy="292608"/>
          </a:xfrm>
          <a:prstGeom prst="rect">
            <a:avLst/>
          </a:prstGeom>
          <a:noFill/>
          <a:ln/>
        </p:spPr>
        <p:txBody>
          <a:bodyPr wrap="square" lIns="0" tIns="0" rIns="0" bIns="0" rtlCol="0" anchor="ctr"/>
          <a:lstStyle/>
          <a:p>
            <a:pPr algn="ctr" indent="0" marL="0">
              <a:buNone/>
            </a:pPr>
            <a:r>
              <a:rPr lang="en-US" sz="1100" b="1" dirty="0">
                <a:solidFill>
                  <a:srgbClr val="1F2830"/>
                </a:solidFill>
                <a:latin typeface="Arial" pitchFamily="34" charset="0"/>
                <a:ea typeface="Arial" pitchFamily="34" charset="-122"/>
                <a:cs typeface="Arial" pitchFamily="34" charset="-120"/>
              </a:rPr>
              <a:t>WAMSN</a:t>
            </a:r>
            <a:endParaRPr lang="en-US" sz="1100" dirty="0"/>
          </a:p>
        </p:txBody>
      </p:sp>
      <p:sp>
        <p:nvSpPr>
          <p:cNvPr id="51" name="Text 48"/>
          <p:cNvSpPr txBox="1"/>
          <p:nvPr/>
        </p:nvSpPr>
        <p:spPr>
          <a:xfrm>
            <a:off x="7726680" y="1353312"/>
            <a:ext cx="3703320" cy="274320"/>
          </a:xfrm>
          <a:prstGeom prst="rect">
            <a:avLst/>
          </a:prstGeom>
          <a:noFill/>
          <a:ln/>
        </p:spPr>
        <p:txBody>
          <a:bodyPr wrap="square" lIns="0" tIns="0" rIns="0" bIns="0" rtlCol="0" anchor="ctr"/>
          <a:lstStyle/>
          <a:p>
            <a:pPr indent="0" marL="0">
              <a:buNone/>
            </a:pPr>
            <a:r>
              <a:rPr lang="en-US" sz="1300" b="1" dirty="0">
                <a:solidFill>
                  <a:srgbClr val="F0A030"/>
                </a:solidFill>
                <a:latin typeface="Arial" pitchFamily="34" charset="0"/>
                <a:ea typeface="Arial" pitchFamily="34" charset="-122"/>
                <a:cs typeface="Arial" pitchFamily="34" charset="-120"/>
              </a:rPr>
              <a:t>How much attention sits on stale data?</a:t>
            </a:r>
            <a:endParaRPr lang="en-US" sz="1300" dirty="0"/>
          </a:p>
        </p:txBody>
      </p:sp>
      <p:sp>
        <p:nvSpPr>
          <p:cNvPr id="52" name="Shape 49"/>
          <p:cNvSpPr/>
          <p:nvPr/>
        </p:nvSpPr>
        <p:spPr>
          <a:xfrm>
            <a:off x="6766560" y="2788920"/>
            <a:ext cx="384048" cy="457200"/>
          </a:xfrm>
          <a:prstGeom prst="roundRect">
            <a:avLst>
              <a:gd name="adj" fmla="val 9524"/>
            </a:avLst>
          </a:prstGeom>
          <a:solidFill>
            <a:srgbClr val="5FC98B"/>
          </a:solidFill>
          <a:ln w="12700">
            <a:solidFill>
              <a:srgbClr val="5FC98B"/>
            </a:solidFill>
            <a:prstDash val="solid"/>
          </a:ln>
        </p:spPr>
      </p:sp>
      <p:sp>
        <p:nvSpPr>
          <p:cNvPr id="53" name="Text 50"/>
          <p:cNvSpPr txBox="1"/>
          <p:nvPr/>
        </p:nvSpPr>
        <p:spPr>
          <a:xfrm>
            <a:off x="6711696" y="3300984"/>
            <a:ext cx="566928" cy="219456"/>
          </a:xfrm>
          <a:prstGeom prst="rect">
            <a:avLst/>
          </a:prstGeom>
          <a:noFill/>
          <a:ln/>
        </p:spPr>
        <p:txBody>
          <a:bodyPr wrap="square" lIns="0" tIns="0" rIns="0" bIns="0" rtlCol="0" anchor="t"/>
          <a:lstStyle/>
          <a:p>
            <a:pPr algn="ctr" indent="0" marL="0">
              <a:buNone/>
            </a:pPr>
            <a:r>
              <a:rPr lang="en-US" sz="900" dirty="0">
                <a:solidFill>
                  <a:srgbClr val="AFBDC8"/>
                </a:solidFill>
                <a:latin typeface="Arial" pitchFamily="34" charset="0"/>
                <a:ea typeface="Arial" pitchFamily="34" charset="-122"/>
                <a:cs typeface="Arial" pitchFamily="34" charset="-120"/>
              </a:rPr>
              <a:t>0 s</a:t>
            </a:r>
            <a:endParaRPr lang="en-US" sz="900" dirty="0"/>
          </a:p>
        </p:txBody>
      </p:sp>
      <p:sp>
        <p:nvSpPr>
          <p:cNvPr id="54" name="Shape 51"/>
          <p:cNvSpPr/>
          <p:nvPr/>
        </p:nvSpPr>
        <p:spPr>
          <a:xfrm>
            <a:off x="7333488" y="2468880"/>
            <a:ext cx="384048" cy="777240"/>
          </a:xfrm>
          <a:prstGeom prst="roundRect">
            <a:avLst>
              <a:gd name="adj" fmla="val 9524"/>
            </a:avLst>
          </a:prstGeom>
          <a:solidFill>
            <a:srgbClr val="F0A030"/>
          </a:solidFill>
          <a:ln w="12700">
            <a:solidFill>
              <a:srgbClr val="F0A030"/>
            </a:solidFill>
            <a:prstDash val="solid"/>
          </a:ln>
        </p:spPr>
      </p:sp>
      <p:sp>
        <p:nvSpPr>
          <p:cNvPr id="55" name="Text 52"/>
          <p:cNvSpPr txBox="1"/>
          <p:nvPr/>
        </p:nvSpPr>
        <p:spPr>
          <a:xfrm>
            <a:off x="7278624" y="3300984"/>
            <a:ext cx="566928" cy="219456"/>
          </a:xfrm>
          <a:prstGeom prst="rect">
            <a:avLst/>
          </a:prstGeom>
          <a:noFill/>
          <a:ln/>
        </p:spPr>
        <p:txBody>
          <a:bodyPr wrap="square" lIns="0" tIns="0" rIns="0" bIns="0" rtlCol="0" anchor="t"/>
          <a:lstStyle/>
          <a:p>
            <a:pPr algn="ctr" indent="0" marL="0">
              <a:buNone/>
            </a:pPr>
            <a:r>
              <a:rPr lang="en-US" sz="900" dirty="0">
                <a:solidFill>
                  <a:srgbClr val="AFBDC8"/>
                </a:solidFill>
                <a:latin typeface="Arial" pitchFamily="34" charset="0"/>
                <a:ea typeface="Arial" pitchFamily="34" charset="-122"/>
                <a:cs typeface="Arial" pitchFamily="34" charset="-120"/>
              </a:rPr>
              <a:t>30 s</a:t>
            </a:r>
            <a:endParaRPr lang="en-US" sz="900" dirty="0"/>
          </a:p>
        </p:txBody>
      </p:sp>
      <p:sp>
        <p:nvSpPr>
          <p:cNvPr id="56" name="Shape 53"/>
          <p:cNvSpPr/>
          <p:nvPr/>
        </p:nvSpPr>
        <p:spPr>
          <a:xfrm>
            <a:off x="7900416" y="2971800"/>
            <a:ext cx="384048" cy="274320"/>
          </a:xfrm>
          <a:prstGeom prst="roundRect">
            <a:avLst>
              <a:gd name="adj" fmla="val 13333"/>
            </a:avLst>
          </a:prstGeom>
          <a:solidFill>
            <a:srgbClr val="5FC98B"/>
          </a:solidFill>
          <a:ln w="12700">
            <a:solidFill>
              <a:srgbClr val="5FC98B"/>
            </a:solidFill>
            <a:prstDash val="solid"/>
          </a:ln>
        </p:spPr>
      </p:sp>
      <p:sp>
        <p:nvSpPr>
          <p:cNvPr id="57" name="Text 54"/>
          <p:cNvSpPr txBox="1"/>
          <p:nvPr/>
        </p:nvSpPr>
        <p:spPr>
          <a:xfrm>
            <a:off x="7845552" y="3300984"/>
            <a:ext cx="566928" cy="219456"/>
          </a:xfrm>
          <a:prstGeom prst="rect">
            <a:avLst/>
          </a:prstGeom>
          <a:noFill/>
          <a:ln/>
        </p:spPr>
        <p:txBody>
          <a:bodyPr wrap="square" lIns="0" tIns="0" rIns="0" bIns="0" rtlCol="0" anchor="t"/>
          <a:lstStyle/>
          <a:p>
            <a:pPr algn="ctr" indent="0" marL="0">
              <a:buNone/>
            </a:pPr>
            <a:r>
              <a:rPr lang="en-US" sz="900" dirty="0">
                <a:solidFill>
                  <a:srgbClr val="AFBDC8"/>
                </a:solidFill>
                <a:latin typeface="Arial" pitchFamily="34" charset="0"/>
                <a:ea typeface="Arial" pitchFamily="34" charset="-122"/>
                <a:cs typeface="Arial" pitchFamily="34" charset="-120"/>
              </a:rPr>
              <a:t>0 s</a:t>
            </a:r>
            <a:endParaRPr lang="en-US" sz="900" dirty="0"/>
          </a:p>
        </p:txBody>
      </p:sp>
      <p:sp>
        <p:nvSpPr>
          <p:cNvPr id="58" name="Shape 55"/>
          <p:cNvSpPr/>
          <p:nvPr/>
        </p:nvSpPr>
        <p:spPr>
          <a:xfrm>
            <a:off x="8467344" y="2194560"/>
            <a:ext cx="384048" cy="1051560"/>
          </a:xfrm>
          <a:prstGeom prst="roundRect">
            <a:avLst>
              <a:gd name="adj" fmla="val 9524"/>
            </a:avLst>
          </a:prstGeom>
          <a:solidFill>
            <a:srgbClr val="E4644C"/>
          </a:solidFill>
          <a:ln w="12700">
            <a:solidFill>
              <a:srgbClr val="E4644C"/>
            </a:solidFill>
            <a:prstDash val="solid"/>
          </a:ln>
        </p:spPr>
      </p:sp>
      <p:sp>
        <p:nvSpPr>
          <p:cNvPr id="59" name="Text 56"/>
          <p:cNvSpPr txBox="1"/>
          <p:nvPr/>
        </p:nvSpPr>
        <p:spPr>
          <a:xfrm>
            <a:off x="8412480" y="3300984"/>
            <a:ext cx="566928" cy="219456"/>
          </a:xfrm>
          <a:prstGeom prst="rect">
            <a:avLst/>
          </a:prstGeom>
          <a:noFill/>
          <a:ln/>
        </p:spPr>
        <p:txBody>
          <a:bodyPr wrap="square" lIns="0" tIns="0" rIns="0" bIns="0" rtlCol="0" anchor="t"/>
          <a:lstStyle/>
          <a:p>
            <a:pPr algn="ctr" indent="0" marL="0">
              <a:buNone/>
            </a:pPr>
            <a:r>
              <a:rPr lang="en-US" sz="900" dirty="0">
                <a:solidFill>
                  <a:srgbClr val="AFBDC8"/>
                </a:solidFill>
                <a:latin typeface="Arial" pitchFamily="34" charset="0"/>
                <a:ea typeface="Arial" pitchFamily="34" charset="-122"/>
                <a:cs typeface="Arial" pitchFamily="34" charset="-120"/>
              </a:rPr>
              <a:t>60 s</a:t>
            </a:r>
            <a:endParaRPr lang="en-US" sz="900" dirty="0"/>
          </a:p>
        </p:txBody>
      </p:sp>
      <p:sp>
        <p:nvSpPr>
          <p:cNvPr id="60" name="Shape 57"/>
          <p:cNvSpPr/>
          <p:nvPr/>
        </p:nvSpPr>
        <p:spPr>
          <a:xfrm>
            <a:off x="9034272" y="2834640"/>
            <a:ext cx="384048" cy="411480"/>
          </a:xfrm>
          <a:prstGeom prst="roundRect">
            <a:avLst>
              <a:gd name="adj" fmla="val 9524"/>
            </a:avLst>
          </a:prstGeom>
          <a:solidFill>
            <a:srgbClr val="5FC98B"/>
          </a:solidFill>
          <a:ln w="12700">
            <a:solidFill>
              <a:srgbClr val="5FC98B"/>
            </a:solidFill>
            <a:prstDash val="solid"/>
          </a:ln>
        </p:spPr>
      </p:sp>
      <p:sp>
        <p:nvSpPr>
          <p:cNvPr id="61" name="Text 58"/>
          <p:cNvSpPr txBox="1"/>
          <p:nvPr/>
        </p:nvSpPr>
        <p:spPr>
          <a:xfrm>
            <a:off x="8979408" y="3300984"/>
            <a:ext cx="566928" cy="219456"/>
          </a:xfrm>
          <a:prstGeom prst="rect">
            <a:avLst/>
          </a:prstGeom>
          <a:noFill/>
          <a:ln/>
        </p:spPr>
        <p:txBody>
          <a:bodyPr wrap="square" lIns="0" tIns="0" rIns="0" bIns="0" rtlCol="0" anchor="t"/>
          <a:lstStyle/>
          <a:p>
            <a:pPr algn="ctr" indent="0" marL="0">
              <a:buNone/>
            </a:pPr>
            <a:r>
              <a:rPr lang="en-US" sz="900" dirty="0">
                <a:solidFill>
                  <a:srgbClr val="AFBDC8"/>
                </a:solidFill>
                <a:latin typeface="Arial" pitchFamily="34" charset="0"/>
                <a:ea typeface="Arial" pitchFamily="34" charset="-122"/>
                <a:cs typeface="Arial" pitchFamily="34" charset="-120"/>
              </a:rPr>
              <a:t>0 s</a:t>
            </a:r>
            <a:endParaRPr lang="en-US" sz="900" dirty="0"/>
          </a:p>
        </p:txBody>
      </p:sp>
      <p:sp>
        <p:nvSpPr>
          <p:cNvPr id="62" name="Shape 59"/>
          <p:cNvSpPr/>
          <p:nvPr/>
        </p:nvSpPr>
        <p:spPr>
          <a:xfrm>
            <a:off x="6656832" y="3246120"/>
            <a:ext cx="2898648" cy="0"/>
          </a:xfrm>
          <a:prstGeom prst="line">
            <a:avLst/>
          </a:prstGeom>
          <a:noFill/>
          <a:ln w="12700">
            <a:solidFill>
              <a:srgbClr val="5A6772"/>
            </a:solidFill>
            <a:prstDash val="solid"/>
          </a:ln>
        </p:spPr>
      </p:sp>
      <p:sp>
        <p:nvSpPr>
          <p:cNvPr id="63" name="Text 60"/>
          <p:cNvSpPr txBox="1"/>
          <p:nvPr/>
        </p:nvSpPr>
        <p:spPr>
          <a:xfrm>
            <a:off x="6675120" y="3520440"/>
            <a:ext cx="4023360" cy="274320"/>
          </a:xfrm>
          <a:prstGeom prst="rect">
            <a:avLst/>
          </a:prstGeom>
          <a:noFill/>
          <a:ln/>
        </p:spPr>
        <p:txBody>
          <a:bodyPr wrap="square" lIns="0" tIns="0" rIns="0" bIns="0" rtlCol="0" anchor="t"/>
          <a:lstStyle/>
          <a:p>
            <a:pPr indent="0" marL="0">
              <a:buNone/>
            </a:pPr>
            <a:r>
              <a:rPr lang="en-US" sz="1050" dirty="0">
                <a:solidFill>
                  <a:srgbClr val="AFBDC8"/>
                </a:solidFill>
                <a:latin typeface="Arial" pitchFamily="34" charset="0"/>
                <a:ea typeface="Arial" pitchFamily="34" charset="-122"/>
                <a:cs typeface="Arial" pitchFamily="34" charset="-120"/>
              </a:rPr>
              <a:t>AoI of the node behind each attention weight</a:t>
            </a:r>
            <a:endParaRPr lang="en-US" sz="1050" dirty="0"/>
          </a:p>
        </p:txBody>
      </p:sp>
      <p:sp>
        <p:nvSpPr>
          <p:cNvPr id="64" name="Text 61"/>
          <p:cNvSpPr txBox="1"/>
          <p:nvPr/>
        </p:nvSpPr>
        <p:spPr>
          <a:xfrm>
            <a:off x="6400800" y="3931920"/>
            <a:ext cx="4937760" cy="27432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attention weight  ×  normalised AoI</a:t>
            </a:r>
            <a:endParaRPr lang="en-US" sz="1300" dirty="0"/>
          </a:p>
        </p:txBody>
      </p:sp>
      <p:sp>
        <p:nvSpPr>
          <p:cNvPr id="65" name="Text 62"/>
          <p:cNvSpPr txBox="1"/>
          <p:nvPr/>
        </p:nvSpPr>
        <p:spPr>
          <a:xfrm>
            <a:off x="6400800" y="4315968"/>
            <a:ext cx="4983480" cy="822960"/>
          </a:xfrm>
          <a:prstGeom prst="rect">
            <a:avLst/>
          </a:prstGeom>
          <a:noFill/>
          <a:ln/>
        </p:spPr>
        <p:txBody>
          <a:bodyPr wrap="square" lIns="0" tIns="0" rIns="0" bIns="0" rtlCol="0" anchor="t"/>
          <a:lstStyle/>
          <a:p>
            <a:pPr indent="0" marL="0">
              <a:lnSpc>
                <a:spcPct val="125000"/>
              </a:lnSpc>
              <a:buNone/>
            </a:pPr>
            <a:r>
              <a:rPr lang="en-US" sz="1150" dirty="0">
                <a:solidFill>
                  <a:srgbClr val="F0A030"/>
                </a:solidFill>
                <a:latin typeface="Arial" pitchFamily="34" charset="0"/>
                <a:ea typeface="Arial" pitchFamily="34" charset="-122"/>
                <a:cs typeface="Arial" pitchFamily="34" charset="-120"/>
              </a:rPr>
              <a:t>A rise proves the outage created more stale exposure — a manipulation check, not evidence about faithfulness.</a:t>
            </a:r>
            <a:endParaRPr lang="en-US" sz="1150" dirty="0"/>
          </a:p>
        </p:txBody>
      </p:sp>
      <p:sp>
        <p:nvSpPr>
          <p:cNvPr id="66" name="Text 63"/>
          <p:cNvSpPr txBox="1"/>
          <p:nvPr/>
        </p:nvSpPr>
        <p:spPr>
          <a:xfrm>
            <a:off x="11365992" y="6382512"/>
            <a:ext cx="365760" cy="274320"/>
          </a:xfrm>
          <a:prstGeom prst="rect">
            <a:avLst/>
          </a:prstGeom>
          <a:noFill/>
          <a:ln/>
        </p:spPr>
        <p:txBody>
          <a:bodyPr wrap="square" lIns="0" tIns="0" rIns="0" bIns="0" rtlCol="0" anchor="ctr"/>
          <a:lstStyle/>
          <a:p>
            <a:pPr algn="r" indent="0" marL="0">
              <a:buNone/>
            </a:pPr>
            <a:r>
              <a:rPr lang="en-US" sz="900" dirty="0">
                <a:solidFill>
                  <a:srgbClr val="7C8B96"/>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39454F"/>
        </a:solidFill>
      </p:bgPr>
    </p:bg>
    <p:spTree>
      <p:nvGrpSpPr>
        <p:cNvPr id="1" name=""/>
        <p:cNvGrpSpPr/>
        <p:nvPr/>
      </p:nvGrpSpPr>
      <p:grpSpPr>
        <a:xfrm>
          <a:off x="0" y="0"/>
          <a:ext cx="0" cy="0"/>
          <a:chOff x="0" y="0"/>
          <a:chExt cx="0" cy="0"/>
        </a:xfrm>
      </p:grpSpPr>
      <p:sp>
        <p:nvSpPr>
          <p:cNvPr id="3" name="Shape 0"/>
          <p:cNvSpPr/>
          <p:nvPr/>
        </p:nvSpPr>
        <p:spPr>
          <a:xfrm>
            <a:off x="201168" y="201168"/>
            <a:ext cx="384048" cy="0"/>
          </a:xfrm>
          <a:prstGeom prst="line">
            <a:avLst/>
          </a:prstGeom>
          <a:noFill/>
          <a:ln w="12700">
            <a:solidFill>
              <a:srgbClr val="66757F"/>
            </a:solidFill>
            <a:prstDash val="solid"/>
          </a:ln>
        </p:spPr>
      </p:sp>
      <p:sp>
        <p:nvSpPr>
          <p:cNvPr id="4" name="Shape 1"/>
          <p:cNvSpPr/>
          <p:nvPr/>
        </p:nvSpPr>
        <p:spPr>
          <a:xfrm>
            <a:off x="201168" y="201168"/>
            <a:ext cx="0" cy="384048"/>
          </a:xfrm>
          <a:prstGeom prst="line">
            <a:avLst/>
          </a:prstGeom>
          <a:noFill/>
          <a:ln w="12700">
            <a:solidFill>
              <a:srgbClr val="66757F"/>
            </a:solidFill>
            <a:prstDash val="solid"/>
          </a:ln>
        </p:spPr>
      </p:sp>
      <p:sp>
        <p:nvSpPr>
          <p:cNvPr id="5" name="Shape 2"/>
          <p:cNvSpPr/>
          <p:nvPr/>
        </p:nvSpPr>
        <p:spPr>
          <a:xfrm flipH="1">
            <a:off x="11603736" y="201168"/>
            <a:ext cx="384048" cy="0"/>
          </a:xfrm>
          <a:prstGeom prst="line">
            <a:avLst/>
          </a:prstGeom>
          <a:noFill/>
          <a:ln w="12700">
            <a:solidFill>
              <a:srgbClr val="66757F"/>
            </a:solidFill>
            <a:prstDash val="solid"/>
          </a:ln>
        </p:spPr>
      </p:sp>
      <p:sp>
        <p:nvSpPr>
          <p:cNvPr id="6" name="Shape 3"/>
          <p:cNvSpPr/>
          <p:nvPr/>
        </p:nvSpPr>
        <p:spPr>
          <a:xfrm>
            <a:off x="11987784" y="201168"/>
            <a:ext cx="0" cy="384048"/>
          </a:xfrm>
          <a:prstGeom prst="line">
            <a:avLst/>
          </a:prstGeom>
          <a:noFill/>
          <a:ln w="12700">
            <a:solidFill>
              <a:srgbClr val="66757F"/>
            </a:solidFill>
            <a:prstDash val="solid"/>
          </a:ln>
        </p:spPr>
      </p:sp>
      <p:sp>
        <p:nvSpPr>
          <p:cNvPr id="7" name="Shape 4"/>
          <p:cNvSpPr/>
          <p:nvPr/>
        </p:nvSpPr>
        <p:spPr>
          <a:xfrm>
            <a:off x="201168" y="6656832"/>
            <a:ext cx="384048" cy="0"/>
          </a:xfrm>
          <a:prstGeom prst="line">
            <a:avLst/>
          </a:prstGeom>
          <a:noFill/>
          <a:ln w="12700">
            <a:solidFill>
              <a:srgbClr val="66757F"/>
            </a:solidFill>
            <a:prstDash val="solid"/>
          </a:ln>
        </p:spPr>
      </p:sp>
      <p:sp>
        <p:nvSpPr>
          <p:cNvPr id="8" name="Shape 5"/>
          <p:cNvSpPr/>
          <p:nvPr/>
        </p:nvSpPr>
        <p:spPr>
          <a:xfrm flipV="1">
            <a:off x="201168" y="6272784"/>
            <a:ext cx="0" cy="384048"/>
          </a:xfrm>
          <a:prstGeom prst="line">
            <a:avLst/>
          </a:prstGeom>
          <a:noFill/>
          <a:ln w="12700">
            <a:solidFill>
              <a:srgbClr val="66757F"/>
            </a:solidFill>
            <a:prstDash val="solid"/>
          </a:ln>
        </p:spPr>
      </p:sp>
      <p:sp>
        <p:nvSpPr>
          <p:cNvPr id="9" name="Shape 6"/>
          <p:cNvSpPr/>
          <p:nvPr/>
        </p:nvSpPr>
        <p:spPr>
          <a:xfrm flipH="1">
            <a:off x="11603736" y="6656832"/>
            <a:ext cx="384048" cy="0"/>
          </a:xfrm>
          <a:prstGeom prst="line">
            <a:avLst/>
          </a:prstGeom>
          <a:noFill/>
          <a:ln w="12700">
            <a:solidFill>
              <a:srgbClr val="66757F"/>
            </a:solidFill>
            <a:prstDash val="solid"/>
          </a:ln>
        </p:spPr>
      </p:sp>
      <p:sp>
        <p:nvSpPr>
          <p:cNvPr id="10" name="Shape 7"/>
          <p:cNvSpPr/>
          <p:nvPr/>
        </p:nvSpPr>
        <p:spPr>
          <a:xfrm flipV="1">
            <a:off x="11987784" y="6272784"/>
            <a:ext cx="0" cy="384048"/>
          </a:xfrm>
          <a:prstGeom prst="line">
            <a:avLst/>
          </a:prstGeom>
          <a:noFill/>
          <a:ln w="12700">
            <a:solidFill>
              <a:srgbClr val="66757F"/>
            </a:solidFill>
            <a:prstDash val="solid"/>
          </a:ln>
        </p:spPr>
      </p:sp>
      <p:sp>
        <p:nvSpPr>
          <p:cNvPr id="11" name="Shape 8"/>
          <p:cNvSpPr/>
          <p:nvPr/>
        </p:nvSpPr>
        <p:spPr>
          <a:xfrm>
            <a:off x="6003036" y="182880"/>
            <a:ext cx="182880" cy="0"/>
          </a:xfrm>
          <a:prstGeom prst="line">
            <a:avLst/>
          </a:prstGeom>
          <a:noFill/>
          <a:ln w="12700">
            <a:solidFill>
              <a:srgbClr val="66757F"/>
            </a:solidFill>
            <a:prstDash val="solid"/>
          </a:ln>
        </p:spPr>
      </p:sp>
      <p:sp>
        <p:nvSpPr>
          <p:cNvPr id="12" name="Shape 9"/>
          <p:cNvSpPr/>
          <p:nvPr/>
        </p:nvSpPr>
        <p:spPr>
          <a:xfrm>
            <a:off x="6094476" y="91440"/>
            <a:ext cx="0" cy="182880"/>
          </a:xfrm>
          <a:prstGeom prst="line">
            <a:avLst/>
          </a:prstGeom>
          <a:noFill/>
          <a:ln w="12700">
            <a:solidFill>
              <a:srgbClr val="66757F"/>
            </a:solidFill>
            <a:prstDash val="solid"/>
          </a:ln>
        </p:spPr>
      </p:sp>
      <p:sp>
        <p:nvSpPr>
          <p:cNvPr id="13" name="Shape 10"/>
          <p:cNvSpPr/>
          <p:nvPr/>
        </p:nvSpPr>
        <p:spPr>
          <a:xfrm>
            <a:off x="6003036" y="6675120"/>
            <a:ext cx="182880" cy="0"/>
          </a:xfrm>
          <a:prstGeom prst="line">
            <a:avLst/>
          </a:prstGeom>
          <a:noFill/>
          <a:ln w="12700">
            <a:solidFill>
              <a:srgbClr val="66757F"/>
            </a:solidFill>
            <a:prstDash val="solid"/>
          </a:ln>
        </p:spPr>
      </p:sp>
      <p:sp>
        <p:nvSpPr>
          <p:cNvPr id="14" name="Shape 11"/>
          <p:cNvSpPr/>
          <p:nvPr/>
        </p:nvSpPr>
        <p:spPr>
          <a:xfrm>
            <a:off x="6094476" y="6583680"/>
            <a:ext cx="0" cy="182880"/>
          </a:xfrm>
          <a:prstGeom prst="line">
            <a:avLst/>
          </a:prstGeom>
          <a:noFill/>
          <a:ln w="12700">
            <a:solidFill>
              <a:srgbClr val="66757F"/>
            </a:solidFill>
            <a:prstDash val="solid"/>
          </a:ln>
        </p:spPr>
      </p:sp>
      <p:sp>
        <p:nvSpPr>
          <p:cNvPr id="15" name="Shape 12"/>
          <p:cNvSpPr/>
          <p:nvPr/>
        </p:nvSpPr>
        <p:spPr>
          <a:xfrm>
            <a:off x="91440" y="3429000"/>
            <a:ext cx="182880" cy="0"/>
          </a:xfrm>
          <a:prstGeom prst="line">
            <a:avLst/>
          </a:prstGeom>
          <a:noFill/>
          <a:ln w="12700">
            <a:solidFill>
              <a:srgbClr val="66757F"/>
            </a:solidFill>
            <a:prstDash val="solid"/>
          </a:ln>
        </p:spPr>
      </p:sp>
      <p:sp>
        <p:nvSpPr>
          <p:cNvPr id="16" name="Shape 13"/>
          <p:cNvSpPr/>
          <p:nvPr/>
        </p:nvSpPr>
        <p:spPr>
          <a:xfrm>
            <a:off x="182880" y="3337560"/>
            <a:ext cx="0" cy="182880"/>
          </a:xfrm>
          <a:prstGeom prst="line">
            <a:avLst/>
          </a:prstGeom>
          <a:noFill/>
          <a:ln w="12700">
            <a:solidFill>
              <a:srgbClr val="66757F"/>
            </a:solidFill>
            <a:prstDash val="solid"/>
          </a:ln>
        </p:spPr>
      </p:sp>
      <p:sp>
        <p:nvSpPr>
          <p:cNvPr id="17" name="Shape 14"/>
          <p:cNvSpPr/>
          <p:nvPr/>
        </p:nvSpPr>
        <p:spPr>
          <a:xfrm>
            <a:off x="11914632" y="3429000"/>
            <a:ext cx="182880" cy="0"/>
          </a:xfrm>
          <a:prstGeom prst="line">
            <a:avLst/>
          </a:prstGeom>
          <a:noFill/>
          <a:ln w="12700">
            <a:solidFill>
              <a:srgbClr val="66757F"/>
            </a:solidFill>
            <a:prstDash val="solid"/>
          </a:ln>
        </p:spPr>
      </p:sp>
      <p:sp>
        <p:nvSpPr>
          <p:cNvPr id="18" name="Shape 15"/>
          <p:cNvSpPr/>
          <p:nvPr/>
        </p:nvSpPr>
        <p:spPr>
          <a:xfrm>
            <a:off x="12006072" y="3337560"/>
            <a:ext cx="0" cy="182880"/>
          </a:xfrm>
          <a:prstGeom prst="line">
            <a:avLst/>
          </a:prstGeom>
          <a:noFill/>
          <a:ln w="12700">
            <a:solidFill>
              <a:srgbClr val="66757F"/>
            </a:solidFill>
            <a:prstDash val="solid"/>
          </a:ln>
        </p:spPr>
      </p:sp>
      <p:sp>
        <p:nvSpPr>
          <p:cNvPr id="19" name="Text 16"/>
          <p:cNvSpPr txBox="1"/>
          <p:nvPr/>
        </p:nvSpPr>
        <p:spPr>
          <a:xfrm>
            <a:off x="566928" y="329184"/>
            <a:ext cx="11064240" cy="566928"/>
          </a:xfrm>
          <a:prstGeom prst="rect">
            <a:avLst/>
          </a:prstGeom>
          <a:noFill/>
          <a:ln/>
        </p:spPr>
        <p:txBody>
          <a:bodyPr wrap="square" lIns="0" tIns="0" rIns="0" bIns="0" rtlCol="0" anchor="t"/>
          <a:lstStyle/>
          <a:p>
            <a:pPr indent="0" marL="0">
              <a:buNone/>
            </a:pPr>
            <a:r>
              <a:rPr lang="en-US" sz="2900" b="1" dirty="0">
                <a:solidFill>
                  <a:srgbClr val="FFFFFF"/>
                </a:solidFill>
                <a:latin typeface="Arial" pitchFamily="34" charset="0"/>
                <a:ea typeface="Arial" pitchFamily="34" charset="-122"/>
                <a:cs typeface="Arial" pitchFamily="34" charset="-120"/>
              </a:rPr>
              <a:t>Evaluation Design</a:t>
            </a:r>
            <a:endParaRPr lang="en-US" sz="2900" dirty="0"/>
          </a:p>
        </p:txBody>
      </p:sp>
      <p:sp>
        <p:nvSpPr>
          <p:cNvPr id="20" name="Shape 17"/>
          <p:cNvSpPr/>
          <p:nvPr/>
        </p:nvSpPr>
        <p:spPr>
          <a:xfrm>
            <a:off x="548640" y="1143000"/>
            <a:ext cx="2606040" cy="1143000"/>
          </a:xfrm>
          <a:prstGeom prst="roundRect">
            <a:avLst>
              <a:gd name="adj" fmla="val 4800"/>
            </a:avLst>
          </a:prstGeom>
          <a:solidFill>
            <a:srgbClr val="2F3A43"/>
          </a:solidFill>
          <a:ln w="12700">
            <a:solidFill>
              <a:srgbClr val="35D6E8"/>
            </a:solidFill>
            <a:prstDash val="solid"/>
          </a:ln>
        </p:spPr>
      </p:sp>
      <p:sp>
        <p:nvSpPr>
          <p:cNvPr id="21" name="Shape 18"/>
          <p:cNvSpPr/>
          <p:nvPr/>
        </p:nvSpPr>
        <p:spPr>
          <a:xfrm>
            <a:off x="740664" y="1380744"/>
            <a:ext cx="384048" cy="384048"/>
          </a:xfrm>
          <a:prstGeom prst="ellipse">
            <a:avLst/>
          </a:prstGeom>
          <a:solidFill>
            <a:srgbClr val="35D6E8"/>
          </a:solidFill>
          <a:ln w="12700">
            <a:solidFill>
              <a:srgbClr val="35D6E8"/>
            </a:solidFill>
            <a:prstDash val="solid"/>
          </a:ln>
        </p:spPr>
      </p:sp>
      <p:sp>
        <p:nvSpPr>
          <p:cNvPr id="22" name="Text 19"/>
          <p:cNvSpPr txBox="1"/>
          <p:nvPr/>
        </p:nvSpPr>
        <p:spPr>
          <a:xfrm>
            <a:off x="749808" y="1463040"/>
            <a:ext cx="365760" cy="237744"/>
          </a:xfrm>
          <a:prstGeom prst="rect">
            <a:avLst/>
          </a:prstGeom>
          <a:noFill/>
          <a:ln/>
        </p:spPr>
        <p:txBody>
          <a:bodyPr wrap="square" lIns="0" tIns="0" rIns="0" bIns="0" rtlCol="0" anchor="t"/>
          <a:lstStyle/>
          <a:p>
            <a:pPr algn="ctr" indent="0" marL="0">
              <a:buNone/>
            </a:pPr>
            <a:r>
              <a:rPr lang="en-US" sz="1100" b="1" dirty="0">
                <a:solidFill>
                  <a:srgbClr val="1F2830"/>
                </a:solidFill>
                <a:latin typeface="Arial" pitchFamily="34" charset="0"/>
                <a:ea typeface="Arial" pitchFamily="34" charset="-122"/>
                <a:cs typeface="Arial" pitchFamily="34" charset="-120"/>
              </a:rPr>
              <a:t>1</a:t>
            </a:r>
            <a:endParaRPr lang="en-US" sz="1100" dirty="0"/>
          </a:p>
        </p:txBody>
      </p:sp>
      <p:sp>
        <p:nvSpPr>
          <p:cNvPr id="23" name="Text 20"/>
          <p:cNvSpPr txBox="1"/>
          <p:nvPr/>
        </p:nvSpPr>
        <p:spPr>
          <a:xfrm>
            <a:off x="1261872" y="1417320"/>
            <a:ext cx="1737360" cy="274320"/>
          </a:xfrm>
          <a:prstGeom prst="rect">
            <a:avLst/>
          </a:prstGeom>
          <a:noFill/>
          <a:ln/>
        </p:spPr>
        <p:txBody>
          <a:bodyPr wrap="square" lIns="0" tIns="0" rIns="0" bIns="0" rtlCol="0" anchor="t"/>
          <a:lstStyle/>
          <a:p>
            <a:pPr indent="0" marL="0">
              <a:buNone/>
            </a:pPr>
            <a:r>
              <a:rPr lang="en-US" sz="1400" b="1" dirty="0">
                <a:solidFill>
                  <a:srgbClr val="35D6E8"/>
                </a:solidFill>
                <a:latin typeface="Arial" pitchFamily="34" charset="0"/>
                <a:ea typeface="Arial" pitchFamily="34" charset="-122"/>
                <a:cs typeface="Arial" pitchFamily="34" charset="-120"/>
              </a:rPr>
              <a:t>Train</a:t>
            </a:r>
            <a:endParaRPr lang="en-US" sz="1400" dirty="0"/>
          </a:p>
        </p:txBody>
      </p:sp>
      <p:sp>
        <p:nvSpPr>
          <p:cNvPr id="24" name="Text 21"/>
          <p:cNvSpPr txBox="1"/>
          <p:nvPr/>
        </p:nvSpPr>
        <p:spPr>
          <a:xfrm>
            <a:off x="1261872" y="1719072"/>
            <a:ext cx="1783080" cy="274320"/>
          </a:xfrm>
          <a:prstGeom prst="rect">
            <a:avLst/>
          </a:prstGeom>
          <a:noFill/>
          <a:ln/>
        </p:spPr>
        <p:txBody>
          <a:bodyPr wrap="square" lIns="0" tIns="0" rIns="0" bIns="0" rtlCol="0" anchor="t"/>
          <a:lstStyle/>
          <a:p>
            <a:pPr indent="0" marL="0">
              <a:buNone/>
            </a:pPr>
            <a:r>
              <a:rPr lang="en-US" sz="1050" dirty="0">
                <a:solidFill>
                  <a:srgbClr val="AFBDC8"/>
                </a:solidFill>
                <a:latin typeface="Arial" pitchFamily="34" charset="0"/>
                <a:ea typeface="Arial" pitchFamily="34" charset="-122"/>
                <a:cs typeface="Arial" pitchFamily="34" charset="-120"/>
              </a:rPr>
              <a:t>3 models × 3 seeds</a:t>
            </a:r>
            <a:endParaRPr lang="en-US" sz="1050" dirty="0"/>
          </a:p>
        </p:txBody>
      </p:sp>
      <p:sp>
        <p:nvSpPr>
          <p:cNvPr id="25" name="Shape 22"/>
          <p:cNvSpPr/>
          <p:nvPr/>
        </p:nvSpPr>
        <p:spPr>
          <a:xfrm>
            <a:off x="3200400" y="1572768"/>
            <a:ext cx="201168" cy="256032"/>
          </a:xfrm>
          <a:prstGeom prst="rightArrow">
            <a:avLst/>
          </a:prstGeom>
          <a:solidFill>
            <a:srgbClr val="AFBDC8"/>
          </a:solidFill>
          <a:ln w="12700">
            <a:solidFill>
              <a:srgbClr val="AFBDC8"/>
            </a:solidFill>
            <a:prstDash val="solid"/>
          </a:ln>
        </p:spPr>
      </p:sp>
      <p:sp>
        <p:nvSpPr>
          <p:cNvPr id="26" name="Shape 23"/>
          <p:cNvSpPr/>
          <p:nvPr/>
        </p:nvSpPr>
        <p:spPr>
          <a:xfrm>
            <a:off x="3429000" y="1143000"/>
            <a:ext cx="2606040" cy="1143000"/>
          </a:xfrm>
          <a:prstGeom prst="roundRect">
            <a:avLst>
              <a:gd name="adj" fmla="val 4800"/>
            </a:avLst>
          </a:prstGeom>
          <a:solidFill>
            <a:srgbClr val="2F3A43"/>
          </a:solidFill>
          <a:ln w="12700">
            <a:solidFill>
              <a:srgbClr val="35D6E8"/>
            </a:solidFill>
            <a:prstDash val="solid"/>
          </a:ln>
        </p:spPr>
      </p:sp>
      <p:sp>
        <p:nvSpPr>
          <p:cNvPr id="27" name="Shape 24"/>
          <p:cNvSpPr/>
          <p:nvPr/>
        </p:nvSpPr>
        <p:spPr>
          <a:xfrm>
            <a:off x="3621024" y="1380744"/>
            <a:ext cx="384048" cy="384048"/>
          </a:xfrm>
          <a:prstGeom prst="ellipse">
            <a:avLst/>
          </a:prstGeom>
          <a:solidFill>
            <a:srgbClr val="35D6E8"/>
          </a:solidFill>
          <a:ln w="12700">
            <a:solidFill>
              <a:srgbClr val="35D6E8"/>
            </a:solidFill>
            <a:prstDash val="solid"/>
          </a:ln>
        </p:spPr>
      </p:sp>
      <p:sp>
        <p:nvSpPr>
          <p:cNvPr id="28" name="Text 25"/>
          <p:cNvSpPr txBox="1"/>
          <p:nvPr/>
        </p:nvSpPr>
        <p:spPr>
          <a:xfrm>
            <a:off x="3630168" y="1463040"/>
            <a:ext cx="365760" cy="237744"/>
          </a:xfrm>
          <a:prstGeom prst="rect">
            <a:avLst/>
          </a:prstGeom>
          <a:noFill/>
          <a:ln/>
        </p:spPr>
        <p:txBody>
          <a:bodyPr wrap="square" lIns="0" tIns="0" rIns="0" bIns="0" rtlCol="0" anchor="t"/>
          <a:lstStyle/>
          <a:p>
            <a:pPr algn="ctr" indent="0" marL="0">
              <a:buNone/>
            </a:pPr>
            <a:r>
              <a:rPr lang="en-US" sz="1100" b="1" dirty="0">
                <a:solidFill>
                  <a:srgbClr val="1F2830"/>
                </a:solidFill>
                <a:latin typeface="Arial" pitchFamily="34" charset="0"/>
                <a:ea typeface="Arial" pitchFamily="34" charset="-122"/>
                <a:cs typeface="Arial" pitchFamily="34" charset="-120"/>
              </a:rPr>
              <a:t>2</a:t>
            </a:r>
            <a:endParaRPr lang="en-US" sz="1100" dirty="0"/>
          </a:p>
        </p:txBody>
      </p:sp>
      <p:sp>
        <p:nvSpPr>
          <p:cNvPr id="29" name="Text 26"/>
          <p:cNvSpPr txBox="1"/>
          <p:nvPr/>
        </p:nvSpPr>
        <p:spPr>
          <a:xfrm>
            <a:off x="4142232" y="1417320"/>
            <a:ext cx="1737360" cy="274320"/>
          </a:xfrm>
          <a:prstGeom prst="rect">
            <a:avLst/>
          </a:prstGeom>
          <a:noFill/>
          <a:ln/>
        </p:spPr>
        <p:txBody>
          <a:bodyPr wrap="square" lIns="0" tIns="0" rIns="0" bIns="0" rtlCol="0" anchor="t"/>
          <a:lstStyle/>
          <a:p>
            <a:pPr indent="0" marL="0">
              <a:buNone/>
            </a:pPr>
            <a:r>
              <a:rPr lang="en-US" sz="1400" b="1" dirty="0">
                <a:solidFill>
                  <a:srgbClr val="35D6E8"/>
                </a:solidFill>
                <a:latin typeface="Arial" pitchFamily="34" charset="0"/>
                <a:ea typeface="Arial" pitchFamily="34" charset="-122"/>
                <a:cs typeface="Arial" pitchFamily="34" charset="-120"/>
              </a:rPr>
              <a:t>Validate</a:t>
            </a:r>
            <a:endParaRPr lang="en-US" sz="1400" dirty="0"/>
          </a:p>
        </p:txBody>
      </p:sp>
      <p:sp>
        <p:nvSpPr>
          <p:cNvPr id="30" name="Text 27"/>
          <p:cNvSpPr txBox="1"/>
          <p:nvPr/>
        </p:nvSpPr>
        <p:spPr>
          <a:xfrm>
            <a:off x="4142232" y="1719072"/>
            <a:ext cx="1783080" cy="274320"/>
          </a:xfrm>
          <a:prstGeom prst="rect">
            <a:avLst/>
          </a:prstGeom>
          <a:noFill/>
          <a:ln/>
        </p:spPr>
        <p:txBody>
          <a:bodyPr wrap="square" lIns="0" tIns="0" rIns="0" bIns="0" rtlCol="0" anchor="t"/>
          <a:lstStyle/>
          <a:p>
            <a:pPr indent="0" marL="0">
              <a:buNone/>
            </a:pPr>
            <a:r>
              <a:rPr lang="en-US" sz="1050" dirty="0">
                <a:solidFill>
                  <a:srgbClr val="AFBDC8"/>
                </a:solidFill>
                <a:latin typeface="Arial" pitchFamily="34" charset="0"/>
                <a:ea typeface="Arial" pitchFamily="34" charset="-122"/>
                <a:cs typeface="Arial" pitchFamily="34" charset="-120"/>
              </a:rPr>
              <a:t>select 1 checkpoint</a:t>
            </a:r>
            <a:endParaRPr lang="en-US" sz="1050" dirty="0"/>
          </a:p>
        </p:txBody>
      </p:sp>
      <p:sp>
        <p:nvSpPr>
          <p:cNvPr id="31" name="Shape 28"/>
          <p:cNvSpPr/>
          <p:nvPr/>
        </p:nvSpPr>
        <p:spPr>
          <a:xfrm>
            <a:off x="6080760" y="1572768"/>
            <a:ext cx="201168" cy="256032"/>
          </a:xfrm>
          <a:prstGeom prst="rightArrow">
            <a:avLst/>
          </a:prstGeom>
          <a:solidFill>
            <a:srgbClr val="AFBDC8"/>
          </a:solidFill>
          <a:ln w="12700">
            <a:solidFill>
              <a:srgbClr val="AFBDC8"/>
            </a:solidFill>
            <a:prstDash val="solid"/>
          </a:ln>
        </p:spPr>
      </p:sp>
      <p:sp>
        <p:nvSpPr>
          <p:cNvPr id="32" name="Shape 29"/>
          <p:cNvSpPr/>
          <p:nvPr/>
        </p:nvSpPr>
        <p:spPr>
          <a:xfrm>
            <a:off x="6309360" y="1143000"/>
            <a:ext cx="2606040" cy="1143000"/>
          </a:xfrm>
          <a:prstGeom prst="roundRect">
            <a:avLst>
              <a:gd name="adj" fmla="val 4800"/>
            </a:avLst>
          </a:prstGeom>
          <a:solidFill>
            <a:srgbClr val="2F3A43"/>
          </a:solidFill>
          <a:ln w="12700">
            <a:solidFill>
              <a:srgbClr val="F0A030"/>
            </a:solidFill>
            <a:prstDash val="solid"/>
          </a:ln>
        </p:spPr>
      </p:sp>
      <p:sp>
        <p:nvSpPr>
          <p:cNvPr id="33" name="Shape 30"/>
          <p:cNvSpPr/>
          <p:nvPr/>
        </p:nvSpPr>
        <p:spPr>
          <a:xfrm>
            <a:off x="6501384" y="1380744"/>
            <a:ext cx="384048" cy="384048"/>
          </a:xfrm>
          <a:prstGeom prst="ellipse">
            <a:avLst/>
          </a:prstGeom>
          <a:solidFill>
            <a:srgbClr val="F0A030"/>
          </a:solidFill>
          <a:ln w="12700">
            <a:solidFill>
              <a:srgbClr val="F0A030"/>
            </a:solidFill>
            <a:prstDash val="solid"/>
          </a:ln>
        </p:spPr>
      </p:sp>
      <p:sp>
        <p:nvSpPr>
          <p:cNvPr id="34" name="Text 31"/>
          <p:cNvSpPr txBox="1"/>
          <p:nvPr/>
        </p:nvSpPr>
        <p:spPr>
          <a:xfrm>
            <a:off x="6510528" y="1463040"/>
            <a:ext cx="365760" cy="237744"/>
          </a:xfrm>
          <a:prstGeom prst="rect">
            <a:avLst/>
          </a:prstGeom>
          <a:noFill/>
          <a:ln/>
        </p:spPr>
        <p:txBody>
          <a:bodyPr wrap="square" lIns="0" tIns="0" rIns="0" bIns="0" rtlCol="0" anchor="t"/>
          <a:lstStyle/>
          <a:p>
            <a:pPr algn="ctr" indent="0" marL="0">
              <a:buNone/>
            </a:pPr>
            <a:r>
              <a:rPr lang="en-US" sz="1100" b="1" dirty="0">
                <a:solidFill>
                  <a:srgbClr val="1F2830"/>
                </a:solidFill>
                <a:latin typeface="Arial" pitchFamily="34" charset="0"/>
                <a:ea typeface="Arial" pitchFamily="34" charset="-122"/>
                <a:cs typeface="Arial" pitchFamily="34" charset="-120"/>
              </a:rPr>
              <a:t>3</a:t>
            </a:r>
            <a:endParaRPr lang="en-US" sz="1100" dirty="0"/>
          </a:p>
        </p:txBody>
      </p:sp>
      <p:sp>
        <p:nvSpPr>
          <p:cNvPr id="35" name="Text 32"/>
          <p:cNvSpPr txBox="1"/>
          <p:nvPr/>
        </p:nvSpPr>
        <p:spPr>
          <a:xfrm>
            <a:off x="7022592" y="1417320"/>
            <a:ext cx="1737360" cy="274320"/>
          </a:xfrm>
          <a:prstGeom prst="rect">
            <a:avLst/>
          </a:prstGeom>
          <a:noFill/>
          <a:ln/>
        </p:spPr>
        <p:txBody>
          <a:bodyPr wrap="square" lIns="0" tIns="0" rIns="0" bIns="0" rtlCol="0" anchor="t"/>
          <a:lstStyle/>
          <a:p>
            <a:pPr indent="0" marL="0">
              <a:buNone/>
            </a:pPr>
            <a:r>
              <a:rPr lang="en-US" sz="1400" b="1" dirty="0">
                <a:solidFill>
                  <a:srgbClr val="F0A030"/>
                </a:solidFill>
                <a:latin typeface="Arial" pitchFamily="34" charset="0"/>
                <a:ea typeface="Arial" pitchFamily="34" charset="-122"/>
                <a:cs typeface="Arial" pitchFamily="34" charset="-120"/>
              </a:rPr>
              <a:t>Freeze</a:t>
            </a:r>
            <a:endParaRPr lang="en-US" sz="1400" dirty="0"/>
          </a:p>
        </p:txBody>
      </p:sp>
      <p:sp>
        <p:nvSpPr>
          <p:cNvPr id="36" name="Text 33"/>
          <p:cNvSpPr txBox="1"/>
          <p:nvPr/>
        </p:nvSpPr>
        <p:spPr>
          <a:xfrm>
            <a:off x="7022592" y="1719072"/>
            <a:ext cx="1783080" cy="274320"/>
          </a:xfrm>
          <a:prstGeom prst="rect">
            <a:avLst/>
          </a:prstGeom>
          <a:noFill/>
          <a:ln/>
        </p:spPr>
        <p:txBody>
          <a:bodyPr wrap="square" lIns="0" tIns="0" rIns="0" bIns="0" rtlCol="0" anchor="t"/>
          <a:lstStyle/>
          <a:p>
            <a:pPr indent="0" marL="0">
              <a:buNone/>
            </a:pPr>
            <a:r>
              <a:rPr lang="en-US" sz="1050" dirty="0">
                <a:solidFill>
                  <a:srgbClr val="AFBDC8"/>
                </a:solidFill>
                <a:latin typeface="Arial" pitchFamily="34" charset="0"/>
                <a:ea typeface="Arial" pitchFamily="34" charset="-122"/>
                <a:cs typeface="Arial" pitchFamily="34" charset="-120"/>
              </a:rPr>
              <a:t>no reselection</a:t>
            </a:r>
            <a:endParaRPr lang="en-US" sz="1050" dirty="0"/>
          </a:p>
        </p:txBody>
      </p:sp>
      <p:sp>
        <p:nvSpPr>
          <p:cNvPr id="37" name="Shape 34"/>
          <p:cNvSpPr/>
          <p:nvPr/>
        </p:nvSpPr>
        <p:spPr>
          <a:xfrm>
            <a:off x="8961120" y="1572768"/>
            <a:ext cx="201168" cy="256032"/>
          </a:xfrm>
          <a:prstGeom prst="rightArrow">
            <a:avLst/>
          </a:prstGeom>
          <a:solidFill>
            <a:srgbClr val="AFBDC8"/>
          </a:solidFill>
          <a:ln w="12700">
            <a:solidFill>
              <a:srgbClr val="AFBDC8"/>
            </a:solidFill>
            <a:prstDash val="solid"/>
          </a:ln>
        </p:spPr>
      </p:sp>
      <p:sp>
        <p:nvSpPr>
          <p:cNvPr id="38" name="Shape 35"/>
          <p:cNvSpPr/>
          <p:nvPr/>
        </p:nvSpPr>
        <p:spPr>
          <a:xfrm>
            <a:off x="9189720" y="1143000"/>
            <a:ext cx="2606040" cy="1143000"/>
          </a:xfrm>
          <a:prstGeom prst="roundRect">
            <a:avLst>
              <a:gd name="adj" fmla="val 4800"/>
            </a:avLst>
          </a:prstGeom>
          <a:solidFill>
            <a:srgbClr val="2F3A43"/>
          </a:solidFill>
          <a:ln w="12700">
            <a:solidFill>
              <a:srgbClr val="5FC98B"/>
            </a:solidFill>
            <a:prstDash val="solid"/>
          </a:ln>
        </p:spPr>
      </p:sp>
      <p:sp>
        <p:nvSpPr>
          <p:cNvPr id="39" name="Shape 36"/>
          <p:cNvSpPr/>
          <p:nvPr/>
        </p:nvSpPr>
        <p:spPr>
          <a:xfrm>
            <a:off x="9381744" y="1380744"/>
            <a:ext cx="384048" cy="384048"/>
          </a:xfrm>
          <a:prstGeom prst="ellipse">
            <a:avLst/>
          </a:prstGeom>
          <a:solidFill>
            <a:srgbClr val="5FC98B"/>
          </a:solidFill>
          <a:ln w="12700">
            <a:solidFill>
              <a:srgbClr val="5FC98B"/>
            </a:solidFill>
            <a:prstDash val="solid"/>
          </a:ln>
        </p:spPr>
      </p:sp>
      <p:sp>
        <p:nvSpPr>
          <p:cNvPr id="40" name="Text 37"/>
          <p:cNvSpPr txBox="1"/>
          <p:nvPr/>
        </p:nvSpPr>
        <p:spPr>
          <a:xfrm>
            <a:off x="9390888" y="1463040"/>
            <a:ext cx="365760" cy="237744"/>
          </a:xfrm>
          <a:prstGeom prst="rect">
            <a:avLst/>
          </a:prstGeom>
          <a:noFill/>
          <a:ln/>
        </p:spPr>
        <p:txBody>
          <a:bodyPr wrap="square" lIns="0" tIns="0" rIns="0" bIns="0" rtlCol="0" anchor="t"/>
          <a:lstStyle/>
          <a:p>
            <a:pPr algn="ctr" indent="0" marL="0">
              <a:buNone/>
            </a:pPr>
            <a:r>
              <a:rPr lang="en-US" sz="1100" b="1" dirty="0">
                <a:solidFill>
                  <a:srgbClr val="1F2830"/>
                </a:solidFill>
                <a:latin typeface="Arial" pitchFamily="34" charset="0"/>
                <a:ea typeface="Arial" pitchFamily="34" charset="-122"/>
                <a:cs typeface="Arial" pitchFamily="34" charset="-120"/>
              </a:rPr>
              <a:t>4</a:t>
            </a:r>
            <a:endParaRPr lang="en-US" sz="1100" dirty="0"/>
          </a:p>
        </p:txBody>
      </p:sp>
      <p:sp>
        <p:nvSpPr>
          <p:cNvPr id="41" name="Text 38"/>
          <p:cNvSpPr txBox="1"/>
          <p:nvPr/>
        </p:nvSpPr>
        <p:spPr>
          <a:xfrm>
            <a:off x="9902952" y="1417320"/>
            <a:ext cx="1737360" cy="274320"/>
          </a:xfrm>
          <a:prstGeom prst="rect">
            <a:avLst/>
          </a:prstGeom>
          <a:noFill/>
          <a:ln/>
        </p:spPr>
        <p:txBody>
          <a:bodyPr wrap="square" lIns="0" tIns="0" rIns="0" bIns="0" rtlCol="0" anchor="t"/>
          <a:lstStyle/>
          <a:p>
            <a:pPr indent="0" marL="0">
              <a:buNone/>
            </a:pPr>
            <a:r>
              <a:rPr lang="en-US" sz="1400" b="1" dirty="0">
                <a:solidFill>
                  <a:srgbClr val="5FC98B"/>
                </a:solidFill>
                <a:latin typeface="Arial" pitchFamily="34" charset="0"/>
                <a:ea typeface="Arial" pitchFamily="34" charset="-122"/>
                <a:cs typeface="Arial" pitchFamily="34" charset="-120"/>
              </a:rPr>
              <a:t>Held-out test</a:t>
            </a:r>
            <a:endParaRPr lang="en-US" sz="1400" dirty="0"/>
          </a:p>
        </p:txBody>
      </p:sp>
      <p:sp>
        <p:nvSpPr>
          <p:cNvPr id="42" name="Text 39"/>
          <p:cNvSpPr txBox="1"/>
          <p:nvPr/>
        </p:nvSpPr>
        <p:spPr>
          <a:xfrm>
            <a:off x="9902952" y="1719072"/>
            <a:ext cx="1783080" cy="274320"/>
          </a:xfrm>
          <a:prstGeom prst="rect">
            <a:avLst/>
          </a:prstGeom>
          <a:noFill/>
          <a:ln/>
        </p:spPr>
        <p:txBody>
          <a:bodyPr wrap="square" lIns="0" tIns="0" rIns="0" bIns="0" rtlCol="0" anchor="t"/>
          <a:lstStyle/>
          <a:p>
            <a:pPr indent="0" marL="0">
              <a:buNone/>
            </a:pPr>
            <a:r>
              <a:rPr lang="en-US" sz="1050" dirty="0">
                <a:solidFill>
                  <a:srgbClr val="AFBDC8"/>
                </a:solidFill>
                <a:latin typeface="Arial" pitchFamily="34" charset="0"/>
                <a:ea typeface="Arial" pitchFamily="34" charset="-122"/>
                <a:cs typeface="Arial" pitchFamily="34" charset="-120"/>
              </a:rPr>
              <a:t>evaluate once</a:t>
            </a:r>
            <a:endParaRPr lang="en-US" sz="1050" dirty="0"/>
          </a:p>
        </p:txBody>
      </p:sp>
      <p:sp>
        <p:nvSpPr>
          <p:cNvPr id="43" name="Shape 40"/>
          <p:cNvSpPr/>
          <p:nvPr/>
        </p:nvSpPr>
        <p:spPr>
          <a:xfrm>
            <a:off x="548640" y="2514600"/>
            <a:ext cx="5486400" cy="1417320"/>
          </a:xfrm>
          <a:prstGeom prst="roundRect">
            <a:avLst>
              <a:gd name="adj" fmla="val 3871"/>
            </a:avLst>
          </a:prstGeom>
          <a:solidFill>
            <a:srgbClr val="2F3A43"/>
          </a:solidFill>
          <a:ln w="12700">
            <a:solidFill>
              <a:srgbClr val="5A6772"/>
            </a:solidFill>
            <a:prstDash val="solid"/>
          </a:ln>
        </p:spPr>
      </p:sp>
      <p:sp>
        <p:nvSpPr>
          <p:cNvPr id="44" name="Text 41"/>
          <p:cNvSpPr txBox="1"/>
          <p:nvPr/>
        </p:nvSpPr>
        <p:spPr>
          <a:xfrm>
            <a:off x="868680" y="2697480"/>
            <a:ext cx="2103120" cy="594360"/>
          </a:xfrm>
          <a:prstGeom prst="rect">
            <a:avLst/>
          </a:prstGeom>
          <a:noFill/>
          <a:ln/>
        </p:spPr>
        <p:txBody>
          <a:bodyPr wrap="square" lIns="0" tIns="0" rIns="0" bIns="0" rtlCol="0" anchor="t"/>
          <a:lstStyle/>
          <a:p>
            <a:pPr indent="0" marL="0">
              <a:buNone/>
            </a:pPr>
            <a:r>
              <a:rPr lang="en-US" sz="3600" b="1" dirty="0">
                <a:solidFill>
                  <a:srgbClr val="35D6E8"/>
                </a:solidFill>
                <a:latin typeface="Arial" pitchFamily="34" charset="0"/>
                <a:ea typeface="Arial" pitchFamily="34" charset="-122"/>
                <a:cs typeface="Arial" pitchFamily="34" charset="-120"/>
              </a:rPr>
              <a:t>432</a:t>
            </a:r>
            <a:endParaRPr lang="en-US" sz="3600" dirty="0"/>
          </a:p>
        </p:txBody>
      </p:sp>
      <p:sp>
        <p:nvSpPr>
          <p:cNvPr id="45" name="Text 42"/>
          <p:cNvSpPr txBox="1"/>
          <p:nvPr/>
        </p:nvSpPr>
        <p:spPr>
          <a:xfrm>
            <a:off x="868680" y="3291840"/>
            <a:ext cx="2103120" cy="502920"/>
          </a:xfrm>
          <a:prstGeom prst="rect">
            <a:avLst/>
          </a:prstGeom>
          <a:noFill/>
          <a:ln/>
        </p:spPr>
        <p:txBody>
          <a:bodyPr wrap="square" lIns="0" tIns="0" rIns="0" bIns="0" rtlCol="0" anchor="t"/>
          <a:lstStyle/>
          <a:p>
            <a:pPr indent="0" marL="0">
              <a:lnSpc>
                <a:spcPct val="115000"/>
              </a:lnSpc>
              <a:buNone/>
            </a:pPr>
            <a:r>
              <a:rPr lang="en-US" sz="1050" dirty="0">
                <a:solidFill>
                  <a:srgbClr val="AFBDC8"/>
                </a:solidFill>
                <a:latin typeface="Arial" pitchFamily="34" charset="0"/>
                <a:ea typeface="Arial" pitchFamily="34" charset="-122"/>
                <a:cs typeface="Arial" pitchFamily="34" charset="-120"/>
              </a:rPr>
              <a:t>clean capability</a:t>
            </a:r>
            <a:endParaRPr lang="en-US" sz="1050" dirty="0"/>
          </a:p>
          <a:p>
            <a:pPr indent="0" marL="0">
              <a:lnSpc>
                <a:spcPct val="115000"/>
              </a:lnSpc>
              <a:buNone/>
            </a:pPr>
            <a:r>
              <a:rPr lang="en-US" sz="1050" dirty="0">
                <a:solidFill>
                  <a:srgbClr val="AFBDC8"/>
                </a:solidFill>
                <a:latin typeface="Arial" pitchFamily="34" charset="0"/>
                <a:ea typeface="Arial" pitchFamily="34" charset="-122"/>
                <a:cs typeface="Arial" pitchFamily="34" charset="-120"/>
              </a:rPr>
              <a:t>episode evaluations</a:t>
            </a:r>
            <a:endParaRPr lang="en-US" sz="1050" dirty="0"/>
          </a:p>
        </p:txBody>
      </p:sp>
      <p:sp>
        <p:nvSpPr>
          <p:cNvPr id="46" name="Text 43"/>
          <p:cNvSpPr txBox="1"/>
          <p:nvPr/>
        </p:nvSpPr>
        <p:spPr>
          <a:xfrm>
            <a:off x="3291840" y="2697480"/>
            <a:ext cx="2468880" cy="594360"/>
          </a:xfrm>
          <a:prstGeom prst="rect">
            <a:avLst/>
          </a:prstGeom>
          <a:noFill/>
          <a:ln/>
        </p:spPr>
        <p:txBody>
          <a:bodyPr wrap="square" lIns="0" tIns="0" rIns="0" bIns="0" rtlCol="0" anchor="t"/>
          <a:lstStyle/>
          <a:p>
            <a:pPr indent="0" marL="0">
              <a:buNone/>
            </a:pPr>
            <a:r>
              <a:rPr lang="en-US" sz="3600" b="1" dirty="0">
                <a:solidFill>
                  <a:srgbClr val="F0A030"/>
                </a:solidFill>
                <a:latin typeface="Arial" pitchFamily="34" charset="0"/>
                <a:ea typeface="Arial" pitchFamily="34" charset="-122"/>
                <a:cs typeface="Arial" pitchFamily="34" charset="-120"/>
              </a:rPr>
              <a:t>1,440</a:t>
            </a:r>
            <a:endParaRPr lang="en-US" sz="3600" dirty="0"/>
          </a:p>
        </p:txBody>
      </p:sp>
      <p:sp>
        <p:nvSpPr>
          <p:cNvPr id="47" name="Text 44"/>
          <p:cNvSpPr txBox="1"/>
          <p:nvPr/>
        </p:nvSpPr>
        <p:spPr>
          <a:xfrm>
            <a:off x="3291840" y="3291840"/>
            <a:ext cx="2468880" cy="502920"/>
          </a:xfrm>
          <a:prstGeom prst="rect">
            <a:avLst/>
          </a:prstGeom>
          <a:noFill/>
          <a:ln/>
        </p:spPr>
        <p:txBody>
          <a:bodyPr wrap="square" lIns="0" tIns="0" rIns="0" bIns="0" rtlCol="0" anchor="t"/>
          <a:lstStyle/>
          <a:p>
            <a:pPr indent="0" marL="0">
              <a:lnSpc>
                <a:spcPct val="115000"/>
              </a:lnSpc>
              <a:buNone/>
            </a:pPr>
            <a:r>
              <a:rPr lang="en-US" sz="1050" dirty="0">
                <a:solidFill>
                  <a:srgbClr val="AFBDC8"/>
                </a:solidFill>
                <a:latin typeface="Arial" pitchFamily="34" charset="0"/>
                <a:ea typeface="Arial" pitchFamily="34" charset="-122"/>
                <a:cs typeface="Arial" pitchFamily="34" charset="-120"/>
              </a:rPr>
              <a:t>faithfulness sweep</a:t>
            </a:r>
            <a:endParaRPr lang="en-US" sz="1050" dirty="0"/>
          </a:p>
          <a:p>
            <a:pPr indent="0" marL="0">
              <a:lnSpc>
                <a:spcPct val="115000"/>
              </a:lnSpc>
              <a:buNone/>
            </a:pPr>
            <a:r>
              <a:rPr lang="en-US" sz="1050" dirty="0">
                <a:solidFill>
                  <a:srgbClr val="AFBDC8"/>
                </a:solidFill>
                <a:latin typeface="Arial" pitchFamily="34" charset="0"/>
                <a:ea typeface="Arial" pitchFamily="34" charset="-122"/>
                <a:cs typeface="Arial" pitchFamily="34" charset="-120"/>
              </a:rPr>
              <a:t>episodes</a:t>
            </a:r>
            <a:endParaRPr lang="en-US" sz="1050" dirty="0"/>
          </a:p>
        </p:txBody>
      </p:sp>
      <p:sp>
        <p:nvSpPr>
          <p:cNvPr id="48" name="Shape 45"/>
          <p:cNvSpPr/>
          <p:nvPr/>
        </p:nvSpPr>
        <p:spPr>
          <a:xfrm>
            <a:off x="548640" y="4114800"/>
            <a:ext cx="5486400" cy="1280160"/>
          </a:xfrm>
          <a:prstGeom prst="roundRect">
            <a:avLst>
              <a:gd name="adj" fmla="val 4286"/>
            </a:avLst>
          </a:prstGeom>
          <a:solidFill>
            <a:srgbClr val="2F3A43"/>
          </a:solidFill>
          <a:ln w="12700">
            <a:solidFill>
              <a:srgbClr val="5A6772"/>
            </a:solidFill>
            <a:prstDash val="solid"/>
          </a:ln>
        </p:spPr>
      </p:sp>
      <p:sp>
        <p:nvSpPr>
          <p:cNvPr id="49" name="Text 46"/>
          <p:cNvSpPr txBox="1"/>
          <p:nvPr/>
        </p:nvSpPr>
        <p:spPr>
          <a:xfrm>
            <a:off x="822960" y="4297680"/>
            <a:ext cx="4937760" cy="27432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10,000 permutations · 2,000 bootstrap draws · 95% intervals</a:t>
            </a:r>
            <a:endParaRPr lang="en-US" sz="1150" dirty="0"/>
          </a:p>
        </p:txBody>
      </p:sp>
      <p:sp>
        <p:nvSpPr>
          <p:cNvPr id="50" name="Text 47"/>
          <p:cNvSpPr txBox="1"/>
          <p:nvPr/>
        </p:nvSpPr>
        <p:spPr>
          <a:xfrm>
            <a:off x="822960" y="4617720"/>
            <a:ext cx="4937760" cy="274320"/>
          </a:xfrm>
          <a:prstGeom prst="rect">
            <a:avLst/>
          </a:prstGeom>
          <a:noFill/>
          <a:ln/>
        </p:spPr>
        <p:txBody>
          <a:bodyPr wrap="square" lIns="0" tIns="0" rIns="0" bIns="0" rtlCol="0" anchor="t"/>
          <a:lstStyle/>
          <a:p>
            <a:pPr indent="0" marL="0">
              <a:buNone/>
            </a:pPr>
            <a:r>
              <a:rPr lang="en-US" sz="1150" dirty="0">
                <a:solidFill>
                  <a:srgbClr val="AFBDC8"/>
                </a:solidFill>
                <a:latin typeface="Arial" pitchFamily="34" charset="0"/>
                <a:ea typeface="Arial" pitchFamily="34" charset="-122"/>
                <a:cs typeface="Arial" pitchFamily="34" charset="-120"/>
              </a:rPr>
              <a:t>Episode blocks are the resampling unit.</a:t>
            </a:r>
            <a:endParaRPr lang="en-US" sz="1150" dirty="0"/>
          </a:p>
        </p:txBody>
      </p:sp>
      <p:sp>
        <p:nvSpPr>
          <p:cNvPr id="51" name="Text 48"/>
          <p:cNvSpPr txBox="1"/>
          <p:nvPr/>
        </p:nvSpPr>
        <p:spPr>
          <a:xfrm>
            <a:off x="822960" y="4937760"/>
            <a:ext cx="4937760" cy="274320"/>
          </a:xfrm>
          <a:prstGeom prst="rect">
            <a:avLst/>
          </a:prstGeom>
          <a:noFill/>
          <a:ln/>
        </p:spPr>
        <p:txBody>
          <a:bodyPr wrap="square" lIns="0" tIns="0" rIns="0" bIns="0" rtlCol="0" anchor="t"/>
          <a:lstStyle/>
          <a:p>
            <a:pPr indent="0" marL="0">
              <a:buNone/>
            </a:pPr>
            <a:r>
              <a:rPr lang="en-US" sz="1150" dirty="0">
                <a:solidFill>
                  <a:srgbClr val="AFBDC8"/>
                </a:solidFill>
                <a:latin typeface="Arial" pitchFamily="34" charset="0"/>
                <a:ea typeface="Arial" pitchFamily="34" charset="-122"/>
                <a:cs typeface="Arial" pitchFamily="34" charset="-120"/>
              </a:rPr>
              <a:t>Holm adjustment within each trained policy.</a:t>
            </a:r>
            <a:endParaRPr lang="en-US" sz="1150" dirty="0"/>
          </a:p>
        </p:txBody>
      </p:sp>
      <p:sp>
        <p:nvSpPr>
          <p:cNvPr id="52" name="Shape 49"/>
          <p:cNvSpPr/>
          <p:nvPr/>
        </p:nvSpPr>
        <p:spPr>
          <a:xfrm>
            <a:off x="6355080" y="2514600"/>
            <a:ext cx="5285232" cy="3566160"/>
          </a:xfrm>
          <a:prstGeom prst="roundRect">
            <a:avLst>
              <a:gd name="adj" fmla="val 1538"/>
            </a:avLst>
          </a:prstGeom>
          <a:solidFill>
            <a:srgbClr val="2F3A43"/>
          </a:solidFill>
          <a:ln w="12700">
            <a:solidFill>
              <a:srgbClr val="5A6772"/>
            </a:solidFill>
            <a:prstDash val="solid"/>
          </a:ln>
        </p:spPr>
      </p:sp>
      <p:sp>
        <p:nvSpPr>
          <p:cNvPr id="53" name="Text 50"/>
          <p:cNvSpPr txBox="1"/>
          <p:nvPr/>
        </p:nvSpPr>
        <p:spPr>
          <a:xfrm>
            <a:off x="6583680" y="2679192"/>
            <a:ext cx="4846320" cy="274320"/>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Declared before evaluation</a:t>
            </a:r>
            <a:endParaRPr lang="en-US" sz="1250" dirty="0"/>
          </a:p>
        </p:txBody>
      </p:sp>
      <p:sp>
        <p:nvSpPr>
          <p:cNvPr id="54" name="Shape 51"/>
          <p:cNvSpPr/>
          <p:nvPr/>
        </p:nvSpPr>
        <p:spPr>
          <a:xfrm>
            <a:off x="6620256" y="3081528"/>
            <a:ext cx="292608" cy="292608"/>
          </a:xfrm>
          <a:prstGeom prst="ellipse">
            <a:avLst/>
          </a:prstGeom>
          <a:solidFill>
            <a:srgbClr val="35D6E8"/>
          </a:solidFill>
          <a:ln w="12700">
            <a:solidFill>
              <a:srgbClr val="35D6E8"/>
            </a:solidFill>
            <a:prstDash val="solid"/>
          </a:ln>
        </p:spPr>
      </p:sp>
      <p:sp>
        <p:nvSpPr>
          <p:cNvPr id="55" name="Text 52"/>
          <p:cNvSpPr txBox="1"/>
          <p:nvPr/>
        </p:nvSpPr>
        <p:spPr>
          <a:xfrm>
            <a:off x="6583680" y="3127248"/>
            <a:ext cx="365760" cy="219456"/>
          </a:xfrm>
          <a:prstGeom prst="rect">
            <a:avLst/>
          </a:prstGeom>
          <a:noFill/>
          <a:ln/>
        </p:spPr>
        <p:txBody>
          <a:bodyPr wrap="square" lIns="0" tIns="0" rIns="0" bIns="0" rtlCol="0" anchor="t"/>
          <a:lstStyle/>
          <a:p>
            <a:pPr algn="ctr" indent="0" marL="0">
              <a:buNone/>
            </a:pPr>
            <a:r>
              <a:rPr lang="en-US" sz="1000" b="1" dirty="0">
                <a:solidFill>
                  <a:srgbClr val="1F2830"/>
                </a:solidFill>
                <a:latin typeface="Arial" pitchFamily="34" charset="0"/>
                <a:ea typeface="Arial" pitchFamily="34" charset="-122"/>
                <a:cs typeface="Arial" pitchFamily="34" charset="-120"/>
              </a:rPr>
              <a:t>H1</a:t>
            </a:r>
            <a:endParaRPr lang="en-US" sz="1000" dirty="0"/>
          </a:p>
        </p:txBody>
      </p:sp>
      <p:sp>
        <p:nvSpPr>
          <p:cNvPr id="56" name="Text 53"/>
          <p:cNvSpPr txBox="1"/>
          <p:nvPr/>
        </p:nvSpPr>
        <p:spPr>
          <a:xfrm>
            <a:off x="7086600" y="3090672"/>
            <a:ext cx="4297680" cy="274320"/>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DEF falls as duration rises</a:t>
            </a:r>
            <a:endParaRPr lang="en-US" sz="1150" dirty="0"/>
          </a:p>
        </p:txBody>
      </p:sp>
      <p:sp>
        <p:nvSpPr>
          <p:cNvPr id="57" name="Shape 54"/>
          <p:cNvSpPr/>
          <p:nvPr/>
        </p:nvSpPr>
        <p:spPr>
          <a:xfrm>
            <a:off x="6620256" y="3538728"/>
            <a:ext cx="292608" cy="292608"/>
          </a:xfrm>
          <a:prstGeom prst="ellipse">
            <a:avLst/>
          </a:prstGeom>
          <a:solidFill>
            <a:srgbClr val="AFBDC8"/>
          </a:solidFill>
          <a:ln w="12700">
            <a:solidFill>
              <a:srgbClr val="AFBDC8"/>
            </a:solidFill>
            <a:prstDash val="solid"/>
          </a:ln>
        </p:spPr>
      </p:sp>
      <p:sp>
        <p:nvSpPr>
          <p:cNvPr id="58" name="Text 55"/>
          <p:cNvSpPr txBox="1"/>
          <p:nvPr/>
        </p:nvSpPr>
        <p:spPr>
          <a:xfrm>
            <a:off x="6583680" y="3584448"/>
            <a:ext cx="365760" cy="219456"/>
          </a:xfrm>
          <a:prstGeom prst="rect">
            <a:avLst/>
          </a:prstGeom>
          <a:noFill/>
          <a:ln/>
        </p:spPr>
        <p:txBody>
          <a:bodyPr wrap="square" lIns="0" tIns="0" rIns="0" bIns="0" rtlCol="0" anchor="t"/>
          <a:lstStyle/>
          <a:p>
            <a:pPr algn="ctr" indent="0" marL="0">
              <a:buNone/>
            </a:pPr>
            <a:r>
              <a:rPr lang="en-US" sz="1000" b="1" dirty="0">
                <a:solidFill>
                  <a:srgbClr val="1F2830"/>
                </a:solidFill>
                <a:latin typeface="Arial" pitchFamily="34" charset="0"/>
                <a:ea typeface="Arial" pitchFamily="34" charset="-122"/>
                <a:cs typeface="Arial" pitchFamily="34" charset="-120"/>
              </a:rPr>
              <a:t>H2</a:t>
            </a:r>
            <a:endParaRPr lang="en-US" sz="1000" dirty="0"/>
          </a:p>
        </p:txBody>
      </p:sp>
      <p:sp>
        <p:nvSpPr>
          <p:cNvPr id="59" name="Text 56"/>
          <p:cNvSpPr txBox="1"/>
          <p:nvPr/>
        </p:nvSpPr>
        <p:spPr>
          <a:xfrm>
            <a:off x="7086600" y="3547872"/>
            <a:ext cx="4297680" cy="274320"/>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Faithfulness falls faster than performance</a:t>
            </a:r>
            <a:endParaRPr lang="en-US" sz="1150" dirty="0"/>
          </a:p>
        </p:txBody>
      </p:sp>
      <p:sp>
        <p:nvSpPr>
          <p:cNvPr id="60" name="Shape 57"/>
          <p:cNvSpPr/>
          <p:nvPr/>
        </p:nvSpPr>
        <p:spPr>
          <a:xfrm>
            <a:off x="6620256" y="3995928"/>
            <a:ext cx="292608" cy="292608"/>
          </a:xfrm>
          <a:prstGeom prst="ellipse">
            <a:avLst/>
          </a:prstGeom>
          <a:solidFill>
            <a:srgbClr val="F0A030"/>
          </a:solidFill>
          <a:ln w="12700">
            <a:solidFill>
              <a:srgbClr val="F0A030"/>
            </a:solidFill>
            <a:prstDash val="solid"/>
          </a:ln>
        </p:spPr>
      </p:sp>
      <p:sp>
        <p:nvSpPr>
          <p:cNvPr id="61" name="Text 58"/>
          <p:cNvSpPr txBox="1"/>
          <p:nvPr/>
        </p:nvSpPr>
        <p:spPr>
          <a:xfrm>
            <a:off x="6583680" y="4041648"/>
            <a:ext cx="365760" cy="219456"/>
          </a:xfrm>
          <a:prstGeom prst="rect">
            <a:avLst/>
          </a:prstGeom>
          <a:noFill/>
          <a:ln/>
        </p:spPr>
        <p:txBody>
          <a:bodyPr wrap="square" lIns="0" tIns="0" rIns="0" bIns="0" rtlCol="0" anchor="t"/>
          <a:lstStyle/>
          <a:p>
            <a:pPr algn="ctr" indent="0" marL="0">
              <a:buNone/>
            </a:pPr>
            <a:r>
              <a:rPr lang="en-US" sz="1000" b="1" dirty="0">
                <a:solidFill>
                  <a:srgbClr val="1F2830"/>
                </a:solidFill>
                <a:latin typeface="Arial" pitchFamily="34" charset="0"/>
                <a:ea typeface="Arial" pitchFamily="34" charset="-122"/>
                <a:cs typeface="Arial" pitchFamily="34" charset="-120"/>
              </a:rPr>
              <a:t>H3</a:t>
            </a:r>
            <a:endParaRPr lang="en-US" sz="1000" dirty="0"/>
          </a:p>
        </p:txBody>
      </p:sp>
      <p:sp>
        <p:nvSpPr>
          <p:cNvPr id="62" name="Text 59"/>
          <p:cNvSpPr txBox="1"/>
          <p:nvPr/>
        </p:nvSpPr>
        <p:spPr>
          <a:xfrm>
            <a:off x="7086600" y="4005072"/>
            <a:ext cx="4297680" cy="274320"/>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WAMSN rises as duration rises</a:t>
            </a:r>
            <a:endParaRPr lang="en-US" sz="1150" dirty="0"/>
          </a:p>
        </p:txBody>
      </p:sp>
      <p:sp>
        <p:nvSpPr>
          <p:cNvPr id="63" name="Shape 60"/>
          <p:cNvSpPr/>
          <p:nvPr/>
        </p:nvSpPr>
        <p:spPr>
          <a:xfrm>
            <a:off x="6620256" y="4453128"/>
            <a:ext cx="292608" cy="292608"/>
          </a:xfrm>
          <a:prstGeom prst="ellipse">
            <a:avLst/>
          </a:prstGeom>
          <a:solidFill>
            <a:srgbClr val="35D6E8"/>
          </a:solidFill>
          <a:ln w="12700">
            <a:solidFill>
              <a:srgbClr val="35D6E8"/>
            </a:solidFill>
            <a:prstDash val="solid"/>
          </a:ln>
        </p:spPr>
      </p:sp>
      <p:sp>
        <p:nvSpPr>
          <p:cNvPr id="64" name="Text 61"/>
          <p:cNvSpPr txBox="1"/>
          <p:nvPr/>
        </p:nvSpPr>
        <p:spPr>
          <a:xfrm>
            <a:off x="6583680" y="4498848"/>
            <a:ext cx="365760" cy="219456"/>
          </a:xfrm>
          <a:prstGeom prst="rect">
            <a:avLst/>
          </a:prstGeom>
          <a:noFill/>
          <a:ln/>
        </p:spPr>
        <p:txBody>
          <a:bodyPr wrap="square" lIns="0" tIns="0" rIns="0" bIns="0" rtlCol="0" anchor="t"/>
          <a:lstStyle/>
          <a:p>
            <a:pPr algn="ctr" indent="0" marL="0">
              <a:buNone/>
            </a:pPr>
            <a:r>
              <a:rPr lang="en-US" sz="1000" b="1" dirty="0">
                <a:solidFill>
                  <a:srgbClr val="1F2830"/>
                </a:solidFill>
                <a:latin typeface="Arial" pitchFamily="34" charset="0"/>
                <a:ea typeface="Arial" pitchFamily="34" charset="-122"/>
                <a:cs typeface="Arial" pitchFamily="34" charset="-120"/>
              </a:rPr>
              <a:t>H4</a:t>
            </a:r>
            <a:endParaRPr lang="en-US" sz="1000" dirty="0"/>
          </a:p>
        </p:txBody>
      </p:sp>
      <p:sp>
        <p:nvSpPr>
          <p:cNvPr id="65" name="Text 62"/>
          <p:cNvSpPr txBox="1"/>
          <p:nvPr/>
        </p:nvSpPr>
        <p:spPr>
          <a:xfrm>
            <a:off x="7086600" y="4462272"/>
            <a:ext cx="4297680" cy="274320"/>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Higher WAMSN, lower DEF</a:t>
            </a:r>
            <a:endParaRPr lang="en-US" sz="1150" dirty="0"/>
          </a:p>
        </p:txBody>
      </p:sp>
      <p:sp>
        <p:nvSpPr>
          <p:cNvPr id="66" name="Shape 63"/>
          <p:cNvSpPr/>
          <p:nvPr/>
        </p:nvSpPr>
        <p:spPr>
          <a:xfrm>
            <a:off x="6620256" y="4910328"/>
            <a:ext cx="292608" cy="292608"/>
          </a:xfrm>
          <a:prstGeom prst="ellipse">
            <a:avLst/>
          </a:prstGeom>
          <a:solidFill>
            <a:srgbClr val="AFBDC8"/>
          </a:solidFill>
          <a:ln w="12700">
            <a:solidFill>
              <a:srgbClr val="AFBDC8"/>
            </a:solidFill>
            <a:prstDash val="solid"/>
          </a:ln>
        </p:spPr>
      </p:sp>
      <p:sp>
        <p:nvSpPr>
          <p:cNvPr id="67" name="Text 64"/>
          <p:cNvSpPr txBox="1"/>
          <p:nvPr/>
        </p:nvSpPr>
        <p:spPr>
          <a:xfrm>
            <a:off x="6583680" y="4956048"/>
            <a:ext cx="365760" cy="219456"/>
          </a:xfrm>
          <a:prstGeom prst="rect">
            <a:avLst/>
          </a:prstGeom>
          <a:noFill/>
          <a:ln/>
        </p:spPr>
        <p:txBody>
          <a:bodyPr wrap="square" lIns="0" tIns="0" rIns="0" bIns="0" rtlCol="0" anchor="t"/>
          <a:lstStyle/>
          <a:p>
            <a:pPr algn="ctr" indent="0" marL="0">
              <a:buNone/>
            </a:pPr>
            <a:r>
              <a:rPr lang="en-US" sz="1000" b="1" dirty="0">
                <a:solidFill>
                  <a:srgbClr val="1F2830"/>
                </a:solidFill>
                <a:latin typeface="Arial" pitchFamily="34" charset="0"/>
                <a:ea typeface="Arial" pitchFamily="34" charset="-122"/>
                <a:cs typeface="Arial" pitchFamily="34" charset="-120"/>
              </a:rPr>
              <a:t>H5</a:t>
            </a:r>
            <a:endParaRPr lang="en-US" sz="1000" dirty="0"/>
          </a:p>
        </p:txBody>
      </p:sp>
      <p:sp>
        <p:nvSpPr>
          <p:cNvPr id="68" name="Text 65"/>
          <p:cNvSpPr txBox="1"/>
          <p:nvPr/>
        </p:nvSpPr>
        <p:spPr>
          <a:xfrm>
            <a:off x="7086600" y="4919472"/>
            <a:ext cx="4297680" cy="274320"/>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Outage training weakens H1 / H4</a:t>
            </a:r>
            <a:endParaRPr lang="en-US" sz="1150" dirty="0"/>
          </a:p>
        </p:txBody>
      </p:sp>
      <p:sp>
        <p:nvSpPr>
          <p:cNvPr id="69" name="Text 66"/>
          <p:cNvSpPr txBox="1"/>
          <p:nvPr/>
        </p:nvSpPr>
        <p:spPr>
          <a:xfrm>
            <a:off x="11365992" y="6382512"/>
            <a:ext cx="365760" cy="274320"/>
          </a:xfrm>
          <a:prstGeom prst="rect">
            <a:avLst/>
          </a:prstGeom>
          <a:noFill/>
          <a:ln/>
        </p:spPr>
        <p:txBody>
          <a:bodyPr wrap="square" lIns="0" tIns="0" rIns="0" bIns="0" rtlCol="0" anchor="ctr"/>
          <a:lstStyle/>
          <a:p>
            <a:pPr algn="r" indent="0" marL="0">
              <a:buNone/>
            </a:pPr>
            <a:r>
              <a:rPr lang="en-US" sz="900" dirty="0">
                <a:solidFill>
                  <a:srgbClr val="7C8B96"/>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9454F"/>
        </a:solidFill>
      </p:bgPr>
    </p:bg>
    <p:spTree>
      <p:nvGrpSpPr>
        <p:cNvPr id="1" name=""/>
        <p:cNvGrpSpPr/>
        <p:nvPr/>
      </p:nvGrpSpPr>
      <p:grpSpPr>
        <a:xfrm>
          <a:off x="0" y="0"/>
          <a:ext cx="0" cy="0"/>
          <a:chOff x="0" y="0"/>
          <a:chExt cx="0" cy="0"/>
        </a:xfrm>
      </p:grpSpPr>
      <p:sp>
        <p:nvSpPr>
          <p:cNvPr id="3" name="Shape 0"/>
          <p:cNvSpPr/>
          <p:nvPr/>
        </p:nvSpPr>
        <p:spPr>
          <a:xfrm>
            <a:off x="201168" y="201168"/>
            <a:ext cx="384048" cy="0"/>
          </a:xfrm>
          <a:prstGeom prst="line">
            <a:avLst/>
          </a:prstGeom>
          <a:noFill/>
          <a:ln w="12700">
            <a:solidFill>
              <a:srgbClr val="66757F"/>
            </a:solidFill>
            <a:prstDash val="solid"/>
          </a:ln>
        </p:spPr>
      </p:sp>
      <p:sp>
        <p:nvSpPr>
          <p:cNvPr id="4" name="Shape 1"/>
          <p:cNvSpPr/>
          <p:nvPr/>
        </p:nvSpPr>
        <p:spPr>
          <a:xfrm>
            <a:off x="201168" y="201168"/>
            <a:ext cx="0" cy="384048"/>
          </a:xfrm>
          <a:prstGeom prst="line">
            <a:avLst/>
          </a:prstGeom>
          <a:noFill/>
          <a:ln w="12700">
            <a:solidFill>
              <a:srgbClr val="66757F"/>
            </a:solidFill>
            <a:prstDash val="solid"/>
          </a:ln>
        </p:spPr>
      </p:sp>
      <p:sp>
        <p:nvSpPr>
          <p:cNvPr id="5" name="Shape 2"/>
          <p:cNvSpPr/>
          <p:nvPr/>
        </p:nvSpPr>
        <p:spPr>
          <a:xfrm flipH="1">
            <a:off x="11603736" y="201168"/>
            <a:ext cx="384048" cy="0"/>
          </a:xfrm>
          <a:prstGeom prst="line">
            <a:avLst/>
          </a:prstGeom>
          <a:noFill/>
          <a:ln w="12700">
            <a:solidFill>
              <a:srgbClr val="66757F"/>
            </a:solidFill>
            <a:prstDash val="solid"/>
          </a:ln>
        </p:spPr>
      </p:sp>
      <p:sp>
        <p:nvSpPr>
          <p:cNvPr id="6" name="Shape 3"/>
          <p:cNvSpPr/>
          <p:nvPr/>
        </p:nvSpPr>
        <p:spPr>
          <a:xfrm>
            <a:off x="11987784" y="201168"/>
            <a:ext cx="0" cy="384048"/>
          </a:xfrm>
          <a:prstGeom prst="line">
            <a:avLst/>
          </a:prstGeom>
          <a:noFill/>
          <a:ln w="12700">
            <a:solidFill>
              <a:srgbClr val="66757F"/>
            </a:solidFill>
            <a:prstDash val="solid"/>
          </a:ln>
        </p:spPr>
      </p:sp>
      <p:sp>
        <p:nvSpPr>
          <p:cNvPr id="7" name="Shape 4"/>
          <p:cNvSpPr/>
          <p:nvPr/>
        </p:nvSpPr>
        <p:spPr>
          <a:xfrm>
            <a:off x="201168" y="6656832"/>
            <a:ext cx="384048" cy="0"/>
          </a:xfrm>
          <a:prstGeom prst="line">
            <a:avLst/>
          </a:prstGeom>
          <a:noFill/>
          <a:ln w="12700">
            <a:solidFill>
              <a:srgbClr val="66757F"/>
            </a:solidFill>
            <a:prstDash val="solid"/>
          </a:ln>
        </p:spPr>
      </p:sp>
      <p:sp>
        <p:nvSpPr>
          <p:cNvPr id="8" name="Shape 5"/>
          <p:cNvSpPr/>
          <p:nvPr/>
        </p:nvSpPr>
        <p:spPr>
          <a:xfrm flipV="1">
            <a:off x="201168" y="6272784"/>
            <a:ext cx="0" cy="384048"/>
          </a:xfrm>
          <a:prstGeom prst="line">
            <a:avLst/>
          </a:prstGeom>
          <a:noFill/>
          <a:ln w="12700">
            <a:solidFill>
              <a:srgbClr val="66757F"/>
            </a:solidFill>
            <a:prstDash val="solid"/>
          </a:ln>
        </p:spPr>
      </p:sp>
      <p:sp>
        <p:nvSpPr>
          <p:cNvPr id="9" name="Shape 6"/>
          <p:cNvSpPr/>
          <p:nvPr/>
        </p:nvSpPr>
        <p:spPr>
          <a:xfrm flipH="1">
            <a:off x="11603736" y="6656832"/>
            <a:ext cx="384048" cy="0"/>
          </a:xfrm>
          <a:prstGeom prst="line">
            <a:avLst/>
          </a:prstGeom>
          <a:noFill/>
          <a:ln w="12700">
            <a:solidFill>
              <a:srgbClr val="66757F"/>
            </a:solidFill>
            <a:prstDash val="solid"/>
          </a:ln>
        </p:spPr>
      </p:sp>
      <p:sp>
        <p:nvSpPr>
          <p:cNvPr id="10" name="Shape 7"/>
          <p:cNvSpPr/>
          <p:nvPr/>
        </p:nvSpPr>
        <p:spPr>
          <a:xfrm flipV="1">
            <a:off x="11987784" y="6272784"/>
            <a:ext cx="0" cy="384048"/>
          </a:xfrm>
          <a:prstGeom prst="line">
            <a:avLst/>
          </a:prstGeom>
          <a:noFill/>
          <a:ln w="12700">
            <a:solidFill>
              <a:srgbClr val="66757F"/>
            </a:solidFill>
            <a:prstDash val="solid"/>
          </a:ln>
        </p:spPr>
      </p:sp>
      <p:sp>
        <p:nvSpPr>
          <p:cNvPr id="11" name="Shape 8"/>
          <p:cNvSpPr/>
          <p:nvPr/>
        </p:nvSpPr>
        <p:spPr>
          <a:xfrm>
            <a:off x="6003036" y="182880"/>
            <a:ext cx="182880" cy="0"/>
          </a:xfrm>
          <a:prstGeom prst="line">
            <a:avLst/>
          </a:prstGeom>
          <a:noFill/>
          <a:ln w="12700">
            <a:solidFill>
              <a:srgbClr val="66757F"/>
            </a:solidFill>
            <a:prstDash val="solid"/>
          </a:ln>
        </p:spPr>
      </p:sp>
      <p:sp>
        <p:nvSpPr>
          <p:cNvPr id="12" name="Shape 9"/>
          <p:cNvSpPr/>
          <p:nvPr/>
        </p:nvSpPr>
        <p:spPr>
          <a:xfrm>
            <a:off x="6094476" y="91440"/>
            <a:ext cx="0" cy="182880"/>
          </a:xfrm>
          <a:prstGeom prst="line">
            <a:avLst/>
          </a:prstGeom>
          <a:noFill/>
          <a:ln w="12700">
            <a:solidFill>
              <a:srgbClr val="66757F"/>
            </a:solidFill>
            <a:prstDash val="solid"/>
          </a:ln>
        </p:spPr>
      </p:sp>
      <p:sp>
        <p:nvSpPr>
          <p:cNvPr id="13" name="Shape 10"/>
          <p:cNvSpPr/>
          <p:nvPr/>
        </p:nvSpPr>
        <p:spPr>
          <a:xfrm>
            <a:off x="6003036" y="6675120"/>
            <a:ext cx="182880" cy="0"/>
          </a:xfrm>
          <a:prstGeom prst="line">
            <a:avLst/>
          </a:prstGeom>
          <a:noFill/>
          <a:ln w="12700">
            <a:solidFill>
              <a:srgbClr val="66757F"/>
            </a:solidFill>
            <a:prstDash val="solid"/>
          </a:ln>
        </p:spPr>
      </p:sp>
      <p:sp>
        <p:nvSpPr>
          <p:cNvPr id="14" name="Shape 11"/>
          <p:cNvSpPr/>
          <p:nvPr/>
        </p:nvSpPr>
        <p:spPr>
          <a:xfrm>
            <a:off x="6094476" y="6583680"/>
            <a:ext cx="0" cy="182880"/>
          </a:xfrm>
          <a:prstGeom prst="line">
            <a:avLst/>
          </a:prstGeom>
          <a:noFill/>
          <a:ln w="12700">
            <a:solidFill>
              <a:srgbClr val="66757F"/>
            </a:solidFill>
            <a:prstDash val="solid"/>
          </a:ln>
        </p:spPr>
      </p:sp>
      <p:sp>
        <p:nvSpPr>
          <p:cNvPr id="15" name="Shape 12"/>
          <p:cNvSpPr/>
          <p:nvPr/>
        </p:nvSpPr>
        <p:spPr>
          <a:xfrm>
            <a:off x="91440" y="3429000"/>
            <a:ext cx="182880" cy="0"/>
          </a:xfrm>
          <a:prstGeom prst="line">
            <a:avLst/>
          </a:prstGeom>
          <a:noFill/>
          <a:ln w="12700">
            <a:solidFill>
              <a:srgbClr val="66757F"/>
            </a:solidFill>
            <a:prstDash val="solid"/>
          </a:ln>
        </p:spPr>
      </p:sp>
      <p:sp>
        <p:nvSpPr>
          <p:cNvPr id="16" name="Shape 13"/>
          <p:cNvSpPr/>
          <p:nvPr/>
        </p:nvSpPr>
        <p:spPr>
          <a:xfrm>
            <a:off x="182880" y="3337560"/>
            <a:ext cx="0" cy="182880"/>
          </a:xfrm>
          <a:prstGeom prst="line">
            <a:avLst/>
          </a:prstGeom>
          <a:noFill/>
          <a:ln w="12700">
            <a:solidFill>
              <a:srgbClr val="66757F"/>
            </a:solidFill>
            <a:prstDash val="solid"/>
          </a:ln>
        </p:spPr>
      </p:sp>
      <p:sp>
        <p:nvSpPr>
          <p:cNvPr id="17" name="Shape 14"/>
          <p:cNvSpPr/>
          <p:nvPr/>
        </p:nvSpPr>
        <p:spPr>
          <a:xfrm>
            <a:off x="11914632" y="3429000"/>
            <a:ext cx="182880" cy="0"/>
          </a:xfrm>
          <a:prstGeom prst="line">
            <a:avLst/>
          </a:prstGeom>
          <a:noFill/>
          <a:ln w="12700">
            <a:solidFill>
              <a:srgbClr val="66757F"/>
            </a:solidFill>
            <a:prstDash val="solid"/>
          </a:ln>
        </p:spPr>
      </p:sp>
      <p:sp>
        <p:nvSpPr>
          <p:cNvPr id="18" name="Shape 15"/>
          <p:cNvSpPr/>
          <p:nvPr/>
        </p:nvSpPr>
        <p:spPr>
          <a:xfrm>
            <a:off x="12006072" y="3337560"/>
            <a:ext cx="0" cy="182880"/>
          </a:xfrm>
          <a:prstGeom prst="line">
            <a:avLst/>
          </a:prstGeom>
          <a:noFill/>
          <a:ln w="12700">
            <a:solidFill>
              <a:srgbClr val="66757F"/>
            </a:solidFill>
            <a:prstDash val="solid"/>
          </a:ln>
        </p:spPr>
      </p:sp>
      <p:sp>
        <p:nvSpPr>
          <p:cNvPr id="19" name="Text 16"/>
          <p:cNvSpPr txBox="1"/>
          <p:nvPr/>
        </p:nvSpPr>
        <p:spPr>
          <a:xfrm>
            <a:off x="566928" y="329184"/>
            <a:ext cx="11064240" cy="566928"/>
          </a:xfrm>
          <a:prstGeom prst="rect">
            <a:avLst/>
          </a:prstGeom>
          <a:noFill/>
          <a:ln/>
        </p:spPr>
        <p:txBody>
          <a:bodyPr wrap="square" lIns="0" tIns="0" rIns="0" bIns="0" rtlCol="0" anchor="t"/>
          <a:lstStyle/>
          <a:p>
            <a:pPr indent="0" marL="0">
              <a:buNone/>
            </a:pPr>
            <a:r>
              <a:rPr lang="en-US" sz="2900" b="1" dirty="0">
                <a:solidFill>
                  <a:srgbClr val="FFFFFF"/>
                </a:solidFill>
                <a:latin typeface="Arial" pitchFamily="34" charset="0"/>
                <a:ea typeface="Arial" pitchFamily="34" charset="-122"/>
                <a:cs typeface="Arial" pitchFamily="34" charset="-120"/>
              </a:rPr>
              <a:t>Result — Capability Is Context, Not Evidence</a:t>
            </a:r>
            <a:endParaRPr lang="en-US" sz="2900" dirty="0"/>
          </a:p>
        </p:txBody>
      </p:sp>
      <p:graphicFrame>
        <p:nvGraphicFramePr>
          <p:cNvPr id="20" name="Chart 0" descr=""/>
          <p:cNvGraphicFramePr/>
          <p:nvPr/>
        </p:nvGraphicFramePr>
        <p:xfrm>
          <a:off x="548640" y="1143000"/>
          <a:ext cx="6858000" cy="3840480"/>
        </p:xfrm>
        <a:graphic xmlns:a="http://schemas.openxmlformats.org/drawingml/2006/main">
          <a:graphicData uri="http://schemas.openxmlformats.org/drawingml/2006/chart">
            <c:chart xmlns:c="http://schemas.openxmlformats.org/drawingml/2006/chart" r:id="rId1"/>
          </a:graphicData>
        </a:graphic>
      </p:graphicFrame>
      <p:sp>
        <p:nvSpPr>
          <p:cNvPr id="21" name="Text 17"/>
          <p:cNvSpPr txBox="1"/>
          <p:nvPr/>
        </p:nvSpPr>
        <p:spPr>
          <a:xfrm>
            <a:off x="548640" y="5029200"/>
            <a:ext cx="6858000" cy="457200"/>
          </a:xfrm>
          <a:prstGeom prst="rect">
            <a:avLst/>
          </a:prstGeom>
          <a:noFill/>
          <a:ln/>
        </p:spPr>
        <p:txBody>
          <a:bodyPr wrap="square" lIns="0" tIns="0" rIns="0" bIns="0" rtlCol="0" anchor="t"/>
          <a:lstStyle/>
          <a:p>
            <a:pPr indent="0" marL="0">
              <a:lnSpc>
                <a:spcPct val="115000"/>
              </a:lnSpc>
              <a:buNone/>
            </a:pPr>
            <a:r>
              <a:rPr lang="en-US" sz="950" i="1" dirty="0">
                <a:solidFill>
                  <a:srgbClr val="93A2AD"/>
                </a:solidFill>
                <a:latin typeface="Arial" pitchFamily="34" charset="0"/>
                <a:ea typeface="Arial" pitchFamily="34" charset="-122"/>
                <a:cs typeface="Arial" pitchFamily="34" charset="-120"/>
              </a:rPr>
              <a:t>Axis truncated at 11.5. Legal-random 95% CI [11.875, 13.542] — every learned policy sits inside it.</a:t>
            </a:r>
            <a:endParaRPr lang="en-US" sz="950" dirty="0"/>
          </a:p>
        </p:txBody>
      </p:sp>
      <p:sp>
        <p:nvSpPr>
          <p:cNvPr id="22" name="Shape 18"/>
          <p:cNvSpPr/>
          <p:nvPr/>
        </p:nvSpPr>
        <p:spPr>
          <a:xfrm>
            <a:off x="7680960" y="1143000"/>
            <a:ext cx="3959352" cy="3840480"/>
          </a:xfrm>
          <a:prstGeom prst="roundRect">
            <a:avLst>
              <a:gd name="adj" fmla="val 1429"/>
            </a:avLst>
          </a:prstGeom>
          <a:solidFill>
            <a:srgbClr val="2F3A43"/>
          </a:solidFill>
          <a:ln w="12700">
            <a:solidFill>
              <a:srgbClr val="F0A030"/>
            </a:solidFill>
            <a:prstDash val="solid"/>
          </a:ln>
        </p:spPr>
      </p:sp>
      <p:sp>
        <p:nvSpPr>
          <p:cNvPr id="23" name="Text 19"/>
          <p:cNvSpPr txBox="1"/>
          <p:nvPr/>
        </p:nvSpPr>
        <p:spPr>
          <a:xfrm>
            <a:off x="7909560" y="1325880"/>
            <a:ext cx="3474720" cy="310896"/>
          </a:xfrm>
          <a:prstGeom prst="rect">
            <a:avLst/>
          </a:prstGeom>
          <a:noFill/>
          <a:ln/>
        </p:spPr>
        <p:txBody>
          <a:bodyPr wrap="square" lIns="0" tIns="0" rIns="0" bIns="0" rtlCol="0" anchor="t"/>
          <a:lstStyle/>
          <a:p>
            <a:pPr indent="0" marL="0">
              <a:buNone/>
            </a:pPr>
            <a:r>
              <a:rPr lang="en-US" sz="1500" b="1" dirty="0">
                <a:solidFill>
                  <a:srgbClr val="F0A030"/>
                </a:solidFill>
                <a:latin typeface="Arial" pitchFamily="34" charset="0"/>
                <a:ea typeface="Arial" pitchFamily="34" charset="-122"/>
                <a:cs typeface="Arial" pitchFamily="34" charset="-120"/>
              </a:rPr>
              <a:t>So what?</a:t>
            </a:r>
            <a:endParaRPr lang="en-US" sz="1500" dirty="0"/>
          </a:p>
        </p:txBody>
      </p:sp>
      <p:sp>
        <p:nvSpPr>
          <p:cNvPr id="24" name="Shape 20"/>
          <p:cNvSpPr/>
          <p:nvPr/>
        </p:nvSpPr>
        <p:spPr>
          <a:xfrm>
            <a:off x="7955280" y="1956816"/>
            <a:ext cx="182880" cy="182880"/>
          </a:xfrm>
          <a:prstGeom prst="ellipse">
            <a:avLst/>
          </a:prstGeom>
          <a:solidFill>
            <a:srgbClr val="5FC98B"/>
          </a:solidFill>
          <a:ln w="12700">
            <a:solidFill>
              <a:srgbClr val="5FC98B"/>
            </a:solidFill>
            <a:prstDash val="solid"/>
          </a:ln>
        </p:spPr>
      </p:sp>
      <p:sp>
        <p:nvSpPr>
          <p:cNvPr id="25" name="Text 21"/>
          <p:cNvSpPr txBox="1"/>
          <p:nvPr/>
        </p:nvSpPr>
        <p:spPr>
          <a:xfrm>
            <a:off x="8321040" y="1920240"/>
            <a:ext cx="3108960" cy="502920"/>
          </a:xfrm>
          <a:prstGeom prst="rect">
            <a:avLst/>
          </a:prstGeom>
          <a:noFill/>
          <a:ln/>
        </p:spPr>
        <p:txBody>
          <a:bodyPr wrap="square" lIns="0" tIns="0" rIns="0" bIns="0" rtlCol="0" anchor="t"/>
          <a:lstStyle/>
          <a:p>
            <a:pPr indent="0" marL="0">
              <a:lnSpc>
                <a:spcPct val="120000"/>
              </a:lnSpc>
              <a:buNone/>
            </a:pPr>
            <a:r>
              <a:rPr lang="en-US" sz="1300" dirty="0">
                <a:solidFill>
                  <a:srgbClr val="FFFFFF"/>
                </a:solidFill>
                <a:latin typeface="Arial" pitchFamily="34" charset="0"/>
                <a:ea typeface="Arial" pitchFamily="34" charset="-122"/>
                <a:cs typeface="Arial" pitchFamily="34" charset="-120"/>
              </a:rPr>
              <a:t>The policies really dispatch</a:t>
            </a:r>
            <a:endParaRPr lang="en-US" sz="1300" dirty="0"/>
          </a:p>
        </p:txBody>
      </p:sp>
      <p:sp>
        <p:nvSpPr>
          <p:cNvPr id="26" name="Shape 22"/>
          <p:cNvSpPr/>
          <p:nvPr/>
        </p:nvSpPr>
        <p:spPr>
          <a:xfrm>
            <a:off x="7955280" y="2688336"/>
            <a:ext cx="182880" cy="182880"/>
          </a:xfrm>
          <a:prstGeom prst="ellipse">
            <a:avLst/>
          </a:prstGeom>
          <a:solidFill>
            <a:srgbClr val="5FC98B"/>
          </a:solidFill>
          <a:ln w="12700">
            <a:solidFill>
              <a:srgbClr val="5FC98B"/>
            </a:solidFill>
            <a:prstDash val="solid"/>
          </a:ln>
        </p:spPr>
      </p:sp>
      <p:sp>
        <p:nvSpPr>
          <p:cNvPr id="27" name="Text 23"/>
          <p:cNvSpPr txBox="1"/>
          <p:nvPr/>
        </p:nvSpPr>
        <p:spPr>
          <a:xfrm>
            <a:off x="8321040" y="2651760"/>
            <a:ext cx="3108960" cy="502920"/>
          </a:xfrm>
          <a:prstGeom prst="rect">
            <a:avLst/>
          </a:prstGeom>
          <a:noFill/>
          <a:ln/>
        </p:spPr>
        <p:txBody>
          <a:bodyPr wrap="square" lIns="0" tIns="0" rIns="0" bIns="0" rtlCol="0" anchor="t"/>
          <a:lstStyle/>
          <a:p>
            <a:pPr indent="0" marL="0">
              <a:lnSpc>
                <a:spcPct val="120000"/>
              </a:lnSpc>
              <a:buNone/>
            </a:pPr>
            <a:r>
              <a:rPr lang="en-US" sz="1300" dirty="0">
                <a:solidFill>
                  <a:srgbClr val="FFFFFF"/>
                </a:solidFill>
                <a:latin typeface="Arial" pitchFamily="34" charset="0"/>
                <a:ea typeface="Arial" pitchFamily="34" charset="-122"/>
                <a:cs typeface="Arial" pitchFamily="34" charset="-120"/>
              </a:rPr>
              <a:t>They are worth auditing</a:t>
            </a:r>
            <a:endParaRPr lang="en-US" sz="1300" dirty="0"/>
          </a:p>
        </p:txBody>
      </p:sp>
      <p:sp>
        <p:nvSpPr>
          <p:cNvPr id="28" name="Shape 24"/>
          <p:cNvSpPr/>
          <p:nvPr/>
        </p:nvSpPr>
        <p:spPr>
          <a:xfrm>
            <a:off x="7955280" y="3419856"/>
            <a:ext cx="182880" cy="182880"/>
          </a:xfrm>
          <a:prstGeom prst="ellipse">
            <a:avLst/>
          </a:prstGeom>
          <a:solidFill>
            <a:srgbClr val="AFBDC8"/>
          </a:solidFill>
          <a:ln w="12700">
            <a:solidFill>
              <a:srgbClr val="AFBDC8"/>
            </a:solidFill>
            <a:prstDash val="solid"/>
          </a:ln>
        </p:spPr>
      </p:sp>
      <p:sp>
        <p:nvSpPr>
          <p:cNvPr id="29" name="Text 25"/>
          <p:cNvSpPr txBox="1"/>
          <p:nvPr/>
        </p:nvSpPr>
        <p:spPr>
          <a:xfrm>
            <a:off x="8321040" y="3383280"/>
            <a:ext cx="3108960" cy="502920"/>
          </a:xfrm>
          <a:prstGeom prst="rect">
            <a:avLst/>
          </a:prstGeom>
          <a:noFill/>
          <a:ln/>
        </p:spPr>
        <p:txBody>
          <a:bodyPr wrap="square" lIns="0" tIns="0" rIns="0" bIns="0" rtlCol="0" anchor="t"/>
          <a:lstStyle/>
          <a:p>
            <a:pPr indent="0" marL="0">
              <a:lnSpc>
                <a:spcPct val="120000"/>
              </a:lnSpc>
              <a:buNone/>
            </a:pPr>
            <a:r>
              <a:rPr lang="en-US" sz="1300" dirty="0">
                <a:solidFill>
                  <a:srgbClr val="FFFFFF"/>
                </a:solidFill>
                <a:latin typeface="Arial" pitchFamily="34" charset="0"/>
                <a:ea typeface="Arial" pitchFamily="34" charset="-122"/>
                <a:cs typeface="Arial" pitchFamily="34" charset="-120"/>
              </a:rPr>
              <a:t>No advantage over baselines</a:t>
            </a:r>
            <a:endParaRPr lang="en-US" sz="1300" dirty="0"/>
          </a:p>
        </p:txBody>
      </p:sp>
      <p:sp>
        <p:nvSpPr>
          <p:cNvPr id="30" name="Shape 26"/>
          <p:cNvSpPr/>
          <p:nvPr/>
        </p:nvSpPr>
        <p:spPr>
          <a:xfrm>
            <a:off x="7955280" y="4151376"/>
            <a:ext cx="182880" cy="182880"/>
          </a:xfrm>
          <a:prstGeom prst="ellipse">
            <a:avLst/>
          </a:prstGeom>
          <a:solidFill>
            <a:srgbClr val="E4644C"/>
          </a:solidFill>
          <a:ln w="12700">
            <a:solidFill>
              <a:srgbClr val="E4644C"/>
            </a:solidFill>
            <a:prstDash val="solid"/>
          </a:ln>
        </p:spPr>
      </p:sp>
      <p:sp>
        <p:nvSpPr>
          <p:cNvPr id="31" name="Text 27"/>
          <p:cNvSpPr txBox="1"/>
          <p:nvPr/>
        </p:nvSpPr>
        <p:spPr>
          <a:xfrm>
            <a:off x="8321040" y="4114800"/>
            <a:ext cx="3108960" cy="502920"/>
          </a:xfrm>
          <a:prstGeom prst="rect">
            <a:avLst/>
          </a:prstGeom>
          <a:noFill/>
          <a:ln/>
        </p:spPr>
        <p:txBody>
          <a:bodyPr wrap="square" lIns="0" tIns="0" rIns="0" bIns="0" rtlCol="0" anchor="t"/>
          <a:lstStyle/>
          <a:p>
            <a:pPr indent="0" marL="0">
              <a:lnSpc>
                <a:spcPct val="120000"/>
              </a:lnSpc>
              <a:buNone/>
            </a:pPr>
            <a:r>
              <a:rPr lang="en-US" sz="1300" dirty="0">
                <a:solidFill>
                  <a:srgbClr val="FFFFFF"/>
                </a:solidFill>
                <a:latin typeface="Arial" pitchFamily="34" charset="0"/>
                <a:ea typeface="Arial" pitchFamily="34" charset="-122"/>
                <a:cs typeface="Arial" pitchFamily="34" charset="-120"/>
              </a:rPr>
              <a:t>Nothing here validates attention</a:t>
            </a:r>
            <a:endParaRPr lang="en-US" sz="1300" dirty="0"/>
          </a:p>
        </p:txBody>
      </p:sp>
      <p:sp>
        <p:nvSpPr>
          <p:cNvPr id="32" name="Shape 28"/>
          <p:cNvSpPr/>
          <p:nvPr/>
        </p:nvSpPr>
        <p:spPr>
          <a:xfrm>
            <a:off x="548640" y="5559552"/>
            <a:ext cx="11091672" cy="694944"/>
          </a:xfrm>
          <a:prstGeom prst="roundRect">
            <a:avLst>
              <a:gd name="adj" fmla="val 7895"/>
            </a:avLst>
          </a:prstGeom>
          <a:solidFill>
            <a:srgbClr val="44515C"/>
          </a:solidFill>
          <a:ln w="12700">
            <a:solidFill>
              <a:srgbClr val="35D6E8"/>
            </a:solidFill>
            <a:prstDash val="solid"/>
          </a:ln>
        </p:spPr>
      </p:sp>
      <p:sp>
        <p:nvSpPr>
          <p:cNvPr id="33" name="Text 29"/>
          <p:cNvSpPr txBox="1"/>
          <p:nvPr/>
        </p:nvSpPr>
        <p:spPr>
          <a:xfrm>
            <a:off x="822960" y="5751576"/>
            <a:ext cx="10515600" cy="36576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A policy can pick a good action while the evidence shown as its explanation is stale or irrelevant.</a:t>
            </a:r>
            <a:endParaRPr lang="en-US" sz="1400" dirty="0"/>
          </a:p>
        </p:txBody>
      </p:sp>
      <p:sp>
        <p:nvSpPr>
          <p:cNvPr id="34" name="Text 30"/>
          <p:cNvSpPr txBox="1"/>
          <p:nvPr/>
        </p:nvSpPr>
        <p:spPr>
          <a:xfrm>
            <a:off x="11365992" y="6382512"/>
            <a:ext cx="365760" cy="274320"/>
          </a:xfrm>
          <a:prstGeom prst="rect">
            <a:avLst/>
          </a:prstGeom>
          <a:noFill/>
          <a:ln/>
        </p:spPr>
        <p:txBody>
          <a:bodyPr wrap="square" lIns="0" tIns="0" rIns="0" bIns="0" rtlCol="0" anchor="ctr"/>
          <a:lstStyle/>
          <a:p>
            <a:pPr algn="r" indent="0" marL="0">
              <a:buNone/>
            </a:pPr>
            <a:r>
              <a:rPr lang="en-US" sz="900" dirty="0">
                <a:solidFill>
                  <a:srgbClr val="7C8B96"/>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9454F"/>
        </a:solidFill>
      </p:bgPr>
    </p:bg>
    <p:spTree>
      <p:nvGrpSpPr>
        <p:cNvPr id="1" name=""/>
        <p:cNvGrpSpPr/>
        <p:nvPr/>
      </p:nvGrpSpPr>
      <p:grpSpPr>
        <a:xfrm>
          <a:off x="0" y="0"/>
          <a:ext cx="0" cy="0"/>
          <a:chOff x="0" y="0"/>
          <a:chExt cx="0" cy="0"/>
        </a:xfrm>
      </p:grpSpPr>
      <p:sp>
        <p:nvSpPr>
          <p:cNvPr id="3" name="Shape 0"/>
          <p:cNvSpPr/>
          <p:nvPr/>
        </p:nvSpPr>
        <p:spPr>
          <a:xfrm>
            <a:off x="201168" y="201168"/>
            <a:ext cx="384048" cy="0"/>
          </a:xfrm>
          <a:prstGeom prst="line">
            <a:avLst/>
          </a:prstGeom>
          <a:noFill/>
          <a:ln w="12700">
            <a:solidFill>
              <a:srgbClr val="66757F"/>
            </a:solidFill>
            <a:prstDash val="solid"/>
          </a:ln>
        </p:spPr>
      </p:sp>
      <p:sp>
        <p:nvSpPr>
          <p:cNvPr id="4" name="Shape 1"/>
          <p:cNvSpPr/>
          <p:nvPr/>
        </p:nvSpPr>
        <p:spPr>
          <a:xfrm>
            <a:off x="201168" y="201168"/>
            <a:ext cx="0" cy="384048"/>
          </a:xfrm>
          <a:prstGeom prst="line">
            <a:avLst/>
          </a:prstGeom>
          <a:noFill/>
          <a:ln w="12700">
            <a:solidFill>
              <a:srgbClr val="66757F"/>
            </a:solidFill>
            <a:prstDash val="solid"/>
          </a:ln>
        </p:spPr>
      </p:sp>
      <p:sp>
        <p:nvSpPr>
          <p:cNvPr id="5" name="Shape 2"/>
          <p:cNvSpPr/>
          <p:nvPr/>
        </p:nvSpPr>
        <p:spPr>
          <a:xfrm flipH="1">
            <a:off x="11603736" y="201168"/>
            <a:ext cx="384048" cy="0"/>
          </a:xfrm>
          <a:prstGeom prst="line">
            <a:avLst/>
          </a:prstGeom>
          <a:noFill/>
          <a:ln w="12700">
            <a:solidFill>
              <a:srgbClr val="66757F"/>
            </a:solidFill>
            <a:prstDash val="solid"/>
          </a:ln>
        </p:spPr>
      </p:sp>
      <p:sp>
        <p:nvSpPr>
          <p:cNvPr id="6" name="Shape 3"/>
          <p:cNvSpPr/>
          <p:nvPr/>
        </p:nvSpPr>
        <p:spPr>
          <a:xfrm>
            <a:off x="11987784" y="201168"/>
            <a:ext cx="0" cy="384048"/>
          </a:xfrm>
          <a:prstGeom prst="line">
            <a:avLst/>
          </a:prstGeom>
          <a:noFill/>
          <a:ln w="12700">
            <a:solidFill>
              <a:srgbClr val="66757F"/>
            </a:solidFill>
            <a:prstDash val="solid"/>
          </a:ln>
        </p:spPr>
      </p:sp>
      <p:sp>
        <p:nvSpPr>
          <p:cNvPr id="7" name="Shape 4"/>
          <p:cNvSpPr/>
          <p:nvPr/>
        </p:nvSpPr>
        <p:spPr>
          <a:xfrm>
            <a:off x="201168" y="6656832"/>
            <a:ext cx="384048" cy="0"/>
          </a:xfrm>
          <a:prstGeom prst="line">
            <a:avLst/>
          </a:prstGeom>
          <a:noFill/>
          <a:ln w="12700">
            <a:solidFill>
              <a:srgbClr val="66757F"/>
            </a:solidFill>
            <a:prstDash val="solid"/>
          </a:ln>
        </p:spPr>
      </p:sp>
      <p:sp>
        <p:nvSpPr>
          <p:cNvPr id="8" name="Shape 5"/>
          <p:cNvSpPr/>
          <p:nvPr/>
        </p:nvSpPr>
        <p:spPr>
          <a:xfrm flipV="1">
            <a:off x="201168" y="6272784"/>
            <a:ext cx="0" cy="384048"/>
          </a:xfrm>
          <a:prstGeom prst="line">
            <a:avLst/>
          </a:prstGeom>
          <a:noFill/>
          <a:ln w="12700">
            <a:solidFill>
              <a:srgbClr val="66757F"/>
            </a:solidFill>
            <a:prstDash val="solid"/>
          </a:ln>
        </p:spPr>
      </p:sp>
      <p:sp>
        <p:nvSpPr>
          <p:cNvPr id="9" name="Shape 6"/>
          <p:cNvSpPr/>
          <p:nvPr/>
        </p:nvSpPr>
        <p:spPr>
          <a:xfrm flipH="1">
            <a:off x="11603736" y="6656832"/>
            <a:ext cx="384048" cy="0"/>
          </a:xfrm>
          <a:prstGeom prst="line">
            <a:avLst/>
          </a:prstGeom>
          <a:noFill/>
          <a:ln w="12700">
            <a:solidFill>
              <a:srgbClr val="66757F"/>
            </a:solidFill>
            <a:prstDash val="solid"/>
          </a:ln>
        </p:spPr>
      </p:sp>
      <p:sp>
        <p:nvSpPr>
          <p:cNvPr id="10" name="Shape 7"/>
          <p:cNvSpPr/>
          <p:nvPr/>
        </p:nvSpPr>
        <p:spPr>
          <a:xfrm flipV="1">
            <a:off x="11987784" y="6272784"/>
            <a:ext cx="0" cy="384048"/>
          </a:xfrm>
          <a:prstGeom prst="line">
            <a:avLst/>
          </a:prstGeom>
          <a:noFill/>
          <a:ln w="12700">
            <a:solidFill>
              <a:srgbClr val="66757F"/>
            </a:solidFill>
            <a:prstDash val="solid"/>
          </a:ln>
        </p:spPr>
      </p:sp>
      <p:sp>
        <p:nvSpPr>
          <p:cNvPr id="11" name="Shape 8"/>
          <p:cNvSpPr/>
          <p:nvPr/>
        </p:nvSpPr>
        <p:spPr>
          <a:xfrm>
            <a:off x="6003036" y="182880"/>
            <a:ext cx="182880" cy="0"/>
          </a:xfrm>
          <a:prstGeom prst="line">
            <a:avLst/>
          </a:prstGeom>
          <a:noFill/>
          <a:ln w="12700">
            <a:solidFill>
              <a:srgbClr val="66757F"/>
            </a:solidFill>
            <a:prstDash val="solid"/>
          </a:ln>
        </p:spPr>
      </p:sp>
      <p:sp>
        <p:nvSpPr>
          <p:cNvPr id="12" name="Shape 9"/>
          <p:cNvSpPr/>
          <p:nvPr/>
        </p:nvSpPr>
        <p:spPr>
          <a:xfrm>
            <a:off x="6094476" y="91440"/>
            <a:ext cx="0" cy="182880"/>
          </a:xfrm>
          <a:prstGeom prst="line">
            <a:avLst/>
          </a:prstGeom>
          <a:noFill/>
          <a:ln w="12700">
            <a:solidFill>
              <a:srgbClr val="66757F"/>
            </a:solidFill>
            <a:prstDash val="solid"/>
          </a:ln>
        </p:spPr>
      </p:sp>
      <p:sp>
        <p:nvSpPr>
          <p:cNvPr id="13" name="Shape 10"/>
          <p:cNvSpPr/>
          <p:nvPr/>
        </p:nvSpPr>
        <p:spPr>
          <a:xfrm>
            <a:off x="6003036" y="6675120"/>
            <a:ext cx="182880" cy="0"/>
          </a:xfrm>
          <a:prstGeom prst="line">
            <a:avLst/>
          </a:prstGeom>
          <a:noFill/>
          <a:ln w="12700">
            <a:solidFill>
              <a:srgbClr val="66757F"/>
            </a:solidFill>
            <a:prstDash val="solid"/>
          </a:ln>
        </p:spPr>
      </p:sp>
      <p:sp>
        <p:nvSpPr>
          <p:cNvPr id="14" name="Shape 11"/>
          <p:cNvSpPr/>
          <p:nvPr/>
        </p:nvSpPr>
        <p:spPr>
          <a:xfrm>
            <a:off x="6094476" y="6583680"/>
            <a:ext cx="0" cy="182880"/>
          </a:xfrm>
          <a:prstGeom prst="line">
            <a:avLst/>
          </a:prstGeom>
          <a:noFill/>
          <a:ln w="12700">
            <a:solidFill>
              <a:srgbClr val="66757F"/>
            </a:solidFill>
            <a:prstDash val="solid"/>
          </a:ln>
        </p:spPr>
      </p:sp>
      <p:sp>
        <p:nvSpPr>
          <p:cNvPr id="15" name="Shape 12"/>
          <p:cNvSpPr/>
          <p:nvPr/>
        </p:nvSpPr>
        <p:spPr>
          <a:xfrm>
            <a:off x="91440" y="3429000"/>
            <a:ext cx="182880" cy="0"/>
          </a:xfrm>
          <a:prstGeom prst="line">
            <a:avLst/>
          </a:prstGeom>
          <a:noFill/>
          <a:ln w="12700">
            <a:solidFill>
              <a:srgbClr val="66757F"/>
            </a:solidFill>
            <a:prstDash val="solid"/>
          </a:ln>
        </p:spPr>
      </p:sp>
      <p:sp>
        <p:nvSpPr>
          <p:cNvPr id="16" name="Shape 13"/>
          <p:cNvSpPr/>
          <p:nvPr/>
        </p:nvSpPr>
        <p:spPr>
          <a:xfrm>
            <a:off x="182880" y="3337560"/>
            <a:ext cx="0" cy="182880"/>
          </a:xfrm>
          <a:prstGeom prst="line">
            <a:avLst/>
          </a:prstGeom>
          <a:noFill/>
          <a:ln w="12700">
            <a:solidFill>
              <a:srgbClr val="66757F"/>
            </a:solidFill>
            <a:prstDash val="solid"/>
          </a:ln>
        </p:spPr>
      </p:sp>
      <p:sp>
        <p:nvSpPr>
          <p:cNvPr id="17" name="Shape 14"/>
          <p:cNvSpPr/>
          <p:nvPr/>
        </p:nvSpPr>
        <p:spPr>
          <a:xfrm>
            <a:off x="11914632" y="3429000"/>
            <a:ext cx="182880" cy="0"/>
          </a:xfrm>
          <a:prstGeom prst="line">
            <a:avLst/>
          </a:prstGeom>
          <a:noFill/>
          <a:ln w="12700">
            <a:solidFill>
              <a:srgbClr val="66757F"/>
            </a:solidFill>
            <a:prstDash val="solid"/>
          </a:ln>
        </p:spPr>
      </p:sp>
      <p:sp>
        <p:nvSpPr>
          <p:cNvPr id="18" name="Shape 15"/>
          <p:cNvSpPr/>
          <p:nvPr/>
        </p:nvSpPr>
        <p:spPr>
          <a:xfrm>
            <a:off x="12006072" y="3337560"/>
            <a:ext cx="0" cy="182880"/>
          </a:xfrm>
          <a:prstGeom prst="line">
            <a:avLst/>
          </a:prstGeom>
          <a:noFill/>
          <a:ln w="12700">
            <a:solidFill>
              <a:srgbClr val="66757F"/>
            </a:solidFill>
            <a:prstDash val="solid"/>
          </a:ln>
        </p:spPr>
      </p:sp>
      <p:sp>
        <p:nvSpPr>
          <p:cNvPr id="19" name="Text 16"/>
          <p:cNvSpPr txBox="1"/>
          <p:nvPr/>
        </p:nvSpPr>
        <p:spPr>
          <a:xfrm>
            <a:off x="566928" y="329184"/>
            <a:ext cx="11064240" cy="566928"/>
          </a:xfrm>
          <a:prstGeom prst="rect">
            <a:avLst/>
          </a:prstGeom>
          <a:noFill/>
          <a:ln/>
        </p:spPr>
        <p:txBody>
          <a:bodyPr wrap="square" lIns="0" tIns="0" rIns="0" bIns="0" rtlCol="0" anchor="t"/>
          <a:lstStyle/>
          <a:p>
            <a:pPr indent="0" marL="0">
              <a:buNone/>
            </a:pPr>
            <a:r>
              <a:rPr lang="en-US" sz="2900" b="1" dirty="0">
                <a:solidFill>
                  <a:srgbClr val="FFFFFF"/>
                </a:solidFill>
                <a:latin typeface="Arial" pitchFamily="34" charset="0"/>
                <a:ea typeface="Arial" pitchFamily="34" charset="-122"/>
                <a:cs typeface="Arial" pitchFamily="34" charset="-120"/>
              </a:rPr>
              <a:t>Verdict RQ1 — Attention Fails on Clean Data</a:t>
            </a:r>
            <a:endParaRPr lang="en-US" sz="2900" dirty="0"/>
          </a:p>
        </p:txBody>
      </p:sp>
      <p:sp>
        <p:nvSpPr>
          <p:cNvPr id="20" name="Shape 17"/>
          <p:cNvSpPr/>
          <p:nvPr/>
        </p:nvSpPr>
        <p:spPr>
          <a:xfrm>
            <a:off x="548640" y="1143000"/>
            <a:ext cx="5486400" cy="4206240"/>
          </a:xfrm>
          <a:prstGeom prst="roundRect">
            <a:avLst>
              <a:gd name="adj" fmla="val 1304"/>
            </a:avLst>
          </a:prstGeom>
          <a:solidFill>
            <a:srgbClr val="2F3A43"/>
          </a:solidFill>
          <a:ln w="12700">
            <a:solidFill>
              <a:srgbClr val="E4644C"/>
            </a:solidFill>
            <a:prstDash val="solid"/>
          </a:ln>
        </p:spPr>
      </p:sp>
      <p:sp>
        <p:nvSpPr>
          <p:cNvPr id="21" name="Text 18"/>
          <p:cNvSpPr txBox="1"/>
          <p:nvPr/>
        </p:nvSpPr>
        <p:spPr>
          <a:xfrm>
            <a:off x="777240" y="1371600"/>
            <a:ext cx="5029200" cy="310896"/>
          </a:xfrm>
          <a:prstGeom prst="rect">
            <a:avLst/>
          </a:prstGeom>
          <a:noFill/>
          <a:ln/>
        </p:spPr>
        <p:txBody>
          <a:bodyPr wrap="square" lIns="0" tIns="0" rIns="0" bIns="0" rtlCol="0" anchor="t"/>
          <a:lstStyle/>
          <a:p>
            <a:pPr algn="ctr" indent="0" marL="0">
              <a:buNone/>
            </a:pPr>
            <a:r>
              <a:rPr lang="en-US" sz="1500" b="1" dirty="0">
                <a:solidFill>
                  <a:srgbClr val="F0A030"/>
                </a:solidFill>
                <a:latin typeface="Arial" pitchFamily="34" charset="0"/>
                <a:ea typeface="Arial" pitchFamily="34" charset="-122"/>
                <a:cs typeface="Arial" pitchFamily="34" charset="-120"/>
              </a:rPr>
              <a:t>RAW attention margin-DEF</a:t>
            </a:r>
            <a:endParaRPr lang="en-US" sz="1500" dirty="0"/>
          </a:p>
        </p:txBody>
      </p:sp>
      <p:sp>
        <p:nvSpPr>
          <p:cNvPr id="22" name="Text 19"/>
          <p:cNvSpPr txBox="1"/>
          <p:nvPr/>
        </p:nvSpPr>
        <p:spPr>
          <a:xfrm>
            <a:off x="777240" y="1783080"/>
            <a:ext cx="5029200" cy="1188720"/>
          </a:xfrm>
          <a:prstGeom prst="rect">
            <a:avLst/>
          </a:prstGeom>
          <a:noFill/>
          <a:ln/>
        </p:spPr>
        <p:txBody>
          <a:bodyPr wrap="square" lIns="0" tIns="0" rIns="0" bIns="0" rtlCol="0" anchor="t"/>
          <a:lstStyle/>
          <a:p>
            <a:pPr algn="ctr" indent="0" marL="0">
              <a:buNone/>
            </a:pPr>
            <a:r>
              <a:rPr lang="en-US" sz="8000" b="1" dirty="0">
                <a:solidFill>
                  <a:srgbClr val="F0A030"/>
                </a:solidFill>
                <a:latin typeface="Arial" pitchFamily="34" charset="0"/>
                <a:ea typeface="Arial" pitchFamily="34" charset="-122"/>
                <a:cs typeface="Arial" pitchFamily="34" charset="-120"/>
              </a:rPr>
              <a:t>&lt; 0</a:t>
            </a:r>
            <a:endParaRPr lang="en-US" sz="8000" dirty="0"/>
          </a:p>
        </p:txBody>
      </p:sp>
      <p:sp>
        <p:nvSpPr>
          <p:cNvPr id="23" name="Shape 20"/>
          <p:cNvSpPr/>
          <p:nvPr/>
        </p:nvSpPr>
        <p:spPr>
          <a:xfrm>
            <a:off x="1097280" y="3611880"/>
            <a:ext cx="4343400" cy="0"/>
          </a:xfrm>
          <a:prstGeom prst="line">
            <a:avLst/>
          </a:prstGeom>
          <a:noFill/>
          <a:ln w="12700">
            <a:solidFill>
              <a:srgbClr val="AFBDC8"/>
            </a:solidFill>
            <a:prstDash val="solid"/>
          </a:ln>
        </p:spPr>
      </p:sp>
      <p:sp>
        <p:nvSpPr>
          <p:cNvPr id="24" name="Shape 21"/>
          <p:cNvSpPr/>
          <p:nvPr/>
        </p:nvSpPr>
        <p:spPr>
          <a:xfrm>
            <a:off x="3291840" y="3291840"/>
            <a:ext cx="0" cy="640080"/>
          </a:xfrm>
          <a:prstGeom prst="line">
            <a:avLst/>
          </a:prstGeom>
          <a:noFill/>
          <a:ln w="12700">
            <a:solidFill>
              <a:srgbClr val="AFBDC8"/>
            </a:solidFill>
            <a:prstDash val="solid"/>
          </a:ln>
        </p:spPr>
      </p:sp>
      <p:sp>
        <p:nvSpPr>
          <p:cNvPr id="25" name="Shape 22"/>
          <p:cNvSpPr/>
          <p:nvPr/>
        </p:nvSpPr>
        <p:spPr>
          <a:xfrm>
            <a:off x="1371600" y="3419856"/>
            <a:ext cx="1920240" cy="384048"/>
          </a:xfrm>
          <a:prstGeom prst="rect">
            <a:avLst/>
          </a:prstGeom>
          <a:solidFill>
            <a:srgbClr val="F0A030"/>
          </a:solidFill>
          <a:ln w="12700">
            <a:solidFill>
              <a:srgbClr val="F0A030"/>
            </a:solidFill>
            <a:prstDash val="solid"/>
          </a:ln>
        </p:spPr>
      </p:sp>
      <p:sp>
        <p:nvSpPr>
          <p:cNvPr id="26" name="Text 23"/>
          <p:cNvSpPr txBox="1"/>
          <p:nvPr/>
        </p:nvSpPr>
        <p:spPr>
          <a:xfrm>
            <a:off x="3346704" y="3657600"/>
            <a:ext cx="365760" cy="219456"/>
          </a:xfrm>
          <a:prstGeom prst="rect">
            <a:avLst/>
          </a:prstGeom>
          <a:noFill/>
          <a:ln/>
        </p:spPr>
        <p:txBody>
          <a:bodyPr wrap="square" lIns="0" tIns="0" rIns="0" bIns="0" rtlCol="0" anchor="t"/>
          <a:lstStyle/>
          <a:p>
            <a:pPr indent="0" marL="0">
              <a:buNone/>
            </a:pPr>
            <a:r>
              <a:rPr lang="en-US" sz="1000" dirty="0">
                <a:solidFill>
                  <a:srgbClr val="AFBDC8"/>
                </a:solidFill>
                <a:latin typeface="Arial" pitchFamily="34" charset="0"/>
                <a:ea typeface="Arial" pitchFamily="34" charset="-122"/>
                <a:cs typeface="Arial" pitchFamily="34" charset="-120"/>
              </a:rPr>
              <a:t>0</a:t>
            </a:r>
            <a:endParaRPr lang="en-US" sz="1000" dirty="0"/>
          </a:p>
        </p:txBody>
      </p:sp>
      <p:sp>
        <p:nvSpPr>
          <p:cNvPr id="27" name="Text 24"/>
          <p:cNvSpPr txBox="1"/>
          <p:nvPr/>
        </p:nvSpPr>
        <p:spPr>
          <a:xfrm>
            <a:off x="777240" y="4160520"/>
            <a:ext cx="5029200" cy="292608"/>
          </a:xfrm>
          <a:prstGeom prst="rect">
            <a:avLst/>
          </a:prstGeom>
          <a:noFill/>
          <a:ln/>
        </p:spPr>
        <p:txBody>
          <a:bodyPr wrap="square" lIns="0" tIns="0" rIns="0" bIns="0" rtlCol="0" anchor="t"/>
          <a:lstStyle/>
          <a:p>
            <a:pPr algn="ctr" indent="0" marL="0">
              <a:buNone/>
            </a:pPr>
            <a:r>
              <a:rPr lang="en-US" sz="1300" dirty="0">
                <a:solidFill>
                  <a:srgbClr val="FFFFFF"/>
                </a:solidFill>
                <a:latin typeface="Arial" pitchFamily="34" charset="0"/>
                <a:ea typeface="Arial" pitchFamily="34" charset="-122"/>
                <a:cs typeface="Arial" pitchFamily="34" charset="-120"/>
              </a:rPr>
              <a:t>Worse than a type-matched random subset.</a:t>
            </a:r>
            <a:endParaRPr lang="en-US" sz="1300" dirty="0"/>
          </a:p>
        </p:txBody>
      </p:sp>
      <p:sp>
        <p:nvSpPr>
          <p:cNvPr id="28" name="Text 25"/>
          <p:cNvSpPr txBox="1"/>
          <p:nvPr/>
        </p:nvSpPr>
        <p:spPr>
          <a:xfrm>
            <a:off x="777240" y="4572000"/>
            <a:ext cx="5029200" cy="457200"/>
          </a:xfrm>
          <a:prstGeom prst="rect">
            <a:avLst/>
          </a:prstGeom>
          <a:noFill/>
          <a:ln/>
        </p:spPr>
        <p:txBody>
          <a:bodyPr wrap="square" lIns="0" tIns="0" rIns="0" bIns="0" rtlCol="0" anchor="t"/>
          <a:lstStyle/>
          <a:p>
            <a:pPr indent="0" marL="0">
              <a:lnSpc>
                <a:spcPct val="115000"/>
              </a:lnSpc>
              <a:buNone/>
            </a:pPr>
            <a:r>
              <a:rPr lang="en-US" sz="950" i="1" dirty="0">
                <a:solidFill>
                  <a:srgbClr val="93A2AD"/>
                </a:solidFill>
                <a:latin typeface="Arial" pitchFamily="34" charset="0"/>
                <a:ea typeface="Arial" pitchFamily="34" charset="-122"/>
                <a:cs typeface="Arial" pitchFamily="34" charset="-120"/>
              </a:rPr>
              <a:t>GAT clean −1.355 [−2.316, −0.589] · GAT 60 s −1.027 · Outage clean −0.596 · Outage 60 s −0.454   (×10⁻³)</a:t>
            </a:r>
            <a:endParaRPr lang="en-US" sz="950" dirty="0"/>
          </a:p>
        </p:txBody>
      </p:sp>
      <p:sp>
        <p:nvSpPr>
          <p:cNvPr id="29" name="Shape 26"/>
          <p:cNvSpPr/>
          <p:nvPr/>
        </p:nvSpPr>
        <p:spPr>
          <a:xfrm>
            <a:off x="6153912" y="1143000"/>
            <a:ext cx="5486400" cy="4206240"/>
          </a:xfrm>
          <a:prstGeom prst="roundRect">
            <a:avLst>
              <a:gd name="adj" fmla="val 1304"/>
            </a:avLst>
          </a:prstGeom>
          <a:solidFill>
            <a:srgbClr val="2F3A43"/>
          </a:solidFill>
          <a:ln w="12700">
            <a:solidFill>
              <a:srgbClr val="5FC98B"/>
            </a:solidFill>
            <a:prstDash val="solid"/>
          </a:ln>
        </p:spPr>
      </p:sp>
      <p:sp>
        <p:nvSpPr>
          <p:cNvPr id="30" name="Text 27"/>
          <p:cNvSpPr txBox="1"/>
          <p:nvPr/>
        </p:nvSpPr>
        <p:spPr>
          <a:xfrm>
            <a:off x="6382512" y="1371600"/>
            <a:ext cx="5029200" cy="310896"/>
          </a:xfrm>
          <a:prstGeom prst="rect">
            <a:avLst/>
          </a:prstGeom>
          <a:noFill/>
          <a:ln/>
        </p:spPr>
        <p:txBody>
          <a:bodyPr wrap="square" lIns="0" tIns="0" rIns="0" bIns="0" rtlCol="0" anchor="t"/>
          <a:lstStyle/>
          <a:p>
            <a:pPr algn="ctr" indent="0" marL="0">
              <a:buNone/>
            </a:pPr>
            <a:r>
              <a:rPr lang="en-US" sz="1500" b="1" dirty="0">
                <a:solidFill>
                  <a:srgbClr val="5FC98B"/>
                </a:solidFill>
                <a:latin typeface="Arial" pitchFamily="34" charset="0"/>
                <a:ea typeface="Arial" pitchFamily="34" charset="-122"/>
                <a:cs typeface="Arial" pitchFamily="34" charset="-120"/>
              </a:rPr>
              <a:t>LOO positive control</a:t>
            </a:r>
            <a:endParaRPr lang="en-US" sz="1500" dirty="0"/>
          </a:p>
        </p:txBody>
      </p:sp>
      <p:sp>
        <p:nvSpPr>
          <p:cNvPr id="31" name="Text 28"/>
          <p:cNvSpPr txBox="1"/>
          <p:nvPr/>
        </p:nvSpPr>
        <p:spPr>
          <a:xfrm>
            <a:off x="6382512" y="1783080"/>
            <a:ext cx="5029200" cy="1188720"/>
          </a:xfrm>
          <a:prstGeom prst="rect">
            <a:avLst/>
          </a:prstGeom>
          <a:noFill/>
          <a:ln/>
        </p:spPr>
        <p:txBody>
          <a:bodyPr wrap="square" lIns="0" tIns="0" rIns="0" bIns="0" rtlCol="0" anchor="t"/>
          <a:lstStyle/>
          <a:p>
            <a:pPr algn="ctr" indent="0" marL="0">
              <a:buNone/>
            </a:pPr>
            <a:r>
              <a:rPr lang="en-US" sz="8000" b="1" dirty="0">
                <a:solidFill>
                  <a:srgbClr val="5FC98B"/>
                </a:solidFill>
                <a:latin typeface="Arial" pitchFamily="34" charset="0"/>
                <a:ea typeface="Arial" pitchFamily="34" charset="-122"/>
                <a:cs typeface="Arial" pitchFamily="34" charset="-120"/>
              </a:rPr>
              <a:t>&gt; 0</a:t>
            </a:r>
            <a:endParaRPr lang="en-US" sz="8000" dirty="0"/>
          </a:p>
        </p:txBody>
      </p:sp>
      <p:sp>
        <p:nvSpPr>
          <p:cNvPr id="32" name="Shape 29"/>
          <p:cNvSpPr/>
          <p:nvPr/>
        </p:nvSpPr>
        <p:spPr>
          <a:xfrm>
            <a:off x="6675120" y="3611880"/>
            <a:ext cx="4389120" cy="0"/>
          </a:xfrm>
          <a:prstGeom prst="line">
            <a:avLst/>
          </a:prstGeom>
          <a:noFill/>
          <a:ln w="12700">
            <a:solidFill>
              <a:srgbClr val="AFBDC8"/>
            </a:solidFill>
            <a:prstDash val="solid"/>
          </a:ln>
        </p:spPr>
      </p:sp>
      <p:sp>
        <p:nvSpPr>
          <p:cNvPr id="33" name="Shape 30"/>
          <p:cNvSpPr/>
          <p:nvPr/>
        </p:nvSpPr>
        <p:spPr>
          <a:xfrm>
            <a:off x="8869680" y="3291840"/>
            <a:ext cx="0" cy="640080"/>
          </a:xfrm>
          <a:prstGeom prst="line">
            <a:avLst/>
          </a:prstGeom>
          <a:noFill/>
          <a:ln w="12700">
            <a:solidFill>
              <a:srgbClr val="AFBDC8"/>
            </a:solidFill>
            <a:prstDash val="solid"/>
          </a:ln>
        </p:spPr>
      </p:sp>
      <p:sp>
        <p:nvSpPr>
          <p:cNvPr id="34" name="Shape 31"/>
          <p:cNvSpPr/>
          <p:nvPr/>
        </p:nvSpPr>
        <p:spPr>
          <a:xfrm>
            <a:off x="8869680" y="3419856"/>
            <a:ext cx="1920240" cy="384048"/>
          </a:xfrm>
          <a:prstGeom prst="rect">
            <a:avLst/>
          </a:prstGeom>
          <a:solidFill>
            <a:srgbClr val="5FC98B"/>
          </a:solidFill>
          <a:ln w="12700">
            <a:solidFill>
              <a:srgbClr val="5FC98B"/>
            </a:solidFill>
            <a:prstDash val="solid"/>
          </a:ln>
        </p:spPr>
      </p:sp>
      <p:sp>
        <p:nvSpPr>
          <p:cNvPr id="35" name="Text 32"/>
          <p:cNvSpPr txBox="1"/>
          <p:nvPr/>
        </p:nvSpPr>
        <p:spPr>
          <a:xfrm>
            <a:off x="8485632" y="3657600"/>
            <a:ext cx="365760" cy="219456"/>
          </a:xfrm>
          <a:prstGeom prst="rect">
            <a:avLst/>
          </a:prstGeom>
          <a:noFill/>
          <a:ln/>
        </p:spPr>
        <p:txBody>
          <a:bodyPr wrap="square" lIns="0" tIns="0" rIns="0" bIns="0" rtlCol="0" anchor="t"/>
          <a:lstStyle/>
          <a:p>
            <a:pPr algn="r" indent="0" marL="0">
              <a:buNone/>
            </a:pPr>
            <a:r>
              <a:rPr lang="en-US" sz="1000" dirty="0">
                <a:solidFill>
                  <a:srgbClr val="AFBDC8"/>
                </a:solidFill>
                <a:latin typeface="Arial" pitchFamily="34" charset="0"/>
                <a:ea typeface="Arial" pitchFamily="34" charset="-122"/>
                <a:cs typeface="Arial" pitchFamily="34" charset="-120"/>
              </a:rPr>
              <a:t>0</a:t>
            </a:r>
            <a:endParaRPr lang="en-US" sz="1000" dirty="0"/>
          </a:p>
        </p:txBody>
      </p:sp>
      <p:sp>
        <p:nvSpPr>
          <p:cNvPr id="36" name="Text 33"/>
          <p:cNvSpPr txBox="1"/>
          <p:nvPr/>
        </p:nvSpPr>
        <p:spPr>
          <a:xfrm>
            <a:off x="6382512" y="4160520"/>
            <a:ext cx="5029200" cy="292608"/>
          </a:xfrm>
          <a:prstGeom prst="rect">
            <a:avLst/>
          </a:prstGeom>
          <a:noFill/>
          <a:ln/>
        </p:spPr>
        <p:txBody>
          <a:bodyPr wrap="square" lIns="0" tIns="0" rIns="0" bIns="0" rtlCol="0" anchor="t"/>
          <a:lstStyle/>
          <a:p>
            <a:pPr algn="ctr" indent="0" marL="0">
              <a:buNone/>
            </a:pPr>
            <a:r>
              <a:rPr lang="en-US" sz="1300" dirty="0">
                <a:solidFill>
                  <a:srgbClr val="FFFFFF"/>
                </a:solidFill>
                <a:latin typeface="Arial" pitchFamily="34" charset="0"/>
                <a:ea typeface="Arial" pitchFamily="34" charset="-122"/>
                <a:cs typeface="Arial" pitchFamily="34" charset="-120"/>
              </a:rPr>
              <a:t>The instrument can detect a decision-relevant ranking.</a:t>
            </a:r>
            <a:endParaRPr lang="en-US" sz="1300" dirty="0"/>
          </a:p>
        </p:txBody>
      </p:sp>
      <p:sp>
        <p:nvSpPr>
          <p:cNvPr id="37" name="Text 34"/>
          <p:cNvSpPr txBox="1"/>
          <p:nvPr/>
        </p:nvSpPr>
        <p:spPr>
          <a:xfrm>
            <a:off x="6382512" y="4572000"/>
            <a:ext cx="5029200" cy="457200"/>
          </a:xfrm>
          <a:prstGeom prst="rect">
            <a:avLst/>
          </a:prstGeom>
          <a:noFill/>
          <a:ln/>
        </p:spPr>
        <p:txBody>
          <a:bodyPr wrap="square" lIns="0" tIns="0" rIns="0" bIns="0" rtlCol="0" anchor="t"/>
          <a:lstStyle/>
          <a:p>
            <a:pPr indent="0" marL="0">
              <a:lnSpc>
                <a:spcPct val="115000"/>
              </a:lnSpc>
              <a:buNone/>
            </a:pPr>
            <a:r>
              <a:rPr lang="en-US" sz="950" i="1" dirty="0">
                <a:solidFill>
                  <a:srgbClr val="93A2AD"/>
                </a:solidFill>
                <a:latin typeface="Arial" pitchFamily="34" charset="0"/>
                <a:ea typeface="Arial" pitchFamily="34" charset="-122"/>
                <a:cs typeface="Arial" pitchFamily="34" charset="-120"/>
              </a:rPr>
              <a:t>+5.595 [4.053, 7.436] · +5.735 · +4.001 · +3.949   (×10⁻³) — all four intervals above zero</a:t>
            </a:r>
            <a:endParaRPr lang="en-US" sz="950" dirty="0"/>
          </a:p>
        </p:txBody>
      </p:sp>
      <p:sp>
        <p:nvSpPr>
          <p:cNvPr id="38" name="Shape 35"/>
          <p:cNvSpPr/>
          <p:nvPr/>
        </p:nvSpPr>
        <p:spPr>
          <a:xfrm>
            <a:off x="548640" y="5559552"/>
            <a:ext cx="11091672" cy="694944"/>
          </a:xfrm>
          <a:prstGeom prst="roundRect">
            <a:avLst>
              <a:gd name="adj" fmla="val 7895"/>
            </a:avLst>
          </a:prstGeom>
          <a:solidFill>
            <a:srgbClr val="44515C"/>
          </a:solidFill>
          <a:ln w="12700">
            <a:solidFill>
              <a:srgbClr val="E4644C"/>
            </a:solidFill>
            <a:prstDash val="solid"/>
          </a:ln>
        </p:spPr>
      </p:sp>
      <p:sp>
        <p:nvSpPr>
          <p:cNvPr id="39" name="Text 36"/>
          <p:cNvSpPr txBox="1"/>
          <p:nvPr/>
        </p:nvSpPr>
        <p:spPr>
          <a:xfrm>
            <a:off x="822960" y="5751576"/>
            <a:ext cx="10515600" cy="36576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Even on perfectly clean telemetry, raw attention does not qualify as an explanation. The failure is attention's, not the metric's.</a:t>
            </a:r>
            <a:endParaRPr lang="en-US" sz="1400" dirty="0"/>
          </a:p>
        </p:txBody>
      </p:sp>
      <p:sp>
        <p:nvSpPr>
          <p:cNvPr id="40" name="Text 37"/>
          <p:cNvSpPr txBox="1"/>
          <p:nvPr/>
        </p:nvSpPr>
        <p:spPr>
          <a:xfrm>
            <a:off x="11365992" y="6382512"/>
            <a:ext cx="365760" cy="274320"/>
          </a:xfrm>
          <a:prstGeom prst="rect">
            <a:avLst/>
          </a:prstGeom>
          <a:noFill/>
          <a:ln/>
        </p:spPr>
        <p:txBody>
          <a:bodyPr wrap="square" lIns="0" tIns="0" rIns="0" bIns="0" rtlCol="0" anchor="ctr"/>
          <a:lstStyle/>
          <a:p>
            <a:pPr algn="r" indent="0" marL="0">
              <a:buNone/>
            </a:pPr>
            <a:r>
              <a:rPr lang="en-US" sz="900" dirty="0">
                <a:solidFill>
                  <a:srgbClr val="7C8B96"/>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9454F"/>
        </a:solidFill>
      </p:bgPr>
    </p:bg>
    <p:spTree>
      <p:nvGrpSpPr>
        <p:cNvPr id="1" name=""/>
        <p:cNvGrpSpPr/>
        <p:nvPr/>
      </p:nvGrpSpPr>
      <p:grpSpPr>
        <a:xfrm>
          <a:off x="0" y="0"/>
          <a:ext cx="0" cy="0"/>
          <a:chOff x="0" y="0"/>
          <a:chExt cx="0" cy="0"/>
        </a:xfrm>
      </p:grpSpPr>
      <p:sp>
        <p:nvSpPr>
          <p:cNvPr id="3" name="Shape 0"/>
          <p:cNvSpPr/>
          <p:nvPr/>
        </p:nvSpPr>
        <p:spPr>
          <a:xfrm>
            <a:off x="201168" y="201168"/>
            <a:ext cx="384048" cy="0"/>
          </a:xfrm>
          <a:prstGeom prst="line">
            <a:avLst/>
          </a:prstGeom>
          <a:noFill/>
          <a:ln w="12700">
            <a:solidFill>
              <a:srgbClr val="66757F"/>
            </a:solidFill>
            <a:prstDash val="solid"/>
          </a:ln>
        </p:spPr>
      </p:sp>
      <p:sp>
        <p:nvSpPr>
          <p:cNvPr id="4" name="Shape 1"/>
          <p:cNvSpPr/>
          <p:nvPr/>
        </p:nvSpPr>
        <p:spPr>
          <a:xfrm>
            <a:off x="201168" y="201168"/>
            <a:ext cx="0" cy="384048"/>
          </a:xfrm>
          <a:prstGeom prst="line">
            <a:avLst/>
          </a:prstGeom>
          <a:noFill/>
          <a:ln w="12700">
            <a:solidFill>
              <a:srgbClr val="66757F"/>
            </a:solidFill>
            <a:prstDash val="solid"/>
          </a:ln>
        </p:spPr>
      </p:sp>
      <p:sp>
        <p:nvSpPr>
          <p:cNvPr id="5" name="Shape 2"/>
          <p:cNvSpPr/>
          <p:nvPr/>
        </p:nvSpPr>
        <p:spPr>
          <a:xfrm flipH="1">
            <a:off x="11603736" y="201168"/>
            <a:ext cx="384048" cy="0"/>
          </a:xfrm>
          <a:prstGeom prst="line">
            <a:avLst/>
          </a:prstGeom>
          <a:noFill/>
          <a:ln w="12700">
            <a:solidFill>
              <a:srgbClr val="66757F"/>
            </a:solidFill>
            <a:prstDash val="solid"/>
          </a:ln>
        </p:spPr>
      </p:sp>
      <p:sp>
        <p:nvSpPr>
          <p:cNvPr id="6" name="Shape 3"/>
          <p:cNvSpPr/>
          <p:nvPr/>
        </p:nvSpPr>
        <p:spPr>
          <a:xfrm>
            <a:off x="11987784" y="201168"/>
            <a:ext cx="0" cy="384048"/>
          </a:xfrm>
          <a:prstGeom prst="line">
            <a:avLst/>
          </a:prstGeom>
          <a:noFill/>
          <a:ln w="12700">
            <a:solidFill>
              <a:srgbClr val="66757F"/>
            </a:solidFill>
            <a:prstDash val="solid"/>
          </a:ln>
        </p:spPr>
      </p:sp>
      <p:sp>
        <p:nvSpPr>
          <p:cNvPr id="7" name="Shape 4"/>
          <p:cNvSpPr/>
          <p:nvPr/>
        </p:nvSpPr>
        <p:spPr>
          <a:xfrm>
            <a:off x="201168" y="6656832"/>
            <a:ext cx="384048" cy="0"/>
          </a:xfrm>
          <a:prstGeom prst="line">
            <a:avLst/>
          </a:prstGeom>
          <a:noFill/>
          <a:ln w="12700">
            <a:solidFill>
              <a:srgbClr val="66757F"/>
            </a:solidFill>
            <a:prstDash val="solid"/>
          </a:ln>
        </p:spPr>
      </p:sp>
      <p:sp>
        <p:nvSpPr>
          <p:cNvPr id="8" name="Shape 5"/>
          <p:cNvSpPr/>
          <p:nvPr/>
        </p:nvSpPr>
        <p:spPr>
          <a:xfrm flipV="1">
            <a:off x="201168" y="6272784"/>
            <a:ext cx="0" cy="384048"/>
          </a:xfrm>
          <a:prstGeom prst="line">
            <a:avLst/>
          </a:prstGeom>
          <a:noFill/>
          <a:ln w="12700">
            <a:solidFill>
              <a:srgbClr val="66757F"/>
            </a:solidFill>
            <a:prstDash val="solid"/>
          </a:ln>
        </p:spPr>
      </p:sp>
      <p:sp>
        <p:nvSpPr>
          <p:cNvPr id="9" name="Shape 6"/>
          <p:cNvSpPr/>
          <p:nvPr/>
        </p:nvSpPr>
        <p:spPr>
          <a:xfrm flipH="1">
            <a:off x="11603736" y="6656832"/>
            <a:ext cx="384048" cy="0"/>
          </a:xfrm>
          <a:prstGeom prst="line">
            <a:avLst/>
          </a:prstGeom>
          <a:noFill/>
          <a:ln w="12700">
            <a:solidFill>
              <a:srgbClr val="66757F"/>
            </a:solidFill>
            <a:prstDash val="solid"/>
          </a:ln>
        </p:spPr>
      </p:sp>
      <p:sp>
        <p:nvSpPr>
          <p:cNvPr id="10" name="Shape 7"/>
          <p:cNvSpPr/>
          <p:nvPr/>
        </p:nvSpPr>
        <p:spPr>
          <a:xfrm flipV="1">
            <a:off x="11987784" y="6272784"/>
            <a:ext cx="0" cy="384048"/>
          </a:xfrm>
          <a:prstGeom prst="line">
            <a:avLst/>
          </a:prstGeom>
          <a:noFill/>
          <a:ln w="12700">
            <a:solidFill>
              <a:srgbClr val="66757F"/>
            </a:solidFill>
            <a:prstDash val="solid"/>
          </a:ln>
        </p:spPr>
      </p:sp>
      <p:sp>
        <p:nvSpPr>
          <p:cNvPr id="11" name="Shape 8"/>
          <p:cNvSpPr/>
          <p:nvPr/>
        </p:nvSpPr>
        <p:spPr>
          <a:xfrm>
            <a:off x="6003036" y="182880"/>
            <a:ext cx="182880" cy="0"/>
          </a:xfrm>
          <a:prstGeom prst="line">
            <a:avLst/>
          </a:prstGeom>
          <a:noFill/>
          <a:ln w="12700">
            <a:solidFill>
              <a:srgbClr val="66757F"/>
            </a:solidFill>
            <a:prstDash val="solid"/>
          </a:ln>
        </p:spPr>
      </p:sp>
      <p:sp>
        <p:nvSpPr>
          <p:cNvPr id="12" name="Shape 9"/>
          <p:cNvSpPr/>
          <p:nvPr/>
        </p:nvSpPr>
        <p:spPr>
          <a:xfrm>
            <a:off x="6094476" y="91440"/>
            <a:ext cx="0" cy="182880"/>
          </a:xfrm>
          <a:prstGeom prst="line">
            <a:avLst/>
          </a:prstGeom>
          <a:noFill/>
          <a:ln w="12700">
            <a:solidFill>
              <a:srgbClr val="66757F"/>
            </a:solidFill>
            <a:prstDash val="solid"/>
          </a:ln>
        </p:spPr>
      </p:sp>
      <p:sp>
        <p:nvSpPr>
          <p:cNvPr id="13" name="Shape 10"/>
          <p:cNvSpPr/>
          <p:nvPr/>
        </p:nvSpPr>
        <p:spPr>
          <a:xfrm>
            <a:off x="6003036" y="6675120"/>
            <a:ext cx="182880" cy="0"/>
          </a:xfrm>
          <a:prstGeom prst="line">
            <a:avLst/>
          </a:prstGeom>
          <a:noFill/>
          <a:ln w="12700">
            <a:solidFill>
              <a:srgbClr val="66757F"/>
            </a:solidFill>
            <a:prstDash val="solid"/>
          </a:ln>
        </p:spPr>
      </p:sp>
      <p:sp>
        <p:nvSpPr>
          <p:cNvPr id="14" name="Shape 11"/>
          <p:cNvSpPr/>
          <p:nvPr/>
        </p:nvSpPr>
        <p:spPr>
          <a:xfrm>
            <a:off x="6094476" y="6583680"/>
            <a:ext cx="0" cy="182880"/>
          </a:xfrm>
          <a:prstGeom prst="line">
            <a:avLst/>
          </a:prstGeom>
          <a:noFill/>
          <a:ln w="12700">
            <a:solidFill>
              <a:srgbClr val="66757F"/>
            </a:solidFill>
            <a:prstDash val="solid"/>
          </a:ln>
        </p:spPr>
      </p:sp>
      <p:sp>
        <p:nvSpPr>
          <p:cNvPr id="15" name="Shape 12"/>
          <p:cNvSpPr/>
          <p:nvPr/>
        </p:nvSpPr>
        <p:spPr>
          <a:xfrm>
            <a:off x="91440" y="3429000"/>
            <a:ext cx="182880" cy="0"/>
          </a:xfrm>
          <a:prstGeom prst="line">
            <a:avLst/>
          </a:prstGeom>
          <a:noFill/>
          <a:ln w="12700">
            <a:solidFill>
              <a:srgbClr val="66757F"/>
            </a:solidFill>
            <a:prstDash val="solid"/>
          </a:ln>
        </p:spPr>
      </p:sp>
      <p:sp>
        <p:nvSpPr>
          <p:cNvPr id="16" name="Shape 13"/>
          <p:cNvSpPr/>
          <p:nvPr/>
        </p:nvSpPr>
        <p:spPr>
          <a:xfrm>
            <a:off x="182880" y="3337560"/>
            <a:ext cx="0" cy="182880"/>
          </a:xfrm>
          <a:prstGeom prst="line">
            <a:avLst/>
          </a:prstGeom>
          <a:noFill/>
          <a:ln w="12700">
            <a:solidFill>
              <a:srgbClr val="66757F"/>
            </a:solidFill>
            <a:prstDash val="solid"/>
          </a:ln>
        </p:spPr>
      </p:sp>
      <p:sp>
        <p:nvSpPr>
          <p:cNvPr id="17" name="Shape 14"/>
          <p:cNvSpPr/>
          <p:nvPr/>
        </p:nvSpPr>
        <p:spPr>
          <a:xfrm>
            <a:off x="11914632" y="3429000"/>
            <a:ext cx="182880" cy="0"/>
          </a:xfrm>
          <a:prstGeom prst="line">
            <a:avLst/>
          </a:prstGeom>
          <a:noFill/>
          <a:ln w="12700">
            <a:solidFill>
              <a:srgbClr val="66757F"/>
            </a:solidFill>
            <a:prstDash val="solid"/>
          </a:ln>
        </p:spPr>
      </p:sp>
      <p:sp>
        <p:nvSpPr>
          <p:cNvPr id="18" name="Shape 15"/>
          <p:cNvSpPr/>
          <p:nvPr/>
        </p:nvSpPr>
        <p:spPr>
          <a:xfrm>
            <a:off x="12006072" y="3337560"/>
            <a:ext cx="0" cy="182880"/>
          </a:xfrm>
          <a:prstGeom prst="line">
            <a:avLst/>
          </a:prstGeom>
          <a:noFill/>
          <a:ln w="12700">
            <a:solidFill>
              <a:srgbClr val="66757F"/>
            </a:solidFill>
            <a:prstDash val="solid"/>
          </a:ln>
        </p:spPr>
      </p:sp>
      <p:sp>
        <p:nvSpPr>
          <p:cNvPr id="19" name="Text 16"/>
          <p:cNvSpPr txBox="1"/>
          <p:nvPr/>
        </p:nvSpPr>
        <p:spPr>
          <a:xfrm>
            <a:off x="566928" y="329184"/>
            <a:ext cx="11064240" cy="566928"/>
          </a:xfrm>
          <a:prstGeom prst="rect">
            <a:avLst/>
          </a:prstGeom>
          <a:noFill/>
          <a:ln/>
        </p:spPr>
        <p:txBody>
          <a:bodyPr wrap="square" lIns="0" tIns="0" rIns="0" bIns="0" rtlCol="0" anchor="t"/>
          <a:lstStyle/>
          <a:p>
            <a:pPr indent="0" marL="0">
              <a:buNone/>
            </a:pPr>
            <a:r>
              <a:rPr lang="en-US" sz="2900" b="1" dirty="0">
                <a:solidFill>
                  <a:srgbClr val="FFFFFF"/>
                </a:solidFill>
                <a:latin typeface="Arial" pitchFamily="34" charset="0"/>
                <a:ea typeface="Arial" pitchFamily="34" charset="-122"/>
                <a:cs typeface="Arial" pitchFamily="34" charset="-120"/>
              </a:rPr>
              <a:t>Verdict RQ2 &amp; RQ3 — The Counter-Intuitive Result</a:t>
            </a:r>
            <a:endParaRPr lang="en-US" sz="2900" dirty="0"/>
          </a:p>
        </p:txBody>
      </p:sp>
      <p:graphicFrame>
        <p:nvGraphicFramePr>
          <p:cNvPr id="20" name="Chart 0" descr=""/>
          <p:cNvGraphicFramePr/>
          <p:nvPr/>
        </p:nvGraphicFramePr>
        <p:xfrm>
          <a:off x="548640" y="1143000"/>
          <a:ext cx="5577840" cy="3200400"/>
        </p:xfrm>
        <a:graphic xmlns:a="http://schemas.openxmlformats.org/drawingml/2006/main">
          <a:graphicData uri="http://schemas.openxmlformats.org/drawingml/2006/chart">
            <c:chart xmlns:c="http://schemas.openxmlformats.org/drawingml/2006/chart" r:id="rId1"/>
          </a:graphicData>
        </a:graphic>
      </p:graphicFrame>
      <p:sp>
        <p:nvSpPr>
          <p:cNvPr id="21" name="Text 17"/>
          <p:cNvSpPr txBox="1"/>
          <p:nvPr/>
        </p:nvSpPr>
        <p:spPr>
          <a:xfrm>
            <a:off x="548640" y="4434840"/>
            <a:ext cx="5577840" cy="274320"/>
          </a:xfrm>
          <a:prstGeom prst="rect">
            <a:avLst/>
          </a:prstGeom>
          <a:noFill/>
          <a:ln/>
        </p:spPr>
        <p:txBody>
          <a:bodyPr wrap="square" lIns="0" tIns="0" rIns="0" bIns="0" rtlCol="0" anchor="t"/>
          <a:lstStyle/>
          <a:p>
            <a:pPr indent="0" marL="0">
              <a:buNone/>
            </a:pPr>
            <a:r>
              <a:rPr lang="en-US" sz="1300" b="1" dirty="0">
                <a:solidFill>
                  <a:srgbClr val="5FC98B"/>
                </a:solidFill>
                <a:latin typeface="Arial" pitchFamily="34" charset="0"/>
                <a:ea typeface="Arial" pitchFamily="34" charset="-122"/>
                <a:cs typeface="Arial" pitchFamily="34" charset="-120"/>
              </a:rPr>
              <a:t>Manipulation confirmed</a:t>
            </a:r>
            <a:endParaRPr lang="en-US" sz="1300" dirty="0"/>
          </a:p>
        </p:txBody>
      </p:sp>
      <p:sp>
        <p:nvSpPr>
          <p:cNvPr id="22" name="Text 18"/>
          <p:cNvSpPr txBox="1"/>
          <p:nvPr/>
        </p:nvSpPr>
        <p:spPr>
          <a:xfrm>
            <a:off x="548640" y="4754880"/>
            <a:ext cx="5577840" cy="457200"/>
          </a:xfrm>
          <a:prstGeom prst="rect">
            <a:avLst/>
          </a:prstGeom>
          <a:noFill/>
          <a:ln/>
        </p:spPr>
        <p:txBody>
          <a:bodyPr wrap="square" lIns="0" tIns="0" rIns="0" bIns="0" rtlCol="0" anchor="t"/>
          <a:lstStyle/>
          <a:p>
            <a:pPr indent="0" marL="0">
              <a:lnSpc>
                <a:spcPct val="115000"/>
              </a:lnSpc>
              <a:buNone/>
            </a:pPr>
            <a:r>
              <a:rPr lang="en-US" sz="950" i="1" dirty="0">
                <a:solidFill>
                  <a:srgbClr val="93A2AD"/>
                </a:solidFill>
                <a:latin typeface="Arial" pitchFamily="34" charset="0"/>
                <a:ea typeface="Arial" pitchFamily="34" charset="-122"/>
                <a:cs typeface="Arial" pitchFamily="34" charset="-120"/>
              </a:rPr>
              <a:t>H3 supported 6/6 · rho 0.458–0.477, significant after Holm correction</a:t>
            </a:r>
            <a:endParaRPr lang="en-US" sz="950" dirty="0"/>
          </a:p>
        </p:txBody>
      </p:sp>
      <p:sp>
        <p:nvSpPr>
          <p:cNvPr id="23" name="Shape 19"/>
          <p:cNvSpPr/>
          <p:nvPr/>
        </p:nvSpPr>
        <p:spPr>
          <a:xfrm>
            <a:off x="6355080" y="1143000"/>
            <a:ext cx="5285232" cy="4206240"/>
          </a:xfrm>
          <a:prstGeom prst="roundRect">
            <a:avLst>
              <a:gd name="adj" fmla="val 1304"/>
            </a:avLst>
          </a:prstGeom>
          <a:solidFill>
            <a:srgbClr val="2F3A43"/>
          </a:solidFill>
          <a:ln w="12700">
            <a:solidFill>
              <a:srgbClr val="E4644C"/>
            </a:solidFill>
            <a:prstDash val="solid"/>
          </a:ln>
        </p:spPr>
      </p:sp>
      <p:sp>
        <p:nvSpPr>
          <p:cNvPr id="24" name="Text 20"/>
          <p:cNvSpPr txBox="1"/>
          <p:nvPr/>
        </p:nvSpPr>
        <p:spPr>
          <a:xfrm>
            <a:off x="6583680" y="1353312"/>
            <a:ext cx="4846320" cy="310896"/>
          </a:xfrm>
          <a:prstGeom prst="rect">
            <a:avLst/>
          </a:prstGeom>
          <a:noFill/>
          <a:ln/>
        </p:spPr>
        <p:txBody>
          <a:bodyPr wrap="square" lIns="0" tIns="0" rIns="0" bIns="0" rtlCol="0" anchor="t"/>
          <a:lstStyle/>
          <a:p>
            <a:pPr indent="0" marL="0">
              <a:buNone/>
            </a:pPr>
            <a:r>
              <a:rPr lang="en-US" sz="1500" b="1" dirty="0">
                <a:solidFill>
                  <a:srgbClr val="E4644C"/>
                </a:solidFill>
                <a:latin typeface="Arial" pitchFamily="34" charset="0"/>
                <a:ea typeface="Arial" pitchFamily="34" charset="-122"/>
                <a:cs typeface="Arial" pitchFamily="34" charset="-120"/>
              </a:rPr>
              <a:t>But faithfulness did not fall</a:t>
            </a:r>
            <a:endParaRPr lang="en-US" sz="1500" dirty="0"/>
          </a:p>
        </p:txBody>
      </p:sp>
      <p:sp>
        <p:nvSpPr>
          <p:cNvPr id="25" name="Shape 21"/>
          <p:cNvSpPr/>
          <p:nvPr/>
        </p:nvSpPr>
        <p:spPr>
          <a:xfrm>
            <a:off x="6583680" y="1874520"/>
            <a:ext cx="4828032" cy="1051560"/>
          </a:xfrm>
          <a:prstGeom prst="roundRect">
            <a:avLst>
              <a:gd name="adj" fmla="val 5217"/>
            </a:avLst>
          </a:prstGeom>
          <a:solidFill>
            <a:srgbClr val="44515C"/>
          </a:solidFill>
          <a:ln w="12700">
            <a:solidFill>
              <a:srgbClr val="E4644C"/>
            </a:solidFill>
            <a:prstDash val="solid"/>
          </a:ln>
        </p:spPr>
      </p:sp>
      <p:sp>
        <p:nvSpPr>
          <p:cNvPr id="26" name="Text 22"/>
          <p:cNvSpPr txBox="1"/>
          <p:nvPr/>
        </p:nvSpPr>
        <p:spPr>
          <a:xfrm>
            <a:off x="6766560" y="2148840"/>
            <a:ext cx="1371600" cy="548640"/>
          </a:xfrm>
          <a:prstGeom prst="rect">
            <a:avLst/>
          </a:prstGeom>
          <a:noFill/>
          <a:ln/>
        </p:spPr>
        <p:txBody>
          <a:bodyPr wrap="square" lIns="0" tIns="0" rIns="0" bIns="0" rtlCol="0" anchor="t"/>
          <a:lstStyle/>
          <a:p>
            <a:pPr indent="0" marL="0">
              <a:buNone/>
            </a:pPr>
            <a:r>
              <a:rPr lang="en-US" sz="2800" b="1" dirty="0">
                <a:solidFill>
                  <a:srgbClr val="E4644C"/>
                </a:solidFill>
                <a:latin typeface="Arial" pitchFamily="34" charset="0"/>
                <a:ea typeface="Arial" pitchFamily="34" charset="-122"/>
                <a:cs typeface="Arial" pitchFamily="34" charset="-120"/>
              </a:rPr>
              <a:t>0 / 6</a:t>
            </a:r>
            <a:endParaRPr lang="en-US" sz="2800" dirty="0"/>
          </a:p>
        </p:txBody>
      </p:sp>
      <p:sp>
        <p:nvSpPr>
          <p:cNvPr id="27" name="Text 23"/>
          <p:cNvSpPr txBox="1"/>
          <p:nvPr/>
        </p:nvSpPr>
        <p:spPr>
          <a:xfrm>
            <a:off x="8229600" y="2075688"/>
            <a:ext cx="3017520" cy="27432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H1</a:t>
            </a:r>
            <a:endParaRPr lang="en-US" sz="1300" dirty="0"/>
          </a:p>
        </p:txBody>
      </p:sp>
      <p:sp>
        <p:nvSpPr>
          <p:cNvPr id="28" name="Text 24"/>
          <p:cNvSpPr txBox="1"/>
          <p:nvPr/>
        </p:nvSpPr>
        <p:spPr>
          <a:xfrm>
            <a:off x="8229600" y="2404872"/>
            <a:ext cx="3017520" cy="365760"/>
          </a:xfrm>
          <a:prstGeom prst="rect">
            <a:avLst/>
          </a:prstGeom>
          <a:noFill/>
          <a:ln/>
        </p:spPr>
        <p:txBody>
          <a:bodyPr wrap="square" lIns="0" tIns="0" rIns="0" bIns="0" rtlCol="0" anchor="t"/>
          <a:lstStyle/>
          <a:p>
            <a:pPr indent="0" marL="0">
              <a:buNone/>
            </a:pPr>
            <a:r>
              <a:rPr lang="en-US" sz="1150" dirty="0">
                <a:solidFill>
                  <a:srgbClr val="AFBDC8"/>
                </a:solidFill>
                <a:latin typeface="Arial" pitchFamily="34" charset="0"/>
                <a:ea typeface="Arial" pitchFamily="34" charset="-122"/>
                <a:cs typeface="Arial" pitchFamily="34" charset="-120"/>
              </a:rPr>
              <a:t>DEF falls as duration rises</a:t>
            </a:r>
            <a:endParaRPr lang="en-US" sz="1150" dirty="0"/>
          </a:p>
        </p:txBody>
      </p:sp>
      <p:sp>
        <p:nvSpPr>
          <p:cNvPr id="29" name="Shape 25"/>
          <p:cNvSpPr/>
          <p:nvPr/>
        </p:nvSpPr>
        <p:spPr>
          <a:xfrm>
            <a:off x="6583680" y="3063240"/>
            <a:ext cx="4828032" cy="1051560"/>
          </a:xfrm>
          <a:prstGeom prst="roundRect">
            <a:avLst>
              <a:gd name="adj" fmla="val 5217"/>
            </a:avLst>
          </a:prstGeom>
          <a:solidFill>
            <a:srgbClr val="44515C"/>
          </a:solidFill>
          <a:ln w="12700">
            <a:solidFill>
              <a:srgbClr val="E4644C"/>
            </a:solidFill>
            <a:prstDash val="solid"/>
          </a:ln>
        </p:spPr>
      </p:sp>
      <p:sp>
        <p:nvSpPr>
          <p:cNvPr id="30" name="Text 26"/>
          <p:cNvSpPr txBox="1"/>
          <p:nvPr/>
        </p:nvSpPr>
        <p:spPr>
          <a:xfrm>
            <a:off x="6766560" y="3337560"/>
            <a:ext cx="1371600" cy="548640"/>
          </a:xfrm>
          <a:prstGeom prst="rect">
            <a:avLst/>
          </a:prstGeom>
          <a:noFill/>
          <a:ln/>
        </p:spPr>
        <p:txBody>
          <a:bodyPr wrap="square" lIns="0" tIns="0" rIns="0" bIns="0" rtlCol="0" anchor="t"/>
          <a:lstStyle/>
          <a:p>
            <a:pPr indent="0" marL="0">
              <a:buNone/>
            </a:pPr>
            <a:r>
              <a:rPr lang="en-US" sz="2800" b="1" dirty="0">
                <a:solidFill>
                  <a:srgbClr val="E4644C"/>
                </a:solidFill>
                <a:latin typeface="Arial" pitchFamily="34" charset="0"/>
                <a:ea typeface="Arial" pitchFamily="34" charset="-122"/>
                <a:cs typeface="Arial" pitchFamily="34" charset="-120"/>
              </a:rPr>
              <a:t>0 / 6</a:t>
            </a:r>
            <a:endParaRPr lang="en-US" sz="2800" dirty="0"/>
          </a:p>
        </p:txBody>
      </p:sp>
      <p:sp>
        <p:nvSpPr>
          <p:cNvPr id="31" name="Text 27"/>
          <p:cNvSpPr txBox="1"/>
          <p:nvPr/>
        </p:nvSpPr>
        <p:spPr>
          <a:xfrm>
            <a:off x="8229600" y="3264408"/>
            <a:ext cx="3017520" cy="27432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H4</a:t>
            </a:r>
            <a:endParaRPr lang="en-US" sz="1300" dirty="0"/>
          </a:p>
        </p:txBody>
      </p:sp>
      <p:sp>
        <p:nvSpPr>
          <p:cNvPr id="32" name="Text 28"/>
          <p:cNvSpPr txBox="1"/>
          <p:nvPr/>
        </p:nvSpPr>
        <p:spPr>
          <a:xfrm>
            <a:off x="8229600" y="3593592"/>
            <a:ext cx="3017520" cy="365760"/>
          </a:xfrm>
          <a:prstGeom prst="rect">
            <a:avLst/>
          </a:prstGeom>
          <a:noFill/>
          <a:ln/>
        </p:spPr>
        <p:txBody>
          <a:bodyPr wrap="square" lIns="0" tIns="0" rIns="0" bIns="0" rtlCol="0" anchor="t"/>
          <a:lstStyle/>
          <a:p>
            <a:pPr indent="0" marL="0">
              <a:buNone/>
            </a:pPr>
            <a:r>
              <a:rPr lang="en-US" sz="1150" dirty="0">
                <a:solidFill>
                  <a:srgbClr val="AFBDC8"/>
                </a:solidFill>
                <a:latin typeface="Arial" pitchFamily="34" charset="0"/>
                <a:ea typeface="Arial" pitchFamily="34" charset="-122"/>
                <a:cs typeface="Arial" pitchFamily="34" charset="-120"/>
              </a:rPr>
              <a:t>Higher WAMSN, lower DEF</a:t>
            </a:r>
            <a:endParaRPr lang="en-US" sz="1150" dirty="0"/>
          </a:p>
        </p:txBody>
      </p:sp>
      <p:sp>
        <p:nvSpPr>
          <p:cNvPr id="33" name="Text 29"/>
          <p:cNvSpPr txBox="1"/>
          <p:nvPr/>
        </p:nvSpPr>
        <p:spPr>
          <a:xfrm>
            <a:off x="6583680" y="4343400"/>
            <a:ext cx="4846320" cy="292608"/>
          </a:xfrm>
          <a:prstGeom prst="rect">
            <a:avLst/>
          </a:prstGeom>
          <a:noFill/>
          <a:ln/>
        </p:spPr>
        <p:txBody>
          <a:bodyPr wrap="square" lIns="0" tIns="0" rIns="0" bIns="0" rtlCol="0" anchor="t"/>
          <a:lstStyle/>
          <a:p>
            <a:pPr indent="0" marL="0">
              <a:buNone/>
            </a:pPr>
            <a:r>
              <a:rPr lang="en-US" sz="1250" b="1" dirty="0">
                <a:solidFill>
                  <a:srgbClr val="F0A030"/>
                </a:solidFill>
                <a:latin typeface="Arial" pitchFamily="34" charset="0"/>
                <a:ea typeface="Arial" pitchFamily="34" charset="-122"/>
                <a:cs typeface="Arial" pitchFamily="34" charset="-120"/>
              </a:rPr>
              <a:t>Paired DEF moves slightly UP in all six checkpoints</a:t>
            </a:r>
            <a:endParaRPr lang="en-US" sz="1250" dirty="0"/>
          </a:p>
        </p:txBody>
      </p:sp>
      <p:sp>
        <p:nvSpPr>
          <p:cNvPr id="34" name="Text 30"/>
          <p:cNvSpPr txBox="1"/>
          <p:nvPr/>
        </p:nvSpPr>
        <p:spPr>
          <a:xfrm>
            <a:off x="6583680" y="4709160"/>
            <a:ext cx="4846320" cy="457200"/>
          </a:xfrm>
          <a:prstGeom prst="rect">
            <a:avLst/>
          </a:prstGeom>
          <a:noFill/>
          <a:ln/>
        </p:spPr>
        <p:txBody>
          <a:bodyPr wrap="square" lIns="0" tIns="0" rIns="0" bIns="0" rtlCol="0" anchor="t"/>
          <a:lstStyle/>
          <a:p>
            <a:pPr indent="0" marL="0">
              <a:lnSpc>
                <a:spcPct val="115000"/>
              </a:lnSpc>
              <a:buNone/>
            </a:pPr>
            <a:r>
              <a:rPr lang="en-US" sz="950" i="1" dirty="0">
                <a:solidFill>
                  <a:srgbClr val="93A2AD"/>
                </a:solidFill>
                <a:latin typeface="Arial" pitchFamily="34" charset="0"/>
                <a:ea typeface="Arial" pitchFamily="34" charset="-122"/>
                <a:cs typeface="Arial" pitchFamily="34" charset="-120"/>
              </a:rPr>
              <a:t>H1 rho 0.015–0.226 · H4 rho 0.097–0.518 — all non-negative</a:t>
            </a:r>
            <a:endParaRPr lang="en-US" sz="950" dirty="0"/>
          </a:p>
        </p:txBody>
      </p:sp>
      <p:sp>
        <p:nvSpPr>
          <p:cNvPr id="35" name="Shape 31"/>
          <p:cNvSpPr/>
          <p:nvPr/>
        </p:nvSpPr>
        <p:spPr>
          <a:xfrm>
            <a:off x="548640" y="5559552"/>
            <a:ext cx="11091672" cy="694944"/>
          </a:xfrm>
          <a:prstGeom prst="roundRect">
            <a:avLst>
              <a:gd name="adj" fmla="val 7895"/>
            </a:avLst>
          </a:prstGeom>
          <a:solidFill>
            <a:srgbClr val="44515C"/>
          </a:solidFill>
          <a:ln w="12700">
            <a:solidFill>
              <a:srgbClr val="F0A030"/>
            </a:solidFill>
            <a:prstDash val="solid"/>
          </a:ln>
        </p:spPr>
      </p:sp>
      <p:sp>
        <p:nvSpPr>
          <p:cNvPr id="36" name="Text 32"/>
          <p:cNvSpPr txBox="1"/>
          <p:nvPr/>
        </p:nvSpPr>
        <p:spPr>
          <a:xfrm>
            <a:off x="822960" y="5751576"/>
            <a:ext cx="10515600" cy="36576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"Older data, worse explanation" is not what happened. DEF and WAMSN are decoupled.</a:t>
            </a:r>
            <a:endParaRPr lang="en-US" sz="1400" dirty="0"/>
          </a:p>
        </p:txBody>
      </p:sp>
      <p:sp>
        <p:nvSpPr>
          <p:cNvPr id="37" name="Text 33"/>
          <p:cNvSpPr txBox="1"/>
          <p:nvPr/>
        </p:nvSpPr>
        <p:spPr>
          <a:xfrm>
            <a:off x="11365992" y="6382512"/>
            <a:ext cx="365760" cy="274320"/>
          </a:xfrm>
          <a:prstGeom prst="rect">
            <a:avLst/>
          </a:prstGeom>
          <a:noFill/>
          <a:ln/>
        </p:spPr>
        <p:txBody>
          <a:bodyPr wrap="square" lIns="0" tIns="0" rIns="0" bIns="0" rtlCol="0" anchor="ctr"/>
          <a:lstStyle/>
          <a:p>
            <a:pPr algn="r" indent="0" marL="0">
              <a:buNone/>
            </a:pPr>
            <a:r>
              <a:rPr lang="en-US" sz="900" dirty="0">
                <a:solidFill>
                  <a:srgbClr val="7C8B96"/>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9454F"/>
        </a:solidFill>
      </p:bgPr>
    </p:bg>
    <p:spTree>
      <p:nvGrpSpPr>
        <p:cNvPr id="1" name=""/>
        <p:cNvGrpSpPr/>
        <p:nvPr/>
      </p:nvGrpSpPr>
      <p:grpSpPr>
        <a:xfrm>
          <a:off x="0" y="0"/>
          <a:ext cx="0" cy="0"/>
          <a:chOff x="0" y="0"/>
          <a:chExt cx="0" cy="0"/>
        </a:xfrm>
      </p:grpSpPr>
      <p:sp>
        <p:nvSpPr>
          <p:cNvPr id="3" name="Shape 0"/>
          <p:cNvSpPr/>
          <p:nvPr/>
        </p:nvSpPr>
        <p:spPr>
          <a:xfrm>
            <a:off x="201168" y="201168"/>
            <a:ext cx="384048" cy="0"/>
          </a:xfrm>
          <a:prstGeom prst="line">
            <a:avLst/>
          </a:prstGeom>
          <a:noFill/>
          <a:ln w="12700">
            <a:solidFill>
              <a:srgbClr val="66757F"/>
            </a:solidFill>
            <a:prstDash val="solid"/>
          </a:ln>
        </p:spPr>
      </p:sp>
      <p:sp>
        <p:nvSpPr>
          <p:cNvPr id="4" name="Shape 1"/>
          <p:cNvSpPr/>
          <p:nvPr/>
        </p:nvSpPr>
        <p:spPr>
          <a:xfrm>
            <a:off x="201168" y="201168"/>
            <a:ext cx="0" cy="384048"/>
          </a:xfrm>
          <a:prstGeom prst="line">
            <a:avLst/>
          </a:prstGeom>
          <a:noFill/>
          <a:ln w="12700">
            <a:solidFill>
              <a:srgbClr val="66757F"/>
            </a:solidFill>
            <a:prstDash val="solid"/>
          </a:ln>
        </p:spPr>
      </p:sp>
      <p:sp>
        <p:nvSpPr>
          <p:cNvPr id="5" name="Shape 2"/>
          <p:cNvSpPr/>
          <p:nvPr/>
        </p:nvSpPr>
        <p:spPr>
          <a:xfrm flipH="1">
            <a:off x="11603736" y="201168"/>
            <a:ext cx="384048" cy="0"/>
          </a:xfrm>
          <a:prstGeom prst="line">
            <a:avLst/>
          </a:prstGeom>
          <a:noFill/>
          <a:ln w="12700">
            <a:solidFill>
              <a:srgbClr val="66757F"/>
            </a:solidFill>
            <a:prstDash val="solid"/>
          </a:ln>
        </p:spPr>
      </p:sp>
      <p:sp>
        <p:nvSpPr>
          <p:cNvPr id="6" name="Shape 3"/>
          <p:cNvSpPr/>
          <p:nvPr/>
        </p:nvSpPr>
        <p:spPr>
          <a:xfrm>
            <a:off x="11987784" y="201168"/>
            <a:ext cx="0" cy="384048"/>
          </a:xfrm>
          <a:prstGeom prst="line">
            <a:avLst/>
          </a:prstGeom>
          <a:noFill/>
          <a:ln w="12700">
            <a:solidFill>
              <a:srgbClr val="66757F"/>
            </a:solidFill>
            <a:prstDash val="solid"/>
          </a:ln>
        </p:spPr>
      </p:sp>
      <p:sp>
        <p:nvSpPr>
          <p:cNvPr id="7" name="Shape 4"/>
          <p:cNvSpPr/>
          <p:nvPr/>
        </p:nvSpPr>
        <p:spPr>
          <a:xfrm>
            <a:off x="201168" y="6656832"/>
            <a:ext cx="384048" cy="0"/>
          </a:xfrm>
          <a:prstGeom prst="line">
            <a:avLst/>
          </a:prstGeom>
          <a:noFill/>
          <a:ln w="12700">
            <a:solidFill>
              <a:srgbClr val="66757F"/>
            </a:solidFill>
            <a:prstDash val="solid"/>
          </a:ln>
        </p:spPr>
      </p:sp>
      <p:sp>
        <p:nvSpPr>
          <p:cNvPr id="8" name="Shape 5"/>
          <p:cNvSpPr/>
          <p:nvPr/>
        </p:nvSpPr>
        <p:spPr>
          <a:xfrm flipV="1">
            <a:off x="201168" y="6272784"/>
            <a:ext cx="0" cy="384048"/>
          </a:xfrm>
          <a:prstGeom prst="line">
            <a:avLst/>
          </a:prstGeom>
          <a:noFill/>
          <a:ln w="12700">
            <a:solidFill>
              <a:srgbClr val="66757F"/>
            </a:solidFill>
            <a:prstDash val="solid"/>
          </a:ln>
        </p:spPr>
      </p:sp>
      <p:sp>
        <p:nvSpPr>
          <p:cNvPr id="9" name="Shape 6"/>
          <p:cNvSpPr/>
          <p:nvPr/>
        </p:nvSpPr>
        <p:spPr>
          <a:xfrm flipH="1">
            <a:off x="11603736" y="6656832"/>
            <a:ext cx="384048" cy="0"/>
          </a:xfrm>
          <a:prstGeom prst="line">
            <a:avLst/>
          </a:prstGeom>
          <a:noFill/>
          <a:ln w="12700">
            <a:solidFill>
              <a:srgbClr val="66757F"/>
            </a:solidFill>
            <a:prstDash val="solid"/>
          </a:ln>
        </p:spPr>
      </p:sp>
      <p:sp>
        <p:nvSpPr>
          <p:cNvPr id="10" name="Shape 7"/>
          <p:cNvSpPr/>
          <p:nvPr/>
        </p:nvSpPr>
        <p:spPr>
          <a:xfrm flipV="1">
            <a:off x="11987784" y="6272784"/>
            <a:ext cx="0" cy="384048"/>
          </a:xfrm>
          <a:prstGeom prst="line">
            <a:avLst/>
          </a:prstGeom>
          <a:noFill/>
          <a:ln w="12700">
            <a:solidFill>
              <a:srgbClr val="66757F"/>
            </a:solidFill>
            <a:prstDash val="solid"/>
          </a:ln>
        </p:spPr>
      </p:sp>
      <p:sp>
        <p:nvSpPr>
          <p:cNvPr id="11" name="Shape 8"/>
          <p:cNvSpPr/>
          <p:nvPr/>
        </p:nvSpPr>
        <p:spPr>
          <a:xfrm>
            <a:off x="6003036" y="182880"/>
            <a:ext cx="182880" cy="0"/>
          </a:xfrm>
          <a:prstGeom prst="line">
            <a:avLst/>
          </a:prstGeom>
          <a:noFill/>
          <a:ln w="12700">
            <a:solidFill>
              <a:srgbClr val="66757F"/>
            </a:solidFill>
            <a:prstDash val="solid"/>
          </a:ln>
        </p:spPr>
      </p:sp>
      <p:sp>
        <p:nvSpPr>
          <p:cNvPr id="12" name="Shape 9"/>
          <p:cNvSpPr/>
          <p:nvPr/>
        </p:nvSpPr>
        <p:spPr>
          <a:xfrm>
            <a:off x="6094476" y="91440"/>
            <a:ext cx="0" cy="182880"/>
          </a:xfrm>
          <a:prstGeom prst="line">
            <a:avLst/>
          </a:prstGeom>
          <a:noFill/>
          <a:ln w="12700">
            <a:solidFill>
              <a:srgbClr val="66757F"/>
            </a:solidFill>
            <a:prstDash val="solid"/>
          </a:ln>
        </p:spPr>
      </p:sp>
      <p:sp>
        <p:nvSpPr>
          <p:cNvPr id="13" name="Shape 10"/>
          <p:cNvSpPr/>
          <p:nvPr/>
        </p:nvSpPr>
        <p:spPr>
          <a:xfrm>
            <a:off x="6003036" y="6675120"/>
            <a:ext cx="182880" cy="0"/>
          </a:xfrm>
          <a:prstGeom prst="line">
            <a:avLst/>
          </a:prstGeom>
          <a:noFill/>
          <a:ln w="12700">
            <a:solidFill>
              <a:srgbClr val="66757F"/>
            </a:solidFill>
            <a:prstDash val="solid"/>
          </a:ln>
        </p:spPr>
      </p:sp>
      <p:sp>
        <p:nvSpPr>
          <p:cNvPr id="14" name="Shape 11"/>
          <p:cNvSpPr/>
          <p:nvPr/>
        </p:nvSpPr>
        <p:spPr>
          <a:xfrm>
            <a:off x="6094476" y="6583680"/>
            <a:ext cx="0" cy="182880"/>
          </a:xfrm>
          <a:prstGeom prst="line">
            <a:avLst/>
          </a:prstGeom>
          <a:noFill/>
          <a:ln w="12700">
            <a:solidFill>
              <a:srgbClr val="66757F"/>
            </a:solidFill>
            <a:prstDash val="solid"/>
          </a:ln>
        </p:spPr>
      </p:sp>
      <p:sp>
        <p:nvSpPr>
          <p:cNvPr id="15" name="Shape 12"/>
          <p:cNvSpPr/>
          <p:nvPr/>
        </p:nvSpPr>
        <p:spPr>
          <a:xfrm>
            <a:off x="91440" y="3429000"/>
            <a:ext cx="182880" cy="0"/>
          </a:xfrm>
          <a:prstGeom prst="line">
            <a:avLst/>
          </a:prstGeom>
          <a:noFill/>
          <a:ln w="12700">
            <a:solidFill>
              <a:srgbClr val="66757F"/>
            </a:solidFill>
            <a:prstDash val="solid"/>
          </a:ln>
        </p:spPr>
      </p:sp>
      <p:sp>
        <p:nvSpPr>
          <p:cNvPr id="16" name="Shape 13"/>
          <p:cNvSpPr/>
          <p:nvPr/>
        </p:nvSpPr>
        <p:spPr>
          <a:xfrm>
            <a:off x="182880" y="3337560"/>
            <a:ext cx="0" cy="182880"/>
          </a:xfrm>
          <a:prstGeom prst="line">
            <a:avLst/>
          </a:prstGeom>
          <a:noFill/>
          <a:ln w="12700">
            <a:solidFill>
              <a:srgbClr val="66757F"/>
            </a:solidFill>
            <a:prstDash val="solid"/>
          </a:ln>
        </p:spPr>
      </p:sp>
      <p:sp>
        <p:nvSpPr>
          <p:cNvPr id="17" name="Shape 14"/>
          <p:cNvSpPr/>
          <p:nvPr/>
        </p:nvSpPr>
        <p:spPr>
          <a:xfrm>
            <a:off x="11914632" y="3429000"/>
            <a:ext cx="182880" cy="0"/>
          </a:xfrm>
          <a:prstGeom prst="line">
            <a:avLst/>
          </a:prstGeom>
          <a:noFill/>
          <a:ln w="12700">
            <a:solidFill>
              <a:srgbClr val="66757F"/>
            </a:solidFill>
            <a:prstDash val="solid"/>
          </a:ln>
        </p:spPr>
      </p:sp>
      <p:sp>
        <p:nvSpPr>
          <p:cNvPr id="18" name="Shape 15"/>
          <p:cNvSpPr/>
          <p:nvPr/>
        </p:nvSpPr>
        <p:spPr>
          <a:xfrm>
            <a:off x="12006072" y="3337560"/>
            <a:ext cx="0" cy="182880"/>
          </a:xfrm>
          <a:prstGeom prst="line">
            <a:avLst/>
          </a:prstGeom>
          <a:noFill/>
          <a:ln w="12700">
            <a:solidFill>
              <a:srgbClr val="66757F"/>
            </a:solidFill>
            <a:prstDash val="solid"/>
          </a:ln>
        </p:spPr>
      </p:sp>
      <p:sp>
        <p:nvSpPr>
          <p:cNvPr id="19" name="Text 16"/>
          <p:cNvSpPr txBox="1"/>
          <p:nvPr/>
        </p:nvSpPr>
        <p:spPr>
          <a:xfrm>
            <a:off x="566928" y="329184"/>
            <a:ext cx="11064240" cy="566928"/>
          </a:xfrm>
          <a:prstGeom prst="rect">
            <a:avLst/>
          </a:prstGeom>
          <a:noFill/>
          <a:ln/>
        </p:spPr>
        <p:txBody>
          <a:bodyPr wrap="square" lIns="0" tIns="0" rIns="0" bIns="0" rtlCol="0" anchor="t"/>
          <a:lstStyle/>
          <a:p>
            <a:pPr indent="0" marL="0">
              <a:buNone/>
            </a:pPr>
            <a:r>
              <a:rPr lang="en-US" sz="2900" b="1" dirty="0">
                <a:solidFill>
                  <a:srgbClr val="FFFFFF"/>
                </a:solidFill>
                <a:latin typeface="Arial" pitchFamily="34" charset="0"/>
                <a:ea typeface="Arial" pitchFamily="34" charset="-122"/>
                <a:cs typeface="Arial" pitchFamily="34" charset="-120"/>
              </a:rPr>
              <a:t>The Seed Split — Attention Is Unstable</a:t>
            </a:r>
            <a:endParaRPr lang="en-US" sz="2900" dirty="0"/>
          </a:p>
        </p:txBody>
      </p:sp>
      <p:sp>
        <p:nvSpPr>
          <p:cNvPr id="20" name="Shape 17"/>
          <p:cNvSpPr/>
          <p:nvPr/>
        </p:nvSpPr>
        <p:spPr>
          <a:xfrm>
            <a:off x="548640" y="1143000"/>
            <a:ext cx="11091672" cy="4206240"/>
          </a:xfrm>
          <a:prstGeom prst="roundRect">
            <a:avLst>
              <a:gd name="adj" fmla="val 1304"/>
            </a:avLst>
          </a:prstGeom>
          <a:solidFill>
            <a:srgbClr val="2F3A43"/>
          </a:solidFill>
          <a:ln w="12700">
            <a:solidFill>
              <a:srgbClr val="5A6772"/>
            </a:solidFill>
            <a:prstDash val="solid"/>
          </a:ln>
        </p:spPr>
      </p:sp>
      <p:sp>
        <p:nvSpPr>
          <p:cNvPr id="21" name="Shape 18"/>
          <p:cNvSpPr/>
          <p:nvPr/>
        </p:nvSpPr>
        <p:spPr>
          <a:xfrm>
            <a:off x="3223260" y="2537460"/>
            <a:ext cx="1417320" cy="1417320"/>
          </a:xfrm>
          <a:prstGeom prst="ellipse">
            <a:avLst/>
          </a:prstGeom>
          <a:solidFill>
            <a:srgbClr val="44515C"/>
          </a:solidFill>
          <a:ln w="12700">
            <a:solidFill>
              <a:srgbClr val="44515C"/>
            </a:solidFill>
            <a:prstDash val="solid"/>
          </a:ln>
        </p:spPr>
      </p:sp>
      <p:sp>
        <p:nvSpPr>
          <p:cNvPr id="22" name="Shape 19"/>
          <p:cNvSpPr/>
          <p:nvPr/>
        </p:nvSpPr>
        <p:spPr>
          <a:xfrm>
            <a:off x="3223260" y="2537460"/>
            <a:ext cx="1417320" cy="1417320"/>
          </a:xfrm>
          <a:prstGeom prst="ellipse">
            <a:avLst/>
          </a:prstGeom>
          <a:solidFill>
            <a:srgbClr val="39454F">
              <a:alpha val="0"/>
            </a:srgbClr>
          </a:solidFill>
          <a:ln w="25400">
            <a:solidFill>
              <a:srgbClr val="AFBDC8"/>
            </a:solidFill>
            <a:prstDash val="solid"/>
          </a:ln>
        </p:spPr>
      </p:sp>
      <p:sp>
        <p:nvSpPr>
          <p:cNvPr id="23" name="Text 20"/>
          <p:cNvSpPr txBox="1"/>
          <p:nvPr/>
        </p:nvSpPr>
        <p:spPr>
          <a:xfrm>
            <a:off x="3291840" y="2999232"/>
            <a:ext cx="1280160" cy="548640"/>
          </a:xfrm>
          <a:prstGeom prst="rect">
            <a:avLst/>
          </a:prstGeom>
          <a:noFill/>
          <a:ln/>
        </p:spPr>
        <p:txBody>
          <a:bodyPr wrap="square" lIns="0" tIns="0" rIns="0" bIns="0" rtlCol="0" anchor="t"/>
          <a:lstStyle/>
          <a:p>
            <a:pPr algn="ctr" indent="0" marL="0">
              <a:lnSpc>
                <a:spcPct val="115000"/>
              </a:lnSpc>
              <a:buNone/>
            </a:pPr>
            <a:r>
              <a:rPr lang="en-US" sz="1200" b="1" dirty="0">
                <a:solidFill>
                  <a:srgbClr val="FFFFFF"/>
                </a:solidFill>
                <a:latin typeface="Arial" pitchFamily="34" charset="0"/>
                <a:ea typeface="Arial" pitchFamily="34" charset="-122"/>
                <a:cs typeface="Arial" pitchFamily="34" charset="-120"/>
              </a:rPr>
              <a:t>Same</a:t>
            </a:r>
            <a:endParaRPr lang="en-US" sz="1200" dirty="0"/>
          </a:p>
          <a:p>
            <a:pPr algn="ctr" indent="0" marL="0">
              <a:lnSpc>
                <a:spcPct val="115000"/>
              </a:lnSpc>
              <a:buNone/>
            </a:pPr>
            <a:r>
              <a:rPr lang="en-US" sz="1200" b="1" dirty="0">
                <a:solidFill>
                  <a:srgbClr val="FFFFFF"/>
                </a:solidFill>
                <a:latin typeface="Arial" pitchFamily="34" charset="0"/>
                <a:ea typeface="Arial" pitchFamily="34" charset="-122"/>
                <a:cs typeface="Arial" pitchFamily="34" charset="-120"/>
              </a:rPr>
              <a:t>30 s outage</a:t>
            </a:r>
            <a:endParaRPr lang="en-US" sz="1200" dirty="0"/>
          </a:p>
        </p:txBody>
      </p:sp>
      <p:sp>
        <p:nvSpPr>
          <p:cNvPr id="24" name="Shape 21"/>
          <p:cNvSpPr/>
          <p:nvPr/>
        </p:nvSpPr>
        <p:spPr>
          <a:xfrm>
            <a:off x="3703320" y="1600200"/>
            <a:ext cx="457200" cy="914400"/>
          </a:xfrm>
          <a:prstGeom prst="upArrow">
            <a:avLst/>
          </a:prstGeom>
          <a:solidFill>
            <a:srgbClr val="F0A030"/>
          </a:solidFill>
          <a:ln w="12700">
            <a:solidFill>
              <a:srgbClr val="F0A030"/>
            </a:solidFill>
            <a:prstDash val="solid"/>
          </a:ln>
        </p:spPr>
      </p:sp>
      <p:sp>
        <p:nvSpPr>
          <p:cNvPr id="25" name="Shape 22"/>
          <p:cNvSpPr/>
          <p:nvPr/>
        </p:nvSpPr>
        <p:spPr>
          <a:xfrm>
            <a:off x="5577840" y="1371600"/>
            <a:ext cx="5394960" cy="1051560"/>
          </a:xfrm>
          <a:prstGeom prst="roundRect">
            <a:avLst>
              <a:gd name="adj" fmla="val 5217"/>
            </a:avLst>
          </a:prstGeom>
          <a:solidFill>
            <a:srgbClr val="44515C"/>
          </a:solidFill>
          <a:ln w="12700">
            <a:solidFill>
              <a:srgbClr val="F0A030"/>
            </a:solidFill>
            <a:prstDash val="solid"/>
          </a:ln>
        </p:spPr>
      </p:sp>
      <p:sp>
        <p:nvSpPr>
          <p:cNvPr id="26" name="Text 23"/>
          <p:cNvSpPr txBox="1"/>
          <p:nvPr/>
        </p:nvSpPr>
        <p:spPr>
          <a:xfrm>
            <a:off x="5806440" y="1536192"/>
            <a:ext cx="2377440" cy="292608"/>
          </a:xfrm>
          <a:prstGeom prst="rect">
            <a:avLst/>
          </a:prstGeom>
          <a:noFill/>
          <a:ln/>
        </p:spPr>
        <p:txBody>
          <a:bodyPr wrap="square" lIns="0" tIns="0" rIns="0" bIns="0" rtlCol="0" anchor="t"/>
          <a:lstStyle/>
          <a:p>
            <a:pPr indent="0" marL="0">
              <a:buNone/>
            </a:pPr>
            <a:r>
              <a:rPr lang="en-US" sz="1500" b="1" dirty="0">
                <a:solidFill>
                  <a:srgbClr val="F0A030"/>
                </a:solidFill>
                <a:latin typeface="Arial" pitchFamily="34" charset="0"/>
                <a:ea typeface="Arial" pitchFamily="34" charset="-122"/>
                <a:cs typeface="Arial" pitchFamily="34" charset="-120"/>
              </a:rPr>
              <a:t>3 checkpoints</a:t>
            </a:r>
            <a:endParaRPr lang="en-US" sz="1500" dirty="0"/>
          </a:p>
        </p:txBody>
      </p:sp>
      <p:sp>
        <p:nvSpPr>
          <p:cNvPr id="27" name="Text 24"/>
          <p:cNvSpPr txBox="1"/>
          <p:nvPr/>
        </p:nvSpPr>
        <p:spPr>
          <a:xfrm>
            <a:off x="5806440" y="1874520"/>
            <a:ext cx="4937760" cy="27432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attention shifts TOWARD stale nodes</a:t>
            </a:r>
            <a:endParaRPr lang="en-US" sz="1200" dirty="0"/>
          </a:p>
        </p:txBody>
      </p:sp>
      <p:sp>
        <p:nvSpPr>
          <p:cNvPr id="28" name="Text 25"/>
          <p:cNvSpPr txBox="1"/>
          <p:nvPr/>
        </p:nvSpPr>
        <p:spPr>
          <a:xfrm>
            <a:off x="8412480" y="1517904"/>
            <a:ext cx="2377440" cy="457200"/>
          </a:xfrm>
          <a:prstGeom prst="rect">
            <a:avLst/>
          </a:prstGeom>
          <a:noFill/>
          <a:ln/>
        </p:spPr>
        <p:txBody>
          <a:bodyPr wrap="square" lIns="0" tIns="0" rIns="0" bIns="0" rtlCol="0" anchor="t"/>
          <a:lstStyle/>
          <a:p>
            <a:pPr indent="0" marL="0">
              <a:lnSpc>
                <a:spcPct val="115000"/>
              </a:lnSpc>
              <a:buNone/>
            </a:pPr>
            <a:r>
              <a:rPr lang="en-US" sz="950" i="1" dirty="0">
                <a:solidFill>
                  <a:srgbClr val="93A2AD"/>
                </a:solidFill>
                <a:latin typeface="Arial" pitchFamily="34" charset="0"/>
                <a:ea typeface="Arial" pitchFamily="34" charset="-122"/>
                <a:cs typeface="Arial" pitchFamily="34" charset="-120"/>
              </a:rPr>
              <a:t>+3.834 · +3.347 · +0.928  (×10⁻³)</a:t>
            </a:r>
            <a:endParaRPr lang="en-US" sz="950" dirty="0"/>
          </a:p>
        </p:txBody>
      </p:sp>
      <p:sp>
        <p:nvSpPr>
          <p:cNvPr id="29" name="Shape 26"/>
          <p:cNvSpPr/>
          <p:nvPr/>
        </p:nvSpPr>
        <p:spPr>
          <a:xfrm>
            <a:off x="4709160" y="3108960"/>
            <a:ext cx="777240" cy="0"/>
          </a:xfrm>
          <a:prstGeom prst="line">
            <a:avLst/>
          </a:prstGeom>
          <a:noFill/>
          <a:ln w="25400">
            <a:solidFill>
              <a:srgbClr val="AFBDC8"/>
            </a:solidFill>
            <a:prstDash val="dash"/>
          </a:ln>
        </p:spPr>
      </p:sp>
      <p:sp>
        <p:nvSpPr>
          <p:cNvPr id="30" name="Shape 27"/>
          <p:cNvSpPr/>
          <p:nvPr/>
        </p:nvSpPr>
        <p:spPr>
          <a:xfrm>
            <a:off x="5440680" y="2990088"/>
            <a:ext cx="274320" cy="256032"/>
          </a:xfrm>
          <a:prstGeom prst="rightArrow">
            <a:avLst/>
          </a:prstGeom>
          <a:solidFill>
            <a:srgbClr val="AFBDC8"/>
          </a:solidFill>
          <a:ln w="12700">
            <a:solidFill>
              <a:srgbClr val="AFBDC8"/>
            </a:solidFill>
            <a:prstDash val="solid"/>
          </a:ln>
        </p:spPr>
      </p:sp>
      <p:sp>
        <p:nvSpPr>
          <p:cNvPr id="31" name="Shape 28"/>
          <p:cNvSpPr/>
          <p:nvPr/>
        </p:nvSpPr>
        <p:spPr>
          <a:xfrm>
            <a:off x="5577840" y="2697480"/>
            <a:ext cx="5394960" cy="914400"/>
          </a:xfrm>
          <a:prstGeom prst="roundRect">
            <a:avLst>
              <a:gd name="adj" fmla="val 6000"/>
            </a:avLst>
          </a:prstGeom>
          <a:solidFill>
            <a:srgbClr val="44515C"/>
          </a:solidFill>
          <a:ln w="12700">
            <a:solidFill>
              <a:srgbClr val="AFBDC8"/>
            </a:solidFill>
            <a:prstDash val="solid"/>
          </a:ln>
        </p:spPr>
      </p:sp>
      <p:sp>
        <p:nvSpPr>
          <p:cNvPr id="32" name="Text 29"/>
          <p:cNvSpPr txBox="1"/>
          <p:nvPr/>
        </p:nvSpPr>
        <p:spPr>
          <a:xfrm>
            <a:off x="5806440" y="2834640"/>
            <a:ext cx="2377440" cy="292608"/>
          </a:xfrm>
          <a:prstGeom prst="rect">
            <a:avLst/>
          </a:prstGeom>
          <a:noFill/>
          <a:ln/>
        </p:spPr>
        <p:txBody>
          <a:bodyPr wrap="square" lIns="0" tIns="0" rIns="0" bIns="0" rtlCol="0" anchor="t"/>
          <a:lstStyle/>
          <a:p>
            <a:pPr indent="0" marL="0">
              <a:buNone/>
            </a:pPr>
            <a:r>
              <a:rPr lang="en-US" sz="1500" b="1" dirty="0">
                <a:solidFill>
                  <a:srgbClr val="AFBDC8"/>
                </a:solidFill>
                <a:latin typeface="Arial" pitchFamily="34" charset="0"/>
                <a:ea typeface="Arial" pitchFamily="34" charset="-122"/>
                <a:cs typeface="Arial" pitchFamily="34" charset="-120"/>
              </a:rPr>
              <a:t>1 checkpoint</a:t>
            </a:r>
            <a:endParaRPr lang="en-US" sz="1500" dirty="0"/>
          </a:p>
        </p:txBody>
      </p:sp>
      <p:sp>
        <p:nvSpPr>
          <p:cNvPr id="33" name="Text 30"/>
          <p:cNvSpPr txBox="1"/>
          <p:nvPr/>
        </p:nvSpPr>
        <p:spPr>
          <a:xfrm>
            <a:off x="5806440" y="3154680"/>
            <a:ext cx="4937760" cy="27432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no clear direction — interval crosses zero</a:t>
            </a:r>
            <a:endParaRPr lang="en-US" sz="1200" dirty="0"/>
          </a:p>
        </p:txBody>
      </p:sp>
      <p:sp>
        <p:nvSpPr>
          <p:cNvPr id="34" name="Text 31"/>
          <p:cNvSpPr txBox="1"/>
          <p:nvPr/>
        </p:nvSpPr>
        <p:spPr>
          <a:xfrm>
            <a:off x="8595360" y="2834640"/>
            <a:ext cx="2194560" cy="457200"/>
          </a:xfrm>
          <a:prstGeom prst="rect">
            <a:avLst/>
          </a:prstGeom>
          <a:noFill/>
          <a:ln/>
        </p:spPr>
        <p:txBody>
          <a:bodyPr wrap="square" lIns="0" tIns="0" rIns="0" bIns="0" rtlCol="0" anchor="t"/>
          <a:lstStyle/>
          <a:p>
            <a:pPr indent="0" marL="0">
              <a:lnSpc>
                <a:spcPct val="115000"/>
              </a:lnSpc>
              <a:buNone/>
            </a:pPr>
            <a:r>
              <a:rPr lang="en-US" sz="950" i="1" dirty="0">
                <a:solidFill>
                  <a:srgbClr val="93A2AD"/>
                </a:solidFill>
                <a:latin typeface="Arial" pitchFamily="34" charset="0"/>
                <a:ea typeface="Arial" pitchFamily="34" charset="-122"/>
                <a:cs typeface="Arial" pitchFamily="34" charset="-120"/>
              </a:rPr>
              <a:t>+0.015  (×10⁻³)</a:t>
            </a:r>
            <a:endParaRPr lang="en-US" sz="950" dirty="0"/>
          </a:p>
        </p:txBody>
      </p:sp>
      <p:sp>
        <p:nvSpPr>
          <p:cNvPr id="35" name="Shape 32"/>
          <p:cNvSpPr/>
          <p:nvPr/>
        </p:nvSpPr>
        <p:spPr>
          <a:xfrm>
            <a:off x="3703320" y="4023360"/>
            <a:ext cx="457200" cy="914400"/>
          </a:xfrm>
          <a:prstGeom prst="downArrow">
            <a:avLst/>
          </a:prstGeom>
          <a:solidFill>
            <a:srgbClr val="35D6E8"/>
          </a:solidFill>
          <a:ln w="12700">
            <a:solidFill>
              <a:srgbClr val="35D6E8"/>
            </a:solidFill>
            <a:prstDash val="solid"/>
          </a:ln>
        </p:spPr>
      </p:sp>
      <p:sp>
        <p:nvSpPr>
          <p:cNvPr id="36" name="Shape 33"/>
          <p:cNvSpPr/>
          <p:nvPr/>
        </p:nvSpPr>
        <p:spPr>
          <a:xfrm>
            <a:off x="5577840" y="3977640"/>
            <a:ext cx="5394960" cy="1051560"/>
          </a:xfrm>
          <a:prstGeom prst="roundRect">
            <a:avLst>
              <a:gd name="adj" fmla="val 5217"/>
            </a:avLst>
          </a:prstGeom>
          <a:solidFill>
            <a:srgbClr val="44515C"/>
          </a:solidFill>
          <a:ln w="12700">
            <a:solidFill>
              <a:srgbClr val="35D6E8"/>
            </a:solidFill>
            <a:prstDash val="solid"/>
          </a:ln>
        </p:spPr>
      </p:sp>
      <p:sp>
        <p:nvSpPr>
          <p:cNvPr id="37" name="Text 34"/>
          <p:cNvSpPr txBox="1"/>
          <p:nvPr/>
        </p:nvSpPr>
        <p:spPr>
          <a:xfrm>
            <a:off x="5806440" y="4142232"/>
            <a:ext cx="2377440" cy="292608"/>
          </a:xfrm>
          <a:prstGeom prst="rect">
            <a:avLst/>
          </a:prstGeom>
          <a:noFill/>
          <a:ln/>
        </p:spPr>
        <p:txBody>
          <a:bodyPr wrap="square" lIns="0" tIns="0" rIns="0" bIns="0" rtlCol="0" anchor="t"/>
          <a:lstStyle/>
          <a:p>
            <a:pPr indent="0" marL="0">
              <a:buNone/>
            </a:pPr>
            <a:r>
              <a:rPr lang="en-US" sz="1500" b="1" dirty="0">
                <a:solidFill>
                  <a:srgbClr val="35D6E8"/>
                </a:solidFill>
                <a:latin typeface="Arial" pitchFamily="34" charset="0"/>
                <a:ea typeface="Arial" pitchFamily="34" charset="-122"/>
                <a:cs typeface="Arial" pitchFamily="34" charset="-120"/>
              </a:rPr>
              <a:t>2 checkpoints</a:t>
            </a:r>
            <a:endParaRPr lang="en-US" sz="1500" dirty="0"/>
          </a:p>
        </p:txBody>
      </p:sp>
      <p:sp>
        <p:nvSpPr>
          <p:cNvPr id="38" name="Text 35"/>
          <p:cNvSpPr txBox="1"/>
          <p:nvPr/>
        </p:nvSpPr>
        <p:spPr>
          <a:xfrm>
            <a:off x="5806440" y="4480560"/>
            <a:ext cx="4937760" cy="27432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attention shifts AWAY from stale nodes</a:t>
            </a:r>
            <a:endParaRPr lang="en-US" sz="1200" dirty="0"/>
          </a:p>
        </p:txBody>
      </p:sp>
      <p:sp>
        <p:nvSpPr>
          <p:cNvPr id="39" name="Text 36"/>
          <p:cNvSpPr txBox="1"/>
          <p:nvPr/>
        </p:nvSpPr>
        <p:spPr>
          <a:xfrm>
            <a:off x="8686800" y="4123944"/>
            <a:ext cx="2103120" cy="457200"/>
          </a:xfrm>
          <a:prstGeom prst="rect">
            <a:avLst/>
          </a:prstGeom>
          <a:noFill/>
          <a:ln/>
        </p:spPr>
        <p:txBody>
          <a:bodyPr wrap="square" lIns="0" tIns="0" rIns="0" bIns="0" rtlCol="0" anchor="t"/>
          <a:lstStyle/>
          <a:p>
            <a:pPr indent="0" marL="0">
              <a:lnSpc>
                <a:spcPct val="115000"/>
              </a:lnSpc>
              <a:buNone/>
            </a:pPr>
            <a:r>
              <a:rPr lang="en-US" sz="950" i="1" dirty="0">
                <a:solidFill>
                  <a:srgbClr val="93A2AD"/>
                </a:solidFill>
                <a:latin typeface="Arial" pitchFamily="34" charset="0"/>
                <a:ea typeface="Arial" pitchFamily="34" charset="-122"/>
                <a:cs typeface="Arial" pitchFamily="34" charset="-120"/>
              </a:rPr>
              <a:t>−2.639 · −3.578  (×10⁻³)</a:t>
            </a:r>
            <a:endParaRPr lang="en-US" sz="950" dirty="0"/>
          </a:p>
        </p:txBody>
      </p:sp>
      <p:sp>
        <p:nvSpPr>
          <p:cNvPr id="40" name="Text 37"/>
          <p:cNvSpPr txBox="1"/>
          <p:nvPr/>
        </p:nvSpPr>
        <p:spPr>
          <a:xfrm>
            <a:off x="822960" y="4892040"/>
            <a:ext cx="4206240" cy="274320"/>
          </a:xfrm>
          <a:prstGeom prst="rect">
            <a:avLst/>
          </a:prstGeom>
          <a:noFill/>
          <a:ln/>
        </p:spPr>
        <p:txBody>
          <a:bodyPr wrap="square" lIns="0" tIns="0" rIns="0" bIns="0" rtlCol="0" anchor="t"/>
          <a:lstStyle/>
          <a:p>
            <a:pPr indent="0" marL="0">
              <a:buNone/>
            </a:pPr>
            <a:r>
              <a:rPr lang="en-US" sz="1050" i="1" dirty="0">
                <a:solidFill>
                  <a:srgbClr val="AFBDC8"/>
                </a:solidFill>
                <a:latin typeface="Arial" pitchFamily="34" charset="0"/>
                <a:ea typeface="Arial" pitchFamily="34" charset="-122"/>
                <a:cs typeface="Arial" pitchFamily="34" charset="-120"/>
              </a:rPr>
              <a:t>paired: degraded minus its exact clean twin</a:t>
            </a:r>
            <a:endParaRPr lang="en-US" sz="1050" dirty="0"/>
          </a:p>
        </p:txBody>
      </p:sp>
      <p:sp>
        <p:nvSpPr>
          <p:cNvPr id="41" name="Shape 38"/>
          <p:cNvSpPr/>
          <p:nvPr/>
        </p:nvSpPr>
        <p:spPr>
          <a:xfrm>
            <a:off x="548640" y="5559552"/>
            <a:ext cx="11091672" cy="694944"/>
          </a:xfrm>
          <a:prstGeom prst="roundRect">
            <a:avLst>
              <a:gd name="adj" fmla="val 7895"/>
            </a:avLst>
          </a:prstGeom>
          <a:solidFill>
            <a:srgbClr val="44515C"/>
          </a:solidFill>
          <a:ln w="12700">
            <a:solidFill>
              <a:srgbClr val="E4644C"/>
            </a:solidFill>
            <a:prstDash val="solid"/>
          </a:ln>
        </p:spPr>
      </p:sp>
      <p:sp>
        <p:nvSpPr>
          <p:cNvPr id="42" name="Text 39"/>
          <p:cNvSpPr txBox="1"/>
          <p:nvPr/>
        </p:nvSpPr>
        <p:spPr>
          <a:xfrm>
            <a:off x="822960" y="5751576"/>
            <a:ext cx="10515600" cy="36576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Independently trained checkpoints disagree on direction — one attention map cannot stand in for another.</a:t>
            </a:r>
            <a:endParaRPr lang="en-US" sz="1400" dirty="0"/>
          </a:p>
        </p:txBody>
      </p:sp>
      <p:sp>
        <p:nvSpPr>
          <p:cNvPr id="43" name="Text 40"/>
          <p:cNvSpPr txBox="1"/>
          <p:nvPr/>
        </p:nvSpPr>
        <p:spPr>
          <a:xfrm>
            <a:off x="11365992" y="6382512"/>
            <a:ext cx="365760" cy="274320"/>
          </a:xfrm>
          <a:prstGeom prst="rect">
            <a:avLst/>
          </a:prstGeom>
          <a:noFill/>
          <a:ln/>
        </p:spPr>
        <p:txBody>
          <a:bodyPr wrap="square" lIns="0" tIns="0" rIns="0" bIns="0" rtlCol="0" anchor="ctr"/>
          <a:lstStyle/>
          <a:p>
            <a:pPr algn="r" indent="0" marL="0">
              <a:buNone/>
            </a:pPr>
            <a:r>
              <a:rPr lang="en-US" sz="900" dirty="0">
                <a:solidFill>
                  <a:srgbClr val="7C8B96"/>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9454F"/>
        </a:solidFill>
      </p:bgPr>
    </p:bg>
    <p:spTree>
      <p:nvGrpSpPr>
        <p:cNvPr id="1" name=""/>
        <p:cNvGrpSpPr/>
        <p:nvPr/>
      </p:nvGrpSpPr>
      <p:grpSpPr>
        <a:xfrm>
          <a:off x="0" y="0"/>
          <a:ext cx="0" cy="0"/>
          <a:chOff x="0" y="0"/>
          <a:chExt cx="0" cy="0"/>
        </a:xfrm>
      </p:grpSpPr>
      <p:sp>
        <p:nvSpPr>
          <p:cNvPr id="3" name="Shape 0"/>
          <p:cNvSpPr/>
          <p:nvPr/>
        </p:nvSpPr>
        <p:spPr>
          <a:xfrm>
            <a:off x="201168" y="201168"/>
            <a:ext cx="384048" cy="0"/>
          </a:xfrm>
          <a:prstGeom prst="line">
            <a:avLst/>
          </a:prstGeom>
          <a:noFill/>
          <a:ln w="12700">
            <a:solidFill>
              <a:srgbClr val="66757F"/>
            </a:solidFill>
            <a:prstDash val="solid"/>
          </a:ln>
        </p:spPr>
      </p:sp>
      <p:sp>
        <p:nvSpPr>
          <p:cNvPr id="4" name="Shape 1"/>
          <p:cNvSpPr/>
          <p:nvPr/>
        </p:nvSpPr>
        <p:spPr>
          <a:xfrm>
            <a:off x="201168" y="201168"/>
            <a:ext cx="0" cy="384048"/>
          </a:xfrm>
          <a:prstGeom prst="line">
            <a:avLst/>
          </a:prstGeom>
          <a:noFill/>
          <a:ln w="12700">
            <a:solidFill>
              <a:srgbClr val="66757F"/>
            </a:solidFill>
            <a:prstDash val="solid"/>
          </a:ln>
        </p:spPr>
      </p:sp>
      <p:sp>
        <p:nvSpPr>
          <p:cNvPr id="5" name="Shape 2"/>
          <p:cNvSpPr/>
          <p:nvPr/>
        </p:nvSpPr>
        <p:spPr>
          <a:xfrm flipH="1">
            <a:off x="11603736" y="201168"/>
            <a:ext cx="384048" cy="0"/>
          </a:xfrm>
          <a:prstGeom prst="line">
            <a:avLst/>
          </a:prstGeom>
          <a:noFill/>
          <a:ln w="12700">
            <a:solidFill>
              <a:srgbClr val="66757F"/>
            </a:solidFill>
            <a:prstDash val="solid"/>
          </a:ln>
        </p:spPr>
      </p:sp>
      <p:sp>
        <p:nvSpPr>
          <p:cNvPr id="6" name="Shape 3"/>
          <p:cNvSpPr/>
          <p:nvPr/>
        </p:nvSpPr>
        <p:spPr>
          <a:xfrm>
            <a:off x="11987784" y="201168"/>
            <a:ext cx="0" cy="384048"/>
          </a:xfrm>
          <a:prstGeom prst="line">
            <a:avLst/>
          </a:prstGeom>
          <a:noFill/>
          <a:ln w="12700">
            <a:solidFill>
              <a:srgbClr val="66757F"/>
            </a:solidFill>
            <a:prstDash val="solid"/>
          </a:ln>
        </p:spPr>
      </p:sp>
      <p:sp>
        <p:nvSpPr>
          <p:cNvPr id="7" name="Shape 4"/>
          <p:cNvSpPr/>
          <p:nvPr/>
        </p:nvSpPr>
        <p:spPr>
          <a:xfrm>
            <a:off x="201168" y="6656832"/>
            <a:ext cx="384048" cy="0"/>
          </a:xfrm>
          <a:prstGeom prst="line">
            <a:avLst/>
          </a:prstGeom>
          <a:noFill/>
          <a:ln w="12700">
            <a:solidFill>
              <a:srgbClr val="66757F"/>
            </a:solidFill>
            <a:prstDash val="solid"/>
          </a:ln>
        </p:spPr>
      </p:sp>
      <p:sp>
        <p:nvSpPr>
          <p:cNvPr id="8" name="Shape 5"/>
          <p:cNvSpPr/>
          <p:nvPr/>
        </p:nvSpPr>
        <p:spPr>
          <a:xfrm flipV="1">
            <a:off x="201168" y="6272784"/>
            <a:ext cx="0" cy="384048"/>
          </a:xfrm>
          <a:prstGeom prst="line">
            <a:avLst/>
          </a:prstGeom>
          <a:noFill/>
          <a:ln w="12700">
            <a:solidFill>
              <a:srgbClr val="66757F"/>
            </a:solidFill>
            <a:prstDash val="solid"/>
          </a:ln>
        </p:spPr>
      </p:sp>
      <p:sp>
        <p:nvSpPr>
          <p:cNvPr id="9" name="Shape 6"/>
          <p:cNvSpPr/>
          <p:nvPr/>
        </p:nvSpPr>
        <p:spPr>
          <a:xfrm flipH="1">
            <a:off x="11603736" y="6656832"/>
            <a:ext cx="384048" cy="0"/>
          </a:xfrm>
          <a:prstGeom prst="line">
            <a:avLst/>
          </a:prstGeom>
          <a:noFill/>
          <a:ln w="12700">
            <a:solidFill>
              <a:srgbClr val="66757F"/>
            </a:solidFill>
            <a:prstDash val="solid"/>
          </a:ln>
        </p:spPr>
      </p:sp>
      <p:sp>
        <p:nvSpPr>
          <p:cNvPr id="10" name="Shape 7"/>
          <p:cNvSpPr/>
          <p:nvPr/>
        </p:nvSpPr>
        <p:spPr>
          <a:xfrm flipV="1">
            <a:off x="11987784" y="6272784"/>
            <a:ext cx="0" cy="384048"/>
          </a:xfrm>
          <a:prstGeom prst="line">
            <a:avLst/>
          </a:prstGeom>
          <a:noFill/>
          <a:ln w="12700">
            <a:solidFill>
              <a:srgbClr val="66757F"/>
            </a:solidFill>
            <a:prstDash val="solid"/>
          </a:ln>
        </p:spPr>
      </p:sp>
      <p:sp>
        <p:nvSpPr>
          <p:cNvPr id="11" name="Shape 8"/>
          <p:cNvSpPr/>
          <p:nvPr/>
        </p:nvSpPr>
        <p:spPr>
          <a:xfrm>
            <a:off x="6003036" y="182880"/>
            <a:ext cx="182880" cy="0"/>
          </a:xfrm>
          <a:prstGeom prst="line">
            <a:avLst/>
          </a:prstGeom>
          <a:noFill/>
          <a:ln w="12700">
            <a:solidFill>
              <a:srgbClr val="66757F"/>
            </a:solidFill>
            <a:prstDash val="solid"/>
          </a:ln>
        </p:spPr>
      </p:sp>
      <p:sp>
        <p:nvSpPr>
          <p:cNvPr id="12" name="Shape 9"/>
          <p:cNvSpPr/>
          <p:nvPr/>
        </p:nvSpPr>
        <p:spPr>
          <a:xfrm>
            <a:off x="6094476" y="91440"/>
            <a:ext cx="0" cy="182880"/>
          </a:xfrm>
          <a:prstGeom prst="line">
            <a:avLst/>
          </a:prstGeom>
          <a:noFill/>
          <a:ln w="12700">
            <a:solidFill>
              <a:srgbClr val="66757F"/>
            </a:solidFill>
            <a:prstDash val="solid"/>
          </a:ln>
        </p:spPr>
      </p:sp>
      <p:sp>
        <p:nvSpPr>
          <p:cNvPr id="13" name="Shape 10"/>
          <p:cNvSpPr/>
          <p:nvPr/>
        </p:nvSpPr>
        <p:spPr>
          <a:xfrm>
            <a:off x="6003036" y="6675120"/>
            <a:ext cx="182880" cy="0"/>
          </a:xfrm>
          <a:prstGeom prst="line">
            <a:avLst/>
          </a:prstGeom>
          <a:noFill/>
          <a:ln w="12700">
            <a:solidFill>
              <a:srgbClr val="66757F"/>
            </a:solidFill>
            <a:prstDash val="solid"/>
          </a:ln>
        </p:spPr>
      </p:sp>
      <p:sp>
        <p:nvSpPr>
          <p:cNvPr id="14" name="Shape 11"/>
          <p:cNvSpPr/>
          <p:nvPr/>
        </p:nvSpPr>
        <p:spPr>
          <a:xfrm>
            <a:off x="6094476" y="6583680"/>
            <a:ext cx="0" cy="182880"/>
          </a:xfrm>
          <a:prstGeom prst="line">
            <a:avLst/>
          </a:prstGeom>
          <a:noFill/>
          <a:ln w="12700">
            <a:solidFill>
              <a:srgbClr val="66757F"/>
            </a:solidFill>
            <a:prstDash val="solid"/>
          </a:ln>
        </p:spPr>
      </p:sp>
      <p:sp>
        <p:nvSpPr>
          <p:cNvPr id="15" name="Shape 12"/>
          <p:cNvSpPr/>
          <p:nvPr/>
        </p:nvSpPr>
        <p:spPr>
          <a:xfrm>
            <a:off x="91440" y="3429000"/>
            <a:ext cx="182880" cy="0"/>
          </a:xfrm>
          <a:prstGeom prst="line">
            <a:avLst/>
          </a:prstGeom>
          <a:noFill/>
          <a:ln w="12700">
            <a:solidFill>
              <a:srgbClr val="66757F"/>
            </a:solidFill>
            <a:prstDash val="solid"/>
          </a:ln>
        </p:spPr>
      </p:sp>
      <p:sp>
        <p:nvSpPr>
          <p:cNvPr id="16" name="Shape 13"/>
          <p:cNvSpPr/>
          <p:nvPr/>
        </p:nvSpPr>
        <p:spPr>
          <a:xfrm>
            <a:off x="182880" y="3337560"/>
            <a:ext cx="0" cy="182880"/>
          </a:xfrm>
          <a:prstGeom prst="line">
            <a:avLst/>
          </a:prstGeom>
          <a:noFill/>
          <a:ln w="12700">
            <a:solidFill>
              <a:srgbClr val="66757F"/>
            </a:solidFill>
            <a:prstDash val="solid"/>
          </a:ln>
        </p:spPr>
      </p:sp>
      <p:sp>
        <p:nvSpPr>
          <p:cNvPr id="17" name="Shape 14"/>
          <p:cNvSpPr/>
          <p:nvPr/>
        </p:nvSpPr>
        <p:spPr>
          <a:xfrm>
            <a:off x="11914632" y="3429000"/>
            <a:ext cx="182880" cy="0"/>
          </a:xfrm>
          <a:prstGeom prst="line">
            <a:avLst/>
          </a:prstGeom>
          <a:noFill/>
          <a:ln w="12700">
            <a:solidFill>
              <a:srgbClr val="66757F"/>
            </a:solidFill>
            <a:prstDash val="solid"/>
          </a:ln>
        </p:spPr>
      </p:sp>
      <p:sp>
        <p:nvSpPr>
          <p:cNvPr id="18" name="Shape 15"/>
          <p:cNvSpPr/>
          <p:nvPr/>
        </p:nvSpPr>
        <p:spPr>
          <a:xfrm>
            <a:off x="12006072" y="3337560"/>
            <a:ext cx="0" cy="182880"/>
          </a:xfrm>
          <a:prstGeom prst="line">
            <a:avLst/>
          </a:prstGeom>
          <a:noFill/>
          <a:ln w="12700">
            <a:solidFill>
              <a:srgbClr val="66757F"/>
            </a:solidFill>
            <a:prstDash val="solid"/>
          </a:ln>
        </p:spPr>
      </p:sp>
      <p:sp>
        <p:nvSpPr>
          <p:cNvPr id="19" name="Text 16"/>
          <p:cNvSpPr txBox="1"/>
          <p:nvPr/>
        </p:nvSpPr>
        <p:spPr>
          <a:xfrm>
            <a:off x="566928" y="329184"/>
            <a:ext cx="11064240" cy="566928"/>
          </a:xfrm>
          <a:prstGeom prst="rect">
            <a:avLst/>
          </a:prstGeom>
          <a:noFill/>
          <a:ln/>
        </p:spPr>
        <p:txBody>
          <a:bodyPr wrap="square" lIns="0" tIns="0" rIns="0" bIns="0" rtlCol="0" anchor="t"/>
          <a:lstStyle/>
          <a:p>
            <a:pPr indent="0" marL="0">
              <a:buNone/>
            </a:pPr>
            <a:r>
              <a:rPr lang="en-US" sz="2900" b="1" dirty="0">
                <a:solidFill>
                  <a:srgbClr val="FFFFFF"/>
                </a:solidFill>
                <a:latin typeface="Arial" pitchFamily="34" charset="0"/>
                <a:ea typeface="Arial" pitchFamily="34" charset="-122"/>
                <a:cs typeface="Arial" pitchFamily="34" charset="-120"/>
              </a:rPr>
              <a:t>Why a Combined Number Misleads</a:t>
            </a:r>
            <a:endParaRPr lang="en-US" sz="2900" dirty="0"/>
          </a:p>
        </p:txBody>
      </p:sp>
      <p:sp>
        <p:nvSpPr>
          <p:cNvPr id="20" name="Shape 17"/>
          <p:cNvSpPr/>
          <p:nvPr/>
        </p:nvSpPr>
        <p:spPr>
          <a:xfrm>
            <a:off x="548640" y="1143000"/>
            <a:ext cx="11091672" cy="4206240"/>
          </a:xfrm>
          <a:prstGeom prst="roundRect">
            <a:avLst>
              <a:gd name="adj" fmla="val 1304"/>
            </a:avLst>
          </a:prstGeom>
          <a:solidFill>
            <a:srgbClr val="2F3A43"/>
          </a:solidFill>
          <a:ln w="12700">
            <a:solidFill>
              <a:srgbClr val="5A6772"/>
            </a:solidFill>
            <a:prstDash val="solid"/>
          </a:ln>
        </p:spPr>
      </p:sp>
      <p:sp>
        <p:nvSpPr>
          <p:cNvPr id="21" name="Text 18"/>
          <p:cNvSpPr txBox="1"/>
          <p:nvPr/>
        </p:nvSpPr>
        <p:spPr>
          <a:xfrm>
            <a:off x="822960" y="1325880"/>
            <a:ext cx="5486400" cy="274320"/>
          </a:xfrm>
          <a:prstGeom prst="rect">
            <a:avLst/>
          </a:prstGeom>
          <a:noFill/>
          <a:ln/>
        </p:spPr>
        <p:txBody>
          <a:bodyPr wrap="square" lIns="0" tIns="0" rIns="0" bIns="0" rtlCol="0" anchor="t"/>
          <a:lstStyle/>
          <a:p>
            <a:pPr indent="0" marL="0">
              <a:buNone/>
            </a:pPr>
            <a:r>
              <a:rPr lang="en-US" sz="1150" b="1" dirty="0">
                <a:solidFill>
                  <a:srgbClr val="AFBDC8"/>
                </a:solidFill>
                <a:latin typeface="Arial" pitchFamily="34" charset="0"/>
                <a:ea typeface="Arial" pitchFamily="34" charset="-122"/>
                <a:cs typeface="Arial" pitchFamily="34" charset="-120"/>
              </a:rPr>
              <a:t>Share of scorable decisions  ·  direction of the paired DEF shift</a:t>
            </a:r>
            <a:endParaRPr lang="en-US" sz="1150" dirty="0"/>
          </a:p>
        </p:txBody>
      </p:sp>
      <p:sp>
        <p:nvSpPr>
          <p:cNvPr id="22" name="Shape 19"/>
          <p:cNvSpPr/>
          <p:nvPr/>
        </p:nvSpPr>
        <p:spPr>
          <a:xfrm>
            <a:off x="6035040" y="1737360"/>
            <a:ext cx="0" cy="3291840"/>
          </a:xfrm>
          <a:prstGeom prst="line">
            <a:avLst/>
          </a:prstGeom>
          <a:noFill/>
          <a:ln w="12700">
            <a:solidFill>
              <a:srgbClr val="AFBDC8"/>
            </a:solidFill>
            <a:prstDash val="dash"/>
          </a:ln>
        </p:spPr>
      </p:sp>
      <p:sp>
        <p:nvSpPr>
          <p:cNvPr id="23" name="Text 20"/>
          <p:cNvSpPr txBox="1"/>
          <p:nvPr/>
        </p:nvSpPr>
        <p:spPr>
          <a:xfrm>
            <a:off x="5852160" y="5047488"/>
            <a:ext cx="365760" cy="228600"/>
          </a:xfrm>
          <a:prstGeom prst="rect">
            <a:avLst/>
          </a:prstGeom>
          <a:noFill/>
          <a:ln/>
        </p:spPr>
        <p:txBody>
          <a:bodyPr wrap="square" lIns="0" tIns="0" rIns="0" bIns="0" rtlCol="0" anchor="t"/>
          <a:lstStyle/>
          <a:p>
            <a:pPr algn="ctr" indent="0" marL="0">
              <a:buNone/>
            </a:pPr>
            <a:r>
              <a:rPr lang="en-US" sz="1000" dirty="0">
                <a:solidFill>
                  <a:srgbClr val="AFBDC8"/>
                </a:solidFill>
                <a:latin typeface="Arial" pitchFamily="34" charset="0"/>
                <a:ea typeface="Arial" pitchFamily="34" charset="-122"/>
                <a:cs typeface="Arial" pitchFamily="34" charset="-120"/>
              </a:rPr>
              <a:t>0</a:t>
            </a:r>
            <a:endParaRPr lang="en-US" sz="1000" dirty="0"/>
          </a:p>
        </p:txBody>
      </p:sp>
      <p:sp>
        <p:nvSpPr>
          <p:cNvPr id="24" name="Shape 21"/>
          <p:cNvSpPr/>
          <p:nvPr/>
        </p:nvSpPr>
        <p:spPr>
          <a:xfrm>
            <a:off x="6035040" y="2057400"/>
            <a:ext cx="4480560" cy="1234440"/>
          </a:xfrm>
          <a:prstGeom prst="roundRect">
            <a:avLst>
              <a:gd name="adj" fmla="val 4444"/>
            </a:avLst>
          </a:prstGeom>
          <a:solidFill>
            <a:srgbClr val="35D6E8"/>
          </a:solidFill>
          <a:ln w="12700">
            <a:solidFill>
              <a:srgbClr val="35D6E8"/>
            </a:solidFill>
            <a:prstDash val="solid"/>
          </a:ln>
        </p:spPr>
      </p:sp>
      <p:sp>
        <p:nvSpPr>
          <p:cNvPr id="25" name="Text 22"/>
          <p:cNvSpPr txBox="1"/>
          <p:nvPr/>
        </p:nvSpPr>
        <p:spPr>
          <a:xfrm>
            <a:off x="6309360" y="2423160"/>
            <a:ext cx="1828800" cy="548640"/>
          </a:xfrm>
          <a:prstGeom prst="rect">
            <a:avLst/>
          </a:prstGeom>
          <a:noFill/>
          <a:ln/>
        </p:spPr>
        <p:txBody>
          <a:bodyPr wrap="square" lIns="0" tIns="0" rIns="0" bIns="0" rtlCol="0" anchor="t"/>
          <a:lstStyle/>
          <a:p>
            <a:pPr indent="0" marL="0">
              <a:buNone/>
            </a:pPr>
            <a:r>
              <a:rPr lang="en-US" sz="3000" b="1" dirty="0">
                <a:solidFill>
                  <a:srgbClr val="1F2830"/>
                </a:solidFill>
                <a:latin typeface="Arial" pitchFamily="34" charset="0"/>
                <a:ea typeface="Arial" pitchFamily="34" charset="-122"/>
                <a:cs typeface="Arial" pitchFamily="34" charset="-120"/>
              </a:rPr>
              <a:t>80.2%</a:t>
            </a:r>
            <a:endParaRPr lang="en-US" sz="3000" dirty="0"/>
          </a:p>
        </p:txBody>
      </p:sp>
      <p:sp>
        <p:nvSpPr>
          <p:cNvPr id="26" name="Text 23"/>
          <p:cNvSpPr txBox="1"/>
          <p:nvPr/>
        </p:nvSpPr>
        <p:spPr>
          <a:xfrm>
            <a:off x="6309360" y="1737360"/>
            <a:ext cx="2194560" cy="274320"/>
          </a:xfrm>
          <a:prstGeom prst="rect">
            <a:avLst/>
          </a:prstGeom>
          <a:noFill/>
          <a:ln/>
        </p:spPr>
        <p:txBody>
          <a:bodyPr wrap="square" lIns="0" tIns="0" rIns="0" bIns="0" rtlCol="0" anchor="t"/>
          <a:lstStyle/>
          <a:p>
            <a:pPr indent="0" marL="0">
              <a:buNone/>
            </a:pPr>
            <a:r>
              <a:rPr lang="en-US" sz="1400" b="1" dirty="0">
                <a:solidFill>
                  <a:srgbClr val="35D6E8"/>
                </a:solidFill>
                <a:latin typeface="Arial" pitchFamily="34" charset="0"/>
                <a:ea typeface="Arial" pitchFamily="34" charset="-122"/>
                <a:cs typeface="Arial" pitchFamily="34" charset="-120"/>
              </a:rPr>
              <a:t>Dispatch</a:t>
            </a:r>
            <a:endParaRPr lang="en-US" sz="1400" dirty="0"/>
          </a:p>
        </p:txBody>
      </p:sp>
      <p:sp>
        <p:nvSpPr>
          <p:cNvPr id="27" name="Text 24"/>
          <p:cNvSpPr txBox="1"/>
          <p:nvPr/>
        </p:nvSpPr>
        <p:spPr>
          <a:xfrm>
            <a:off x="8412480" y="2560320"/>
            <a:ext cx="2011680" cy="274320"/>
          </a:xfrm>
          <a:prstGeom prst="rect">
            <a:avLst/>
          </a:prstGeom>
          <a:noFill/>
          <a:ln/>
        </p:spPr>
        <p:txBody>
          <a:bodyPr wrap="square" lIns="0" tIns="0" rIns="0" bIns="0" rtlCol="0" anchor="t"/>
          <a:lstStyle/>
          <a:p>
            <a:pPr indent="0" marL="0">
              <a:buNone/>
            </a:pPr>
            <a:r>
              <a:rPr lang="en-US" sz="1250" b="1" dirty="0">
                <a:solidFill>
                  <a:srgbClr val="1F2830"/>
                </a:solidFill>
                <a:latin typeface="Arial" pitchFamily="34" charset="0"/>
                <a:ea typeface="Arial" pitchFamily="34" charset="-122"/>
                <a:cs typeface="Arial" pitchFamily="34" charset="-120"/>
              </a:rPr>
              <a:t>DEF moves POSITIVE</a:t>
            </a:r>
            <a:endParaRPr lang="en-US" sz="1250" dirty="0"/>
          </a:p>
        </p:txBody>
      </p:sp>
      <p:sp>
        <p:nvSpPr>
          <p:cNvPr id="28" name="Text 25"/>
          <p:cNvSpPr txBox="1"/>
          <p:nvPr/>
        </p:nvSpPr>
        <p:spPr>
          <a:xfrm>
            <a:off x="6080760" y="3364992"/>
            <a:ext cx="4480560" cy="457200"/>
          </a:xfrm>
          <a:prstGeom prst="rect">
            <a:avLst/>
          </a:prstGeom>
          <a:noFill/>
          <a:ln/>
        </p:spPr>
        <p:txBody>
          <a:bodyPr wrap="square" lIns="0" tIns="0" rIns="0" bIns="0" rtlCol="0" anchor="t"/>
          <a:lstStyle/>
          <a:p>
            <a:pPr indent="0" marL="0">
              <a:lnSpc>
                <a:spcPct val="115000"/>
              </a:lnSpc>
              <a:buNone/>
            </a:pPr>
            <a:r>
              <a:rPr lang="en-US" sz="950" i="1" dirty="0">
                <a:solidFill>
                  <a:srgbClr val="93A2AD"/>
                </a:solidFill>
                <a:latin typeface="Arial" pitchFamily="34" charset="0"/>
                <a:ea typeface="Arial" pitchFamily="34" charset="-122"/>
                <a:cs typeface="Arial" pitchFamily="34" charset="-120"/>
              </a:rPr>
              <a:t>9,649 of 12,028 scorable decisions · paired DEF shift +1.095 to +2.760 (×10⁻⁴)</a:t>
            </a:r>
            <a:endParaRPr lang="en-US" sz="950" dirty="0"/>
          </a:p>
        </p:txBody>
      </p:sp>
      <p:sp>
        <p:nvSpPr>
          <p:cNvPr id="29" name="Shape 26"/>
          <p:cNvSpPr/>
          <p:nvPr/>
        </p:nvSpPr>
        <p:spPr>
          <a:xfrm>
            <a:off x="4928616" y="3886200"/>
            <a:ext cx="1106424" cy="1051560"/>
          </a:xfrm>
          <a:prstGeom prst="roundRect">
            <a:avLst>
              <a:gd name="adj" fmla="val 5217"/>
            </a:avLst>
          </a:prstGeom>
          <a:solidFill>
            <a:srgbClr val="F0A030"/>
          </a:solidFill>
          <a:ln w="12700">
            <a:solidFill>
              <a:srgbClr val="F0A030"/>
            </a:solidFill>
            <a:prstDash val="solid"/>
          </a:ln>
        </p:spPr>
      </p:sp>
      <p:sp>
        <p:nvSpPr>
          <p:cNvPr id="30" name="Text 27"/>
          <p:cNvSpPr txBox="1"/>
          <p:nvPr/>
        </p:nvSpPr>
        <p:spPr>
          <a:xfrm>
            <a:off x="3017520" y="4160520"/>
            <a:ext cx="1828800" cy="548640"/>
          </a:xfrm>
          <a:prstGeom prst="rect">
            <a:avLst/>
          </a:prstGeom>
          <a:noFill/>
          <a:ln/>
        </p:spPr>
        <p:txBody>
          <a:bodyPr wrap="square" lIns="0" tIns="0" rIns="0" bIns="0" rtlCol="0" anchor="t"/>
          <a:lstStyle/>
          <a:p>
            <a:pPr algn="r" indent="0" marL="0">
              <a:buNone/>
            </a:pPr>
            <a:r>
              <a:rPr lang="en-US" sz="2400" b="1" dirty="0">
                <a:solidFill>
                  <a:srgbClr val="F0A030"/>
                </a:solidFill>
                <a:latin typeface="Arial" pitchFamily="34" charset="0"/>
                <a:ea typeface="Arial" pitchFamily="34" charset="-122"/>
                <a:cs typeface="Arial" pitchFamily="34" charset="-120"/>
              </a:rPr>
              <a:t>19.8%</a:t>
            </a:r>
            <a:endParaRPr lang="en-US" sz="2400" dirty="0"/>
          </a:p>
        </p:txBody>
      </p:sp>
      <p:sp>
        <p:nvSpPr>
          <p:cNvPr id="31" name="Text 28"/>
          <p:cNvSpPr txBox="1"/>
          <p:nvPr/>
        </p:nvSpPr>
        <p:spPr>
          <a:xfrm>
            <a:off x="3017520" y="3566160"/>
            <a:ext cx="1828800" cy="274320"/>
          </a:xfrm>
          <a:prstGeom prst="rect">
            <a:avLst/>
          </a:prstGeom>
          <a:noFill/>
          <a:ln/>
        </p:spPr>
        <p:txBody>
          <a:bodyPr wrap="square" lIns="0" tIns="0" rIns="0" bIns="0" rtlCol="0" anchor="t"/>
          <a:lstStyle/>
          <a:p>
            <a:pPr algn="r" indent="0" marL="0">
              <a:buNone/>
            </a:pPr>
            <a:r>
              <a:rPr lang="en-US" sz="1400" b="1" dirty="0">
                <a:solidFill>
                  <a:srgbClr val="F0A030"/>
                </a:solidFill>
                <a:latin typeface="Arial" pitchFamily="34" charset="0"/>
                <a:ea typeface="Arial" pitchFamily="34" charset="-122"/>
                <a:cs typeface="Arial" pitchFamily="34" charset="-120"/>
              </a:rPr>
              <a:t>No-op</a:t>
            </a:r>
            <a:endParaRPr lang="en-US" sz="1400" dirty="0"/>
          </a:p>
        </p:txBody>
      </p:sp>
      <p:sp>
        <p:nvSpPr>
          <p:cNvPr id="32" name="Text 29"/>
          <p:cNvSpPr txBox="1"/>
          <p:nvPr/>
        </p:nvSpPr>
        <p:spPr>
          <a:xfrm>
            <a:off x="548640" y="4114800"/>
            <a:ext cx="2377440" cy="548640"/>
          </a:xfrm>
          <a:prstGeom prst="rect">
            <a:avLst/>
          </a:prstGeom>
          <a:noFill/>
          <a:ln/>
        </p:spPr>
        <p:txBody>
          <a:bodyPr wrap="square" lIns="0" tIns="0" rIns="0" bIns="0" rtlCol="0" anchor="t"/>
          <a:lstStyle/>
          <a:p>
            <a:pPr algn="r" indent="0" marL="0">
              <a:lnSpc>
                <a:spcPct val="115000"/>
              </a:lnSpc>
              <a:buNone/>
            </a:pPr>
            <a:r>
              <a:rPr lang="en-US" sz="1250" b="1" dirty="0">
                <a:solidFill>
                  <a:srgbClr val="F0A030"/>
                </a:solidFill>
                <a:latin typeface="Arial" pitchFamily="34" charset="0"/>
                <a:ea typeface="Arial" pitchFamily="34" charset="-122"/>
                <a:cs typeface="Arial" pitchFamily="34" charset="-120"/>
              </a:rPr>
              <a:t>DEF moves NEGATIVE</a:t>
            </a:r>
            <a:endParaRPr lang="en-US" sz="1250" dirty="0"/>
          </a:p>
          <a:p>
            <a:pPr algn="r" indent="0" marL="0">
              <a:lnSpc>
                <a:spcPct val="115000"/>
              </a:lnSpc>
              <a:buNone/>
            </a:pPr>
            <a:r>
              <a:rPr lang="en-US" sz="1250" b="1" dirty="0">
                <a:solidFill>
                  <a:srgbClr val="F0A030"/>
                </a:solidFill>
                <a:latin typeface="Arial" pitchFamily="34" charset="0"/>
                <a:ea typeface="Arial" pitchFamily="34" charset="-122"/>
                <a:cs typeface="Arial" pitchFamily="34" charset="-120"/>
              </a:rPr>
              <a:t>in every checkpoint</a:t>
            </a:r>
            <a:endParaRPr lang="en-US" sz="1250" dirty="0"/>
          </a:p>
        </p:txBody>
      </p:sp>
      <p:sp>
        <p:nvSpPr>
          <p:cNvPr id="33" name="Text 30"/>
          <p:cNvSpPr txBox="1"/>
          <p:nvPr/>
        </p:nvSpPr>
        <p:spPr>
          <a:xfrm>
            <a:off x="640080" y="5074920"/>
            <a:ext cx="5257800" cy="457200"/>
          </a:xfrm>
          <a:prstGeom prst="rect">
            <a:avLst/>
          </a:prstGeom>
          <a:noFill/>
          <a:ln/>
        </p:spPr>
        <p:txBody>
          <a:bodyPr wrap="square" lIns="0" tIns="0" rIns="0" bIns="0" rtlCol="0" anchor="t"/>
          <a:lstStyle/>
          <a:p>
            <a:pPr indent="0" marL="0">
              <a:lnSpc>
                <a:spcPct val="115000"/>
              </a:lnSpc>
              <a:buNone/>
            </a:pPr>
            <a:r>
              <a:rPr lang="en-US" sz="950" i="1" dirty="0">
                <a:solidFill>
                  <a:srgbClr val="93A2AD"/>
                </a:solidFill>
                <a:latin typeface="Arial" pitchFamily="34" charset="0"/>
                <a:ea typeface="Arial" pitchFamily="34" charset="-122"/>
                <a:cs typeface="Arial" pitchFamily="34" charset="-120"/>
              </a:rPr>
              <a:t>2,379 decisions · paired DEF shift −0.228 to −1.093 (×10⁻⁴) — worse under degradation</a:t>
            </a:r>
            <a:endParaRPr lang="en-US" sz="950" dirty="0"/>
          </a:p>
        </p:txBody>
      </p:sp>
      <p:sp>
        <p:nvSpPr>
          <p:cNvPr id="34" name="Shape 31"/>
          <p:cNvSpPr/>
          <p:nvPr/>
        </p:nvSpPr>
        <p:spPr>
          <a:xfrm>
            <a:off x="548640" y="5559552"/>
            <a:ext cx="11091672" cy="694944"/>
          </a:xfrm>
          <a:prstGeom prst="roundRect">
            <a:avLst>
              <a:gd name="adj" fmla="val 7895"/>
            </a:avLst>
          </a:prstGeom>
          <a:solidFill>
            <a:srgbClr val="44515C"/>
          </a:solidFill>
          <a:ln w="12700">
            <a:solidFill>
              <a:srgbClr val="F0A030"/>
            </a:solidFill>
            <a:prstDash val="solid"/>
          </a:ln>
        </p:spPr>
      </p:sp>
      <p:sp>
        <p:nvSpPr>
          <p:cNvPr id="35" name="Text 32"/>
          <p:cNvSpPr txBox="1"/>
          <p:nvPr/>
        </p:nvSpPr>
        <p:spPr>
          <a:xfrm>
            <a:off x="822960" y="5751576"/>
            <a:ext cx="10515600" cy="36576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Reported together, the two groups cancel — and the case where explanation quality degrades disappears.</a:t>
            </a:r>
            <a:endParaRPr lang="en-US" sz="1400" dirty="0"/>
          </a:p>
        </p:txBody>
      </p:sp>
      <p:sp>
        <p:nvSpPr>
          <p:cNvPr id="36" name="Text 33"/>
          <p:cNvSpPr txBox="1"/>
          <p:nvPr/>
        </p:nvSpPr>
        <p:spPr>
          <a:xfrm>
            <a:off x="11365992" y="6382512"/>
            <a:ext cx="365760" cy="274320"/>
          </a:xfrm>
          <a:prstGeom prst="rect">
            <a:avLst/>
          </a:prstGeom>
          <a:noFill/>
          <a:ln/>
        </p:spPr>
        <p:txBody>
          <a:bodyPr wrap="square" lIns="0" tIns="0" rIns="0" bIns="0" rtlCol="0" anchor="ctr"/>
          <a:lstStyle/>
          <a:p>
            <a:pPr algn="r" indent="0" marL="0">
              <a:buNone/>
            </a:pPr>
            <a:r>
              <a:rPr lang="en-US" sz="900" dirty="0">
                <a:solidFill>
                  <a:srgbClr val="7C8B96"/>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39454F"/>
        </a:solidFill>
      </p:bgPr>
    </p:bg>
    <p:spTree>
      <p:nvGrpSpPr>
        <p:cNvPr id="1" name=""/>
        <p:cNvGrpSpPr/>
        <p:nvPr/>
      </p:nvGrpSpPr>
      <p:grpSpPr>
        <a:xfrm>
          <a:off x="0" y="0"/>
          <a:ext cx="0" cy="0"/>
          <a:chOff x="0" y="0"/>
          <a:chExt cx="0" cy="0"/>
        </a:xfrm>
      </p:grpSpPr>
      <p:sp>
        <p:nvSpPr>
          <p:cNvPr id="3" name="Shape 0"/>
          <p:cNvSpPr/>
          <p:nvPr/>
        </p:nvSpPr>
        <p:spPr>
          <a:xfrm>
            <a:off x="201168" y="201168"/>
            <a:ext cx="384048" cy="0"/>
          </a:xfrm>
          <a:prstGeom prst="line">
            <a:avLst/>
          </a:prstGeom>
          <a:noFill/>
          <a:ln w="12700">
            <a:solidFill>
              <a:srgbClr val="66757F"/>
            </a:solidFill>
            <a:prstDash val="solid"/>
          </a:ln>
        </p:spPr>
      </p:sp>
      <p:sp>
        <p:nvSpPr>
          <p:cNvPr id="4" name="Shape 1"/>
          <p:cNvSpPr/>
          <p:nvPr/>
        </p:nvSpPr>
        <p:spPr>
          <a:xfrm>
            <a:off x="201168" y="201168"/>
            <a:ext cx="0" cy="384048"/>
          </a:xfrm>
          <a:prstGeom prst="line">
            <a:avLst/>
          </a:prstGeom>
          <a:noFill/>
          <a:ln w="12700">
            <a:solidFill>
              <a:srgbClr val="66757F"/>
            </a:solidFill>
            <a:prstDash val="solid"/>
          </a:ln>
        </p:spPr>
      </p:sp>
      <p:sp>
        <p:nvSpPr>
          <p:cNvPr id="5" name="Shape 2"/>
          <p:cNvSpPr/>
          <p:nvPr/>
        </p:nvSpPr>
        <p:spPr>
          <a:xfrm flipH="1">
            <a:off x="11603736" y="201168"/>
            <a:ext cx="384048" cy="0"/>
          </a:xfrm>
          <a:prstGeom prst="line">
            <a:avLst/>
          </a:prstGeom>
          <a:noFill/>
          <a:ln w="12700">
            <a:solidFill>
              <a:srgbClr val="66757F"/>
            </a:solidFill>
            <a:prstDash val="solid"/>
          </a:ln>
        </p:spPr>
      </p:sp>
      <p:sp>
        <p:nvSpPr>
          <p:cNvPr id="6" name="Shape 3"/>
          <p:cNvSpPr/>
          <p:nvPr/>
        </p:nvSpPr>
        <p:spPr>
          <a:xfrm>
            <a:off x="11987784" y="201168"/>
            <a:ext cx="0" cy="384048"/>
          </a:xfrm>
          <a:prstGeom prst="line">
            <a:avLst/>
          </a:prstGeom>
          <a:noFill/>
          <a:ln w="12700">
            <a:solidFill>
              <a:srgbClr val="66757F"/>
            </a:solidFill>
            <a:prstDash val="solid"/>
          </a:ln>
        </p:spPr>
      </p:sp>
      <p:sp>
        <p:nvSpPr>
          <p:cNvPr id="7" name="Shape 4"/>
          <p:cNvSpPr/>
          <p:nvPr/>
        </p:nvSpPr>
        <p:spPr>
          <a:xfrm>
            <a:off x="201168" y="6656832"/>
            <a:ext cx="384048" cy="0"/>
          </a:xfrm>
          <a:prstGeom prst="line">
            <a:avLst/>
          </a:prstGeom>
          <a:noFill/>
          <a:ln w="12700">
            <a:solidFill>
              <a:srgbClr val="66757F"/>
            </a:solidFill>
            <a:prstDash val="solid"/>
          </a:ln>
        </p:spPr>
      </p:sp>
      <p:sp>
        <p:nvSpPr>
          <p:cNvPr id="8" name="Shape 5"/>
          <p:cNvSpPr/>
          <p:nvPr/>
        </p:nvSpPr>
        <p:spPr>
          <a:xfrm flipV="1">
            <a:off x="201168" y="6272784"/>
            <a:ext cx="0" cy="384048"/>
          </a:xfrm>
          <a:prstGeom prst="line">
            <a:avLst/>
          </a:prstGeom>
          <a:noFill/>
          <a:ln w="12700">
            <a:solidFill>
              <a:srgbClr val="66757F"/>
            </a:solidFill>
            <a:prstDash val="solid"/>
          </a:ln>
        </p:spPr>
      </p:sp>
      <p:sp>
        <p:nvSpPr>
          <p:cNvPr id="9" name="Shape 6"/>
          <p:cNvSpPr/>
          <p:nvPr/>
        </p:nvSpPr>
        <p:spPr>
          <a:xfrm flipH="1">
            <a:off x="11603736" y="6656832"/>
            <a:ext cx="384048" cy="0"/>
          </a:xfrm>
          <a:prstGeom prst="line">
            <a:avLst/>
          </a:prstGeom>
          <a:noFill/>
          <a:ln w="12700">
            <a:solidFill>
              <a:srgbClr val="66757F"/>
            </a:solidFill>
            <a:prstDash val="solid"/>
          </a:ln>
        </p:spPr>
      </p:sp>
      <p:sp>
        <p:nvSpPr>
          <p:cNvPr id="10" name="Shape 7"/>
          <p:cNvSpPr/>
          <p:nvPr/>
        </p:nvSpPr>
        <p:spPr>
          <a:xfrm flipV="1">
            <a:off x="11987784" y="6272784"/>
            <a:ext cx="0" cy="384048"/>
          </a:xfrm>
          <a:prstGeom prst="line">
            <a:avLst/>
          </a:prstGeom>
          <a:noFill/>
          <a:ln w="12700">
            <a:solidFill>
              <a:srgbClr val="66757F"/>
            </a:solidFill>
            <a:prstDash val="solid"/>
          </a:ln>
        </p:spPr>
      </p:sp>
      <p:sp>
        <p:nvSpPr>
          <p:cNvPr id="11" name="Shape 8"/>
          <p:cNvSpPr/>
          <p:nvPr/>
        </p:nvSpPr>
        <p:spPr>
          <a:xfrm>
            <a:off x="6003036" y="182880"/>
            <a:ext cx="182880" cy="0"/>
          </a:xfrm>
          <a:prstGeom prst="line">
            <a:avLst/>
          </a:prstGeom>
          <a:noFill/>
          <a:ln w="12700">
            <a:solidFill>
              <a:srgbClr val="66757F"/>
            </a:solidFill>
            <a:prstDash val="solid"/>
          </a:ln>
        </p:spPr>
      </p:sp>
      <p:sp>
        <p:nvSpPr>
          <p:cNvPr id="12" name="Shape 9"/>
          <p:cNvSpPr/>
          <p:nvPr/>
        </p:nvSpPr>
        <p:spPr>
          <a:xfrm>
            <a:off x="6094476" y="91440"/>
            <a:ext cx="0" cy="182880"/>
          </a:xfrm>
          <a:prstGeom prst="line">
            <a:avLst/>
          </a:prstGeom>
          <a:noFill/>
          <a:ln w="12700">
            <a:solidFill>
              <a:srgbClr val="66757F"/>
            </a:solidFill>
            <a:prstDash val="solid"/>
          </a:ln>
        </p:spPr>
      </p:sp>
      <p:sp>
        <p:nvSpPr>
          <p:cNvPr id="13" name="Shape 10"/>
          <p:cNvSpPr/>
          <p:nvPr/>
        </p:nvSpPr>
        <p:spPr>
          <a:xfrm>
            <a:off x="6003036" y="6675120"/>
            <a:ext cx="182880" cy="0"/>
          </a:xfrm>
          <a:prstGeom prst="line">
            <a:avLst/>
          </a:prstGeom>
          <a:noFill/>
          <a:ln w="12700">
            <a:solidFill>
              <a:srgbClr val="66757F"/>
            </a:solidFill>
            <a:prstDash val="solid"/>
          </a:ln>
        </p:spPr>
      </p:sp>
      <p:sp>
        <p:nvSpPr>
          <p:cNvPr id="14" name="Shape 11"/>
          <p:cNvSpPr/>
          <p:nvPr/>
        </p:nvSpPr>
        <p:spPr>
          <a:xfrm>
            <a:off x="6094476" y="6583680"/>
            <a:ext cx="0" cy="182880"/>
          </a:xfrm>
          <a:prstGeom prst="line">
            <a:avLst/>
          </a:prstGeom>
          <a:noFill/>
          <a:ln w="12700">
            <a:solidFill>
              <a:srgbClr val="66757F"/>
            </a:solidFill>
            <a:prstDash val="solid"/>
          </a:ln>
        </p:spPr>
      </p:sp>
      <p:sp>
        <p:nvSpPr>
          <p:cNvPr id="15" name="Shape 12"/>
          <p:cNvSpPr/>
          <p:nvPr/>
        </p:nvSpPr>
        <p:spPr>
          <a:xfrm>
            <a:off x="91440" y="3429000"/>
            <a:ext cx="182880" cy="0"/>
          </a:xfrm>
          <a:prstGeom prst="line">
            <a:avLst/>
          </a:prstGeom>
          <a:noFill/>
          <a:ln w="12700">
            <a:solidFill>
              <a:srgbClr val="66757F"/>
            </a:solidFill>
            <a:prstDash val="solid"/>
          </a:ln>
        </p:spPr>
      </p:sp>
      <p:sp>
        <p:nvSpPr>
          <p:cNvPr id="16" name="Shape 13"/>
          <p:cNvSpPr/>
          <p:nvPr/>
        </p:nvSpPr>
        <p:spPr>
          <a:xfrm>
            <a:off x="182880" y="3337560"/>
            <a:ext cx="0" cy="182880"/>
          </a:xfrm>
          <a:prstGeom prst="line">
            <a:avLst/>
          </a:prstGeom>
          <a:noFill/>
          <a:ln w="12700">
            <a:solidFill>
              <a:srgbClr val="66757F"/>
            </a:solidFill>
            <a:prstDash val="solid"/>
          </a:ln>
        </p:spPr>
      </p:sp>
      <p:sp>
        <p:nvSpPr>
          <p:cNvPr id="17" name="Shape 14"/>
          <p:cNvSpPr/>
          <p:nvPr/>
        </p:nvSpPr>
        <p:spPr>
          <a:xfrm>
            <a:off x="11914632" y="3429000"/>
            <a:ext cx="182880" cy="0"/>
          </a:xfrm>
          <a:prstGeom prst="line">
            <a:avLst/>
          </a:prstGeom>
          <a:noFill/>
          <a:ln w="12700">
            <a:solidFill>
              <a:srgbClr val="66757F"/>
            </a:solidFill>
            <a:prstDash val="solid"/>
          </a:ln>
        </p:spPr>
      </p:sp>
      <p:sp>
        <p:nvSpPr>
          <p:cNvPr id="18" name="Shape 15"/>
          <p:cNvSpPr/>
          <p:nvPr/>
        </p:nvSpPr>
        <p:spPr>
          <a:xfrm>
            <a:off x="12006072" y="3337560"/>
            <a:ext cx="0" cy="182880"/>
          </a:xfrm>
          <a:prstGeom prst="line">
            <a:avLst/>
          </a:prstGeom>
          <a:noFill/>
          <a:ln w="12700">
            <a:solidFill>
              <a:srgbClr val="66757F"/>
            </a:solidFill>
            <a:prstDash val="solid"/>
          </a:ln>
        </p:spPr>
      </p:sp>
      <p:sp>
        <p:nvSpPr>
          <p:cNvPr id="19" name="Text 16"/>
          <p:cNvSpPr txBox="1"/>
          <p:nvPr/>
        </p:nvSpPr>
        <p:spPr>
          <a:xfrm>
            <a:off x="566928" y="329184"/>
            <a:ext cx="11064240" cy="566928"/>
          </a:xfrm>
          <a:prstGeom prst="rect">
            <a:avLst/>
          </a:prstGeom>
          <a:noFill/>
          <a:ln/>
        </p:spPr>
        <p:txBody>
          <a:bodyPr wrap="square" lIns="0" tIns="0" rIns="0" bIns="0" rtlCol="0" anchor="t"/>
          <a:lstStyle/>
          <a:p>
            <a:pPr indent="0" marL="0">
              <a:buNone/>
            </a:pPr>
            <a:r>
              <a:rPr lang="en-US" sz="2900" b="1" dirty="0">
                <a:solidFill>
                  <a:srgbClr val="FFFFFF"/>
                </a:solidFill>
                <a:latin typeface="Arial" pitchFamily="34" charset="0"/>
                <a:ea typeface="Arial" pitchFamily="34" charset="-122"/>
                <a:cs typeface="Arial" pitchFamily="34" charset="-120"/>
              </a:rPr>
              <a:t>Extraction Sensitivity — No Single True Map</a:t>
            </a:r>
            <a:endParaRPr lang="en-US" sz="2900" dirty="0"/>
          </a:p>
        </p:txBody>
      </p:sp>
      <p:sp>
        <p:nvSpPr>
          <p:cNvPr id="20" name="Shape 17"/>
          <p:cNvSpPr/>
          <p:nvPr/>
        </p:nvSpPr>
        <p:spPr>
          <a:xfrm>
            <a:off x="548640" y="1143000"/>
            <a:ext cx="3520440" cy="2286000"/>
          </a:xfrm>
          <a:prstGeom prst="roundRect">
            <a:avLst>
              <a:gd name="adj" fmla="val 2400"/>
            </a:avLst>
          </a:prstGeom>
          <a:solidFill>
            <a:srgbClr val="2F3A43"/>
          </a:solidFill>
          <a:ln w="12700">
            <a:solidFill>
              <a:srgbClr val="35D6E8"/>
            </a:solidFill>
            <a:prstDash val="solid"/>
          </a:ln>
        </p:spPr>
      </p:sp>
      <p:sp>
        <p:nvSpPr>
          <p:cNvPr id="21" name="Text 18"/>
          <p:cNvSpPr txBox="1"/>
          <p:nvPr/>
        </p:nvSpPr>
        <p:spPr>
          <a:xfrm>
            <a:off x="777240" y="1325880"/>
            <a:ext cx="3063240" cy="274320"/>
          </a:xfrm>
          <a:prstGeom prst="rect">
            <a:avLst/>
          </a:prstGeom>
          <a:noFill/>
          <a:ln/>
        </p:spPr>
        <p:txBody>
          <a:bodyPr wrap="square" lIns="0" tIns="0" rIns="0" bIns="0" rtlCol="0" anchor="t"/>
          <a:lstStyle/>
          <a:p>
            <a:pPr indent="0" marL="0">
              <a:buNone/>
            </a:pPr>
            <a:r>
              <a:rPr lang="en-US" sz="1350" b="1" dirty="0">
                <a:solidFill>
                  <a:srgbClr val="35D6E8"/>
                </a:solidFill>
                <a:latin typeface="Arial" pitchFamily="34" charset="0"/>
                <a:ea typeface="Arial" pitchFamily="34" charset="-122"/>
                <a:cs typeface="Arial" pitchFamily="34" charset="-120"/>
              </a:rPr>
              <a:t>Change the HEAD</a:t>
            </a:r>
            <a:endParaRPr lang="en-US" sz="1350" dirty="0"/>
          </a:p>
        </p:txBody>
      </p:sp>
      <p:sp>
        <p:nvSpPr>
          <p:cNvPr id="22" name="Text 19"/>
          <p:cNvSpPr txBox="1"/>
          <p:nvPr/>
        </p:nvSpPr>
        <p:spPr>
          <a:xfrm>
            <a:off x="777240" y="1645920"/>
            <a:ext cx="3063240" cy="274320"/>
          </a:xfrm>
          <a:prstGeom prst="rect">
            <a:avLst/>
          </a:prstGeom>
          <a:noFill/>
          <a:ln/>
        </p:spPr>
        <p:txBody>
          <a:bodyPr wrap="square" lIns="0" tIns="0" rIns="0" bIns="0" rtlCol="0" anchor="t"/>
          <a:lstStyle/>
          <a:p>
            <a:pPr indent="0" marL="0">
              <a:buNone/>
            </a:pPr>
            <a:r>
              <a:rPr lang="en-US" sz="1100" dirty="0">
                <a:solidFill>
                  <a:srgbClr val="AFBDC8"/>
                </a:solidFill>
                <a:latin typeface="Arial" pitchFamily="34" charset="0"/>
                <a:ea typeface="Arial" pitchFamily="34" charset="-122"/>
                <a:cs typeface="Arial" pitchFamily="34" charset="-120"/>
              </a:rPr>
              <a:t>4 heads per layer</a:t>
            </a:r>
            <a:endParaRPr lang="en-US" sz="1100" dirty="0"/>
          </a:p>
        </p:txBody>
      </p:sp>
      <p:sp>
        <p:nvSpPr>
          <p:cNvPr id="23" name="Shape 20"/>
          <p:cNvSpPr/>
          <p:nvPr/>
        </p:nvSpPr>
        <p:spPr>
          <a:xfrm>
            <a:off x="2304288" y="2606040"/>
            <a:ext cx="685800" cy="0"/>
          </a:xfrm>
          <a:prstGeom prst="line">
            <a:avLst/>
          </a:prstGeom>
          <a:noFill/>
          <a:ln w="25400">
            <a:solidFill>
              <a:srgbClr val="35D6E8"/>
            </a:solidFill>
            <a:prstDash val="solid"/>
          </a:ln>
        </p:spPr>
      </p:sp>
      <p:sp>
        <p:nvSpPr>
          <p:cNvPr id="24" name="Shape 21"/>
          <p:cNvSpPr/>
          <p:nvPr/>
        </p:nvSpPr>
        <p:spPr>
          <a:xfrm>
            <a:off x="2916936" y="2532888"/>
            <a:ext cx="146304" cy="146304"/>
          </a:xfrm>
          <a:prstGeom prst="ellipse">
            <a:avLst/>
          </a:prstGeom>
          <a:solidFill>
            <a:srgbClr val="35D6E8"/>
          </a:solidFill>
          <a:ln w="12700">
            <a:solidFill>
              <a:srgbClr val="35D6E8"/>
            </a:solidFill>
            <a:prstDash val="solid"/>
          </a:ln>
        </p:spPr>
      </p:sp>
      <p:sp>
        <p:nvSpPr>
          <p:cNvPr id="25" name="Shape 22"/>
          <p:cNvSpPr/>
          <p:nvPr/>
        </p:nvSpPr>
        <p:spPr>
          <a:xfrm>
            <a:off x="2304288" y="2606040"/>
            <a:ext cx="484934" cy="355618"/>
          </a:xfrm>
          <a:prstGeom prst="line">
            <a:avLst/>
          </a:prstGeom>
          <a:noFill/>
          <a:ln w="12700">
            <a:solidFill>
              <a:srgbClr val="6B7A86"/>
            </a:solidFill>
            <a:prstDash val="solid"/>
          </a:ln>
        </p:spPr>
      </p:sp>
      <p:sp>
        <p:nvSpPr>
          <p:cNvPr id="26" name="Shape 23"/>
          <p:cNvSpPr/>
          <p:nvPr/>
        </p:nvSpPr>
        <p:spPr>
          <a:xfrm>
            <a:off x="2716070" y="2888506"/>
            <a:ext cx="146304" cy="146304"/>
          </a:xfrm>
          <a:prstGeom prst="ellipse">
            <a:avLst/>
          </a:prstGeom>
          <a:solidFill>
            <a:srgbClr val="6B7A86"/>
          </a:solidFill>
          <a:ln w="12700">
            <a:solidFill>
              <a:srgbClr val="6B7A86"/>
            </a:solidFill>
            <a:prstDash val="solid"/>
          </a:ln>
        </p:spPr>
      </p:sp>
      <p:sp>
        <p:nvSpPr>
          <p:cNvPr id="27" name="Shape 24"/>
          <p:cNvSpPr/>
          <p:nvPr/>
        </p:nvSpPr>
        <p:spPr>
          <a:xfrm>
            <a:off x="2304288" y="2606040"/>
            <a:ext cx="0" cy="502920"/>
          </a:xfrm>
          <a:prstGeom prst="line">
            <a:avLst/>
          </a:prstGeom>
          <a:noFill/>
          <a:ln w="25400">
            <a:solidFill>
              <a:srgbClr val="35D6E8"/>
            </a:solidFill>
            <a:prstDash val="solid"/>
          </a:ln>
        </p:spPr>
      </p:sp>
      <p:sp>
        <p:nvSpPr>
          <p:cNvPr id="28" name="Shape 25"/>
          <p:cNvSpPr/>
          <p:nvPr/>
        </p:nvSpPr>
        <p:spPr>
          <a:xfrm>
            <a:off x="2231136" y="3035808"/>
            <a:ext cx="146304" cy="146304"/>
          </a:xfrm>
          <a:prstGeom prst="ellipse">
            <a:avLst/>
          </a:prstGeom>
          <a:solidFill>
            <a:srgbClr val="35D6E8"/>
          </a:solidFill>
          <a:ln w="12700">
            <a:solidFill>
              <a:srgbClr val="35D6E8"/>
            </a:solidFill>
            <a:prstDash val="solid"/>
          </a:ln>
        </p:spPr>
      </p:sp>
      <p:sp>
        <p:nvSpPr>
          <p:cNvPr id="29" name="Shape 26"/>
          <p:cNvSpPr/>
          <p:nvPr/>
        </p:nvSpPr>
        <p:spPr>
          <a:xfrm flipH="1">
            <a:off x="1819354" y="2606040"/>
            <a:ext cx="484934" cy="355618"/>
          </a:xfrm>
          <a:prstGeom prst="line">
            <a:avLst/>
          </a:prstGeom>
          <a:noFill/>
          <a:ln w="12700">
            <a:solidFill>
              <a:srgbClr val="6B7A86"/>
            </a:solidFill>
            <a:prstDash val="solid"/>
          </a:ln>
        </p:spPr>
      </p:sp>
      <p:sp>
        <p:nvSpPr>
          <p:cNvPr id="30" name="Shape 27"/>
          <p:cNvSpPr/>
          <p:nvPr/>
        </p:nvSpPr>
        <p:spPr>
          <a:xfrm>
            <a:off x="1746202" y="2888506"/>
            <a:ext cx="146304" cy="146304"/>
          </a:xfrm>
          <a:prstGeom prst="ellipse">
            <a:avLst/>
          </a:prstGeom>
          <a:solidFill>
            <a:srgbClr val="6B7A86"/>
          </a:solidFill>
          <a:ln w="12700">
            <a:solidFill>
              <a:srgbClr val="6B7A86"/>
            </a:solidFill>
            <a:prstDash val="solid"/>
          </a:ln>
        </p:spPr>
      </p:sp>
      <p:sp>
        <p:nvSpPr>
          <p:cNvPr id="31" name="Shape 28"/>
          <p:cNvSpPr/>
          <p:nvPr/>
        </p:nvSpPr>
        <p:spPr>
          <a:xfrm flipH="1">
            <a:off x="1618488" y="2606040"/>
            <a:ext cx="685800" cy="0"/>
          </a:xfrm>
          <a:prstGeom prst="line">
            <a:avLst/>
          </a:prstGeom>
          <a:noFill/>
          <a:ln w="25400">
            <a:solidFill>
              <a:srgbClr val="35D6E8"/>
            </a:solidFill>
            <a:prstDash val="solid"/>
          </a:ln>
        </p:spPr>
      </p:sp>
      <p:sp>
        <p:nvSpPr>
          <p:cNvPr id="32" name="Shape 29"/>
          <p:cNvSpPr/>
          <p:nvPr/>
        </p:nvSpPr>
        <p:spPr>
          <a:xfrm>
            <a:off x="1545336" y="2532888"/>
            <a:ext cx="146304" cy="146304"/>
          </a:xfrm>
          <a:prstGeom prst="ellipse">
            <a:avLst/>
          </a:prstGeom>
          <a:solidFill>
            <a:srgbClr val="35D6E8"/>
          </a:solidFill>
          <a:ln w="12700">
            <a:solidFill>
              <a:srgbClr val="35D6E8"/>
            </a:solidFill>
            <a:prstDash val="solid"/>
          </a:ln>
        </p:spPr>
      </p:sp>
      <p:sp>
        <p:nvSpPr>
          <p:cNvPr id="33" name="Shape 30"/>
          <p:cNvSpPr/>
          <p:nvPr/>
        </p:nvSpPr>
        <p:spPr>
          <a:xfrm flipH="1" flipV="1">
            <a:off x="1819354" y="2250422"/>
            <a:ext cx="484934" cy="355618"/>
          </a:xfrm>
          <a:prstGeom prst="line">
            <a:avLst/>
          </a:prstGeom>
          <a:noFill/>
          <a:ln w="12700">
            <a:solidFill>
              <a:srgbClr val="6B7A86"/>
            </a:solidFill>
            <a:prstDash val="solid"/>
          </a:ln>
        </p:spPr>
      </p:sp>
      <p:sp>
        <p:nvSpPr>
          <p:cNvPr id="34" name="Shape 31"/>
          <p:cNvSpPr/>
          <p:nvPr/>
        </p:nvSpPr>
        <p:spPr>
          <a:xfrm>
            <a:off x="1746202" y="2177270"/>
            <a:ext cx="146304" cy="146304"/>
          </a:xfrm>
          <a:prstGeom prst="ellipse">
            <a:avLst/>
          </a:prstGeom>
          <a:solidFill>
            <a:srgbClr val="6B7A86"/>
          </a:solidFill>
          <a:ln w="12700">
            <a:solidFill>
              <a:srgbClr val="6B7A86"/>
            </a:solidFill>
            <a:prstDash val="solid"/>
          </a:ln>
        </p:spPr>
      </p:sp>
      <p:sp>
        <p:nvSpPr>
          <p:cNvPr id="35" name="Shape 32"/>
          <p:cNvSpPr/>
          <p:nvPr/>
        </p:nvSpPr>
        <p:spPr>
          <a:xfrm flipV="1">
            <a:off x="2304288" y="2103120"/>
            <a:ext cx="0" cy="502920"/>
          </a:xfrm>
          <a:prstGeom prst="line">
            <a:avLst/>
          </a:prstGeom>
          <a:noFill/>
          <a:ln w="25400">
            <a:solidFill>
              <a:srgbClr val="35D6E8"/>
            </a:solidFill>
            <a:prstDash val="solid"/>
          </a:ln>
        </p:spPr>
      </p:sp>
      <p:sp>
        <p:nvSpPr>
          <p:cNvPr id="36" name="Shape 33"/>
          <p:cNvSpPr/>
          <p:nvPr/>
        </p:nvSpPr>
        <p:spPr>
          <a:xfrm>
            <a:off x="2231136" y="2029968"/>
            <a:ext cx="146304" cy="146304"/>
          </a:xfrm>
          <a:prstGeom prst="ellipse">
            <a:avLst/>
          </a:prstGeom>
          <a:solidFill>
            <a:srgbClr val="35D6E8"/>
          </a:solidFill>
          <a:ln w="12700">
            <a:solidFill>
              <a:srgbClr val="35D6E8"/>
            </a:solidFill>
            <a:prstDash val="solid"/>
          </a:ln>
        </p:spPr>
      </p:sp>
      <p:sp>
        <p:nvSpPr>
          <p:cNvPr id="37" name="Shape 34"/>
          <p:cNvSpPr/>
          <p:nvPr/>
        </p:nvSpPr>
        <p:spPr>
          <a:xfrm flipV="1">
            <a:off x="2304288" y="2250422"/>
            <a:ext cx="484934" cy="355618"/>
          </a:xfrm>
          <a:prstGeom prst="line">
            <a:avLst/>
          </a:prstGeom>
          <a:noFill/>
          <a:ln w="12700">
            <a:solidFill>
              <a:srgbClr val="6B7A86"/>
            </a:solidFill>
            <a:prstDash val="solid"/>
          </a:ln>
        </p:spPr>
      </p:sp>
      <p:sp>
        <p:nvSpPr>
          <p:cNvPr id="38" name="Shape 35"/>
          <p:cNvSpPr/>
          <p:nvPr/>
        </p:nvSpPr>
        <p:spPr>
          <a:xfrm>
            <a:off x="2716070" y="2177270"/>
            <a:ext cx="146304" cy="146304"/>
          </a:xfrm>
          <a:prstGeom prst="ellipse">
            <a:avLst/>
          </a:prstGeom>
          <a:solidFill>
            <a:srgbClr val="6B7A86"/>
          </a:solidFill>
          <a:ln w="12700">
            <a:solidFill>
              <a:srgbClr val="6B7A86"/>
            </a:solidFill>
            <a:prstDash val="solid"/>
          </a:ln>
        </p:spPr>
      </p:sp>
      <p:sp>
        <p:nvSpPr>
          <p:cNvPr id="39" name="Shape 36"/>
          <p:cNvSpPr/>
          <p:nvPr/>
        </p:nvSpPr>
        <p:spPr>
          <a:xfrm>
            <a:off x="2203704" y="2505456"/>
            <a:ext cx="201168" cy="201168"/>
          </a:xfrm>
          <a:prstGeom prst="ellipse">
            <a:avLst/>
          </a:prstGeom>
          <a:solidFill>
            <a:srgbClr val="35D6E8"/>
          </a:solidFill>
          <a:ln w="12700">
            <a:solidFill>
              <a:srgbClr val="35D6E8"/>
            </a:solidFill>
            <a:prstDash val="solid"/>
          </a:ln>
        </p:spPr>
      </p:sp>
      <p:sp>
        <p:nvSpPr>
          <p:cNvPr id="40" name="Shape 37"/>
          <p:cNvSpPr/>
          <p:nvPr/>
        </p:nvSpPr>
        <p:spPr>
          <a:xfrm>
            <a:off x="4306824" y="1143000"/>
            <a:ext cx="3520440" cy="2286000"/>
          </a:xfrm>
          <a:prstGeom prst="roundRect">
            <a:avLst>
              <a:gd name="adj" fmla="val 2400"/>
            </a:avLst>
          </a:prstGeom>
          <a:solidFill>
            <a:srgbClr val="2F3A43"/>
          </a:solidFill>
          <a:ln w="12700">
            <a:solidFill>
              <a:srgbClr val="5FC98B"/>
            </a:solidFill>
            <a:prstDash val="solid"/>
          </a:ln>
        </p:spPr>
      </p:sp>
      <p:sp>
        <p:nvSpPr>
          <p:cNvPr id="41" name="Text 38"/>
          <p:cNvSpPr txBox="1"/>
          <p:nvPr/>
        </p:nvSpPr>
        <p:spPr>
          <a:xfrm>
            <a:off x="4535424" y="1325880"/>
            <a:ext cx="3063240" cy="274320"/>
          </a:xfrm>
          <a:prstGeom prst="rect">
            <a:avLst/>
          </a:prstGeom>
          <a:noFill/>
          <a:ln/>
        </p:spPr>
        <p:txBody>
          <a:bodyPr wrap="square" lIns="0" tIns="0" rIns="0" bIns="0" rtlCol="0" anchor="t"/>
          <a:lstStyle/>
          <a:p>
            <a:pPr indent="0" marL="0">
              <a:buNone/>
            </a:pPr>
            <a:r>
              <a:rPr lang="en-US" sz="1350" b="1" dirty="0">
                <a:solidFill>
                  <a:srgbClr val="5FC98B"/>
                </a:solidFill>
                <a:latin typeface="Arial" pitchFamily="34" charset="0"/>
                <a:ea typeface="Arial" pitchFamily="34" charset="-122"/>
                <a:cs typeface="Arial" pitchFamily="34" charset="-120"/>
              </a:rPr>
              <a:t>Change the LAYER</a:t>
            </a:r>
            <a:endParaRPr lang="en-US" sz="1350" dirty="0"/>
          </a:p>
        </p:txBody>
      </p:sp>
      <p:sp>
        <p:nvSpPr>
          <p:cNvPr id="42" name="Text 39"/>
          <p:cNvSpPr txBox="1"/>
          <p:nvPr/>
        </p:nvSpPr>
        <p:spPr>
          <a:xfrm>
            <a:off x="4535424" y="1645920"/>
            <a:ext cx="3063240" cy="274320"/>
          </a:xfrm>
          <a:prstGeom prst="rect">
            <a:avLst/>
          </a:prstGeom>
          <a:noFill/>
          <a:ln/>
        </p:spPr>
        <p:txBody>
          <a:bodyPr wrap="square" lIns="0" tIns="0" rIns="0" bIns="0" rtlCol="0" anchor="t"/>
          <a:lstStyle/>
          <a:p>
            <a:pPr indent="0" marL="0">
              <a:buNone/>
            </a:pPr>
            <a:r>
              <a:rPr lang="en-US" sz="1100" dirty="0">
                <a:solidFill>
                  <a:srgbClr val="AFBDC8"/>
                </a:solidFill>
                <a:latin typeface="Arial" pitchFamily="34" charset="0"/>
                <a:ea typeface="Arial" pitchFamily="34" charset="-122"/>
                <a:cs typeface="Arial" pitchFamily="34" charset="-120"/>
              </a:rPr>
              <a:t>2 attention layers</a:t>
            </a:r>
            <a:endParaRPr lang="en-US" sz="1100" dirty="0"/>
          </a:p>
        </p:txBody>
      </p:sp>
      <p:sp>
        <p:nvSpPr>
          <p:cNvPr id="43" name="Shape 40"/>
          <p:cNvSpPr/>
          <p:nvPr/>
        </p:nvSpPr>
        <p:spPr>
          <a:xfrm>
            <a:off x="5148072" y="2075688"/>
            <a:ext cx="1828800" cy="256032"/>
          </a:xfrm>
          <a:prstGeom prst="parallelogram">
            <a:avLst/>
          </a:prstGeom>
          <a:solidFill>
            <a:srgbClr val="44515C"/>
          </a:solidFill>
          <a:ln w="12700">
            <a:solidFill>
              <a:srgbClr val="5A6772"/>
            </a:solidFill>
            <a:prstDash val="solid"/>
          </a:ln>
        </p:spPr>
      </p:sp>
      <p:sp>
        <p:nvSpPr>
          <p:cNvPr id="44" name="Shape 41"/>
          <p:cNvSpPr/>
          <p:nvPr/>
        </p:nvSpPr>
        <p:spPr>
          <a:xfrm>
            <a:off x="5148072" y="2487168"/>
            <a:ext cx="1828800" cy="256032"/>
          </a:xfrm>
          <a:prstGeom prst="parallelogram">
            <a:avLst/>
          </a:prstGeom>
          <a:solidFill>
            <a:srgbClr val="5FC98B"/>
          </a:solidFill>
          <a:ln w="12700">
            <a:solidFill>
              <a:srgbClr val="5FC98B"/>
            </a:solidFill>
            <a:prstDash val="solid"/>
          </a:ln>
        </p:spPr>
      </p:sp>
      <p:sp>
        <p:nvSpPr>
          <p:cNvPr id="45" name="Shape 42"/>
          <p:cNvSpPr/>
          <p:nvPr/>
        </p:nvSpPr>
        <p:spPr>
          <a:xfrm>
            <a:off x="5148072" y="2898648"/>
            <a:ext cx="1828800" cy="256032"/>
          </a:xfrm>
          <a:prstGeom prst="parallelogram">
            <a:avLst/>
          </a:prstGeom>
          <a:solidFill>
            <a:srgbClr val="44515C"/>
          </a:solidFill>
          <a:ln w="12700">
            <a:solidFill>
              <a:srgbClr val="5A6772"/>
            </a:solidFill>
            <a:prstDash val="solid"/>
          </a:ln>
        </p:spPr>
      </p:sp>
      <p:sp>
        <p:nvSpPr>
          <p:cNvPr id="46" name="Shape 43"/>
          <p:cNvSpPr/>
          <p:nvPr/>
        </p:nvSpPr>
        <p:spPr>
          <a:xfrm>
            <a:off x="8065008" y="1143000"/>
            <a:ext cx="3520440" cy="2286000"/>
          </a:xfrm>
          <a:prstGeom prst="roundRect">
            <a:avLst>
              <a:gd name="adj" fmla="val 2400"/>
            </a:avLst>
          </a:prstGeom>
          <a:solidFill>
            <a:srgbClr val="2F3A43"/>
          </a:solidFill>
          <a:ln w="12700">
            <a:solidFill>
              <a:srgbClr val="F0A030"/>
            </a:solidFill>
            <a:prstDash val="solid"/>
          </a:ln>
        </p:spPr>
      </p:sp>
      <p:sp>
        <p:nvSpPr>
          <p:cNvPr id="47" name="Text 44"/>
          <p:cNvSpPr txBox="1"/>
          <p:nvPr/>
        </p:nvSpPr>
        <p:spPr>
          <a:xfrm>
            <a:off x="8293608" y="1325880"/>
            <a:ext cx="3063240" cy="274320"/>
          </a:xfrm>
          <a:prstGeom prst="rect">
            <a:avLst/>
          </a:prstGeom>
          <a:noFill/>
          <a:ln/>
        </p:spPr>
        <p:txBody>
          <a:bodyPr wrap="square" lIns="0" tIns="0" rIns="0" bIns="0" rtlCol="0" anchor="t"/>
          <a:lstStyle/>
          <a:p>
            <a:pPr indent="0" marL="0">
              <a:buNone/>
            </a:pPr>
            <a:r>
              <a:rPr lang="en-US" sz="1350" b="1" dirty="0">
                <a:solidFill>
                  <a:srgbClr val="F0A030"/>
                </a:solidFill>
                <a:latin typeface="Arial" pitchFamily="34" charset="0"/>
                <a:ea typeface="Arial" pitchFamily="34" charset="-122"/>
                <a:cs typeface="Arial" pitchFamily="34" charset="-120"/>
              </a:rPr>
              <a:t>Change the RULE</a:t>
            </a:r>
            <a:endParaRPr lang="en-US" sz="1350" dirty="0"/>
          </a:p>
        </p:txBody>
      </p:sp>
      <p:sp>
        <p:nvSpPr>
          <p:cNvPr id="48" name="Text 45"/>
          <p:cNvSpPr txBox="1"/>
          <p:nvPr/>
        </p:nvSpPr>
        <p:spPr>
          <a:xfrm>
            <a:off x="8293608" y="1645920"/>
            <a:ext cx="3063240" cy="274320"/>
          </a:xfrm>
          <a:prstGeom prst="rect">
            <a:avLst/>
          </a:prstGeom>
          <a:noFill/>
          <a:ln/>
        </p:spPr>
        <p:txBody>
          <a:bodyPr wrap="square" lIns="0" tIns="0" rIns="0" bIns="0" rtlCol="0" anchor="t"/>
          <a:lstStyle/>
          <a:p>
            <a:pPr indent="0" marL="0">
              <a:buNone/>
            </a:pPr>
            <a:r>
              <a:rPr lang="en-US" sz="1100" dirty="0">
                <a:solidFill>
                  <a:srgbClr val="AFBDC8"/>
                </a:solidFill>
                <a:latin typeface="Arial" pitchFamily="34" charset="0"/>
                <a:ea typeface="Arial" pitchFamily="34" charset="-122"/>
                <a:cs typeface="Arial" pitchFamily="34" charset="-120"/>
              </a:rPr>
              <a:t>mean · max · rollout</a:t>
            </a:r>
            <a:endParaRPr lang="en-US" sz="1100" dirty="0"/>
          </a:p>
        </p:txBody>
      </p:sp>
      <p:sp>
        <p:nvSpPr>
          <p:cNvPr id="49" name="Shape 46"/>
          <p:cNvSpPr/>
          <p:nvPr/>
        </p:nvSpPr>
        <p:spPr>
          <a:xfrm>
            <a:off x="8906256" y="2066544"/>
            <a:ext cx="777240" cy="274320"/>
          </a:xfrm>
          <a:prstGeom prst="roundRect">
            <a:avLst>
              <a:gd name="adj" fmla="val 16667"/>
            </a:avLst>
          </a:prstGeom>
          <a:solidFill>
            <a:srgbClr val="F0A030"/>
          </a:solidFill>
          <a:ln w="12700">
            <a:solidFill>
              <a:srgbClr val="F0A030"/>
            </a:solidFill>
            <a:prstDash val="solid"/>
          </a:ln>
        </p:spPr>
      </p:sp>
      <p:sp>
        <p:nvSpPr>
          <p:cNvPr id="50" name="Text 47"/>
          <p:cNvSpPr txBox="1"/>
          <p:nvPr/>
        </p:nvSpPr>
        <p:spPr>
          <a:xfrm>
            <a:off x="8906256" y="2075688"/>
            <a:ext cx="777240" cy="256032"/>
          </a:xfrm>
          <a:prstGeom prst="rect">
            <a:avLst/>
          </a:prstGeom>
          <a:noFill/>
          <a:ln/>
        </p:spPr>
        <p:txBody>
          <a:bodyPr wrap="square" lIns="0" tIns="0" rIns="0" bIns="0" rtlCol="0" anchor="ctr"/>
          <a:lstStyle/>
          <a:p>
            <a:pPr algn="ctr" indent="0" marL="0">
              <a:buNone/>
            </a:pPr>
            <a:r>
              <a:rPr lang="en-US" sz="950" b="1" dirty="0">
                <a:solidFill>
                  <a:srgbClr val="1F2830"/>
                </a:solidFill>
                <a:latin typeface="Arial" pitchFamily="34" charset="0"/>
                <a:ea typeface="Arial" pitchFamily="34" charset="-122"/>
                <a:cs typeface="Arial" pitchFamily="34" charset="-120"/>
              </a:rPr>
              <a:t>mean</a:t>
            </a:r>
            <a:endParaRPr lang="en-US" sz="950" dirty="0"/>
          </a:p>
        </p:txBody>
      </p:sp>
      <p:sp>
        <p:nvSpPr>
          <p:cNvPr id="51" name="Shape 48"/>
          <p:cNvSpPr/>
          <p:nvPr/>
        </p:nvSpPr>
        <p:spPr>
          <a:xfrm>
            <a:off x="9729216" y="2194560"/>
            <a:ext cx="594360" cy="411480"/>
          </a:xfrm>
          <a:prstGeom prst="line">
            <a:avLst/>
          </a:prstGeom>
          <a:noFill/>
          <a:ln w="25400">
            <a:solidFill>
              <a:srgbClr val="F0A030"/>
            </a:solidFill>
            <a:prstDash val="solid"/>
          </a:ln>
        </p:spPr>
      </p:sp>
      <p:sp>
        <p:nvSpPr>
          <p:cNvPr id="52" name="Shape 49"/>
          <p:cNvSpPr/>
          <p:nvPr/>
        </p:nvSpPr>
        <p:spPr>
          <a:xfrm>
            <a:off x="8906256" y="2478024"/>
            <a:ext cx="777240" cy="274320"/>
          </a:xfrm>
          <a:prstGeom prst="roundRect">
            <a:avLst>
              <a:gd name="adj" fmla="val 16667"/>
            </a:avLst>
          </a:prstGeom>
          <a:solidFill>
            <a:srgbClr val="44515C"/>
          </a:solidFill>
          <a:ln w="12700">
            <a:solidFill>
              <a:srgbClr val="5A6772"/>
            </a:solidFill>
            <a:prstDash val="solid"/>
          </a:ln>
        </p:spPr>
      </p:sp>
      <p:sp>
        <p:nvSpPr>
          <p:cNvPr id="53" name="Text 50"/>
          <p:cNvSpPr txBox="1"/>
          <p:nvPr/>
        </p:nvSpPr>
        <p:spPr>
          <a:xfrm>
            <a:off x="8906256" y="2487168"/>
            <a:ext cx="777240" cy="256032"/>
          </a:xfrm>
          <a:prstGeom prst="rect">
            <a:avLst/>
          </a:prstGeom>
          <a:noFill/>
          <a:ln/>
        </p:spPr>
        <p:txBody>
          <a:bodyPr wrap="square" lIns="0" tIns="0" rIns="0" bIns="0" rtlCol="0" anchor="ctr"/>
          <a:lstStyle/>
          <a:p>
            <a:pPr algn="ctr" indent="0" marL="0">
              <a:buNone/>
            </a:pPr>
            <a:r>
              <a:rPr lang="en-US" sz="950" b="1" dirty="0">
                <a:solidFill>
                  <a:srgbClr val="AFBDC8"/>
                </a:solidFill>
                <a:latin typeface="Arial" pitchFamily="34" charset="0"/>
                <a:ea typeface="Arial" pitchFamily="34" charset="-122"/>
                <a:cs typeface="Arial" pitchFamily="34" charset="-120"/>
              </a:rPr>
              <a:t>max</a:t>
            </a:r>
            <a:endParaRPr lang="en-US" sz="950" dirty="0"/>
          </a:p>
        </p:txBody>
      </p:sp>
      <p:sp>
        <p:nvSpPr>
          <p:cNvPr id="54" name="Shape 51"/>
          <p:cNvSpPr/>
          <p:nvPr/>
        </p:nvSpPr>
        <p:spPr>
          <a:xfrm>
            <a:off x="9729216" y="2606040"/>
            <a:ext cx="594360" cy="0"/>
          </a:xfrm>
          <a:prstGeom prst="line">
            <a:avLst/>
          </a:prstGeom>
          <a:noFill/>
          <a:ln w="12700">
            <a:solidFill>
              <a:srgbClr val="5A6772"/>
            </a:solidFill>
            <a:prstDash val="solid"/>
          </a:ln>
        </p:spPr>
      </p:sp>
      <p:sp>
        <p:nvSpPr>
          <p:cNvPr id="55" name="Shape 52"/>
          <p:cNvSpPr/>
          <p:nvPr/>
        </p:nvSpPr>
        <p:spPr>
          <a:xfrm>
            <a:off x="8906256" y="2889504"/>
            <a:ext cx="777240" cy="274320"/>
          </a:xfrm>
          <a:prstGeom prst="roundRect">
            <a:avLst>
              <a:gd name="adj" fmla="val 16667"/>
            </a:avLst>
          </a:prstGeom>
          <a:solidFill>
            <a:srgbClr val="44515C"/>
          </a:solidFill>
          <a:ln w="12700">
            <a:solidFill>
              <a:srgbClr val="5A6772"/>
            </a:solidFill>
            <a:prstDash val="solid"/>
          </a:ln>
        </p:spPr>
      </p:sp>
      <p:sp>
        <p:nvSpPr>
          <p:cNvPr id="56" name="Text 53"/>
          <p:cNvSpPr txBox="1"/>
          <p:nvPr/>
        </p:nvSpPr>
        <p:spPr>
          <a:xfrm>
            <a:off x="8906256" y="2898648"/>
            <a:ext cx="777240" cy="256032"/>
          </a:xfrm>
          <a:prstGeom prst="rect">
            <a:avLst/>
          </a:prstGeom>
          <a:noFill/>
          <a:ln/>
        </p:spPr>
        <p:txBody>
          <a:bodyPr wrap="square" lIns="0" tIns="0" rIns="0" bIns="0" rtlCol="0" anchor="ctr"/>
          <a:lstStyle/>
          <a:p>
            <a:pPr algn="ctr" indent="0" marL="0">
              <a:buNone/>
            </a:pPr>
            <a:r>
              <a:rPr lang="en-US" sz="950" b="1" dirty="0">
                <a:solidFill>
                  <a:srgbClr val="AFBDC8"/>
                </a:solidFill>
                <a:latin typeface="Arial" pitchFamily="34" charset="0"/>
                <a:ea typeface="Arial" pitchFamily="34" charset="-122"/>
                <a:cs typeface="Arial" pitchFamily="34" charset="-120"/>
              </a:rPr>
              <a:t>roll</a:t>
            </a:r>
            <a:endParaRPr lang="en-US" sz="950" dirty="0"/>
          </a:p>
        </p:txBody>
      </p:sp>
      <p:sp>
        <p:nvSpPr>
          <p:cNvPr id="57" name="Shape 54"/>
          <p:cNvSpPr/>
          <p:nvPr/>
        </p:nvSpPr>
        <p:spPr>
          <a:xfrm flipV="1">
            <a:off x="9729216" y="2606040"/>
            <a:ext cx="594360" cy="411480"/>
          </a:xfrm>
          <a:prstGeom prst="line">
            <a:avLst/>
          </a:prstGeom>
          <a:noFill/>
          <a:ln w="12700">
            <a:solidFill>
              <a:srgbClr val="5A6772"/>
            </a:solidFill>
            <a:prstDash val="solid"/>
          </a:ln>
        </p:spPr>
      </p:sp>
      <p:sp>
        <p:nvSpPr>
          <p:cNvPr id="58" name="Shape 55"/>
          <p:cNvSpPr/>
          <p:nvPr/>
        </p:nvSpPr>
        <p:spPr>
          <a:xfrm>
            <a:off x="10351008" y="2496312"/>
            <a:ext cx="219456" cy="219456"/>
          </a:xfrm>
          <a:prstGeom prst="ellipse">
            <a:avLst/>
          </a:prstGeom>
          <a:solidFill>
            <a:srgbClr val="F0A030"/>
          </a:solidFill>
          <a:ln w="12700">
            <a:solidFill>
              <a:srgbClr val="F0A030"/>
            </a:solidFill>
            <a:prstDash val="solid"/>
          </a:ln>
        </p:spPr>
      </p:sp>
      <p:sp>
        <p:nvSpPr>
          <p:cNvPr id="59" name="Shape 56"/>
          <p:cNvSpPr/>
          <p:nvPr/>
        </p:nvSpPr>
        <p:spPr>
          <a:xfrm>
            <a:off x="548640" y="3611880"/>
            <a:ext cx="11091672" cy="1737360"/>
          </a:xfrm>
          <a:prstGeom prst="roundRect">
            <a:avLst>
              <a:gd name="adj" fmla="val 3158"/>
            </a:avLst>
          </a:prstGeom>
          <a:solidFill>
            <a:srgbClr val="2F3A43"/>
          </a:solidFill>
          <a:ln w="12700">
            <a:solidFill>
              <a:srgbClr val="E4644C"/>
            </a:solidFill>
            <a:prstDash val="solid"/>
          </a:ln>
        </p:spPr>
      </p:sp>
      <p:sp>
        <p:nvSpPr>
          <p:cNvPr id="60" name="Text 57"/>
          <p:cNvSpPr txBox="1"/>
          <p:nvPr/>
        </p:nvSpPr>
        <p:spPr>
          <a:xfrm>
            <a:off x="822960" y="3767328"/>
            <a:ext cx="5486400" cy="274320"/>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Same checkpoint (GAT seed 42) — stale-attention shift  x 10⁻³</a:t>
            </a:r>
            <a:endParaRPr lang="en-US" sz="1200" dirty="0"/>
          </a:p>
        </p:txBody>
      </p:sp>
      <p:sp>
        <p:nvSpPr>
          <p:cNvPr id="61" name="Shape 58"/>
          <p:cNvSpPr/>
          <p:nvPr/>
        </p:nvSpPr>
        <p:spPr>
          <a:xfrm>
            <a:off x="6309360" y="4069080"/>
            <a:ext cx="0" cy="1097280"/>
          </a:xfrm>
          <a:prstGeom prst="line">
            <a:avLst/>
          </a:prstGeom>
          <a:noFill/>
          <a:ln w="12700">
            <a:solidFill>
              <a:srgbClr val="AFBDC8"/>
            </a:solidFill>
            <a:prstDash val="dash"/>
          </a:ln>
        </p:spPr>
      </p:sp>
      <p:sp>
        <p:nvSpPr>
          <p:cNvPr id="62" name="Shape 59"/>
          <p:cNvSpPr/>
          <p:nvPr/>
        </p:nvSpPr>
        <p:spPr>
          <a:xfrm>
            <a:off x="6309360" y="4114800"/>
            <a:ext cx="854050" cy="182880"/>
          </a:xfrm>
          <a:prstGeom prst="rect">
            <a:avLst/>
          </a:prstGeom>
          <a:solidFill>
            <a:srgbClr val="5FC98B"/>
          </a:solidFill>
          <a:ln w="12700">
            <a:solidFill>
              <a:srgbClr val="5FC98B"/>
            </a:solidFill>
            <a:prstDash val="solid"/>
          </a:ln>
        </p:spPr>
      </p:sp>
      <p:sp>
        <p:nvSpPr>
          <p:cNvPr id="63" name="Text 60"/>
          <p:cNvSpPr txBox="1"/>
          <p:nvPr/>
        </p:nvSpPr>
        <p:spPr>
          <a:xfrm>
            <a:off x="822960" y="4078224"/>
            <a:ext cx="2011680" cy="256032"/>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Declared / mean</a:t>
            </a:r>
            <a:endParaRPr lang="en-US" sz="1050" dirty="0"/>
          </a:p>
        </p:txBody>
      </p:sp>
      <p:sp>
        <p:nvSpPr>
          <p:cNvPr id="64" name="Text 61"/>
          <p:cNvSpPr txBox="1"/>
          <p:nvPr/>
        </p:nvSpPr>
        <p:spPr>
          <a:xfrm>
            <a:off x="7236562" y="4078224"/>
            <a:ext cx="822960" cy="256032"/>
          </a:xfrm>
          <a:prstGeom prst="rect">
            <a:avLst/>
          </a:prstGeom>
          <a:noFill/>
          <a:ln/>
        </p:spPr>
        <p:txBody>
          <a:bodyPr wrap="square" lIns="0" tIns="0" rIns="0" bIns="0" rtlCol="0" anchor="ctr"/>
          <a:lstStyle/>
          <a:p>
            <a:pPr algn="l" indent="0" marL="0">
              <a:buNone/>
            </a:pPr>
            <a:r>
              <a:rPr lang="en-US" sz="1000" b="1" dirty="0">
                <a:solidFill>
                  <a:srgbClr val="5FC98B"/>
                </a:solidFill>
                <a:latin typeface="Arial" pitchFamily="34" charset="0"/>
                <a:ea typeface="Arial" pitchFamily="34" charset="-122"/>
                <a:cs typeface="Arial" pitchFamily="34" charset="-120"/>
              </a:rPr>
              <a:t>+4.67</a:t>
            </a:r>
            <a:endParaRPr lang="en-US" sz="1000" dirty="0"/>
          </a:p>
        </p:txBody>
      </p:sp>
      <p:sp>
        <p:nvSpPr>
          <p:cNvPr id="65" name="Shape 62"/>
          <p:cNvSpPr/>
          <p:nvPr/>
        </p:nvSpPr>
        <p:spPr>
          <a:xfrm>
            <a:off x="5321808" y="4398264"/>
            <a:ext cx="987552" cy="182880"/>
          </a:xfrm>
          <a:prstGeom prst="rect">
            <a:avLst/>
          </a:prstGeom>
          <a:solidFill>
            <a:srgbClr val="E4644C"/>
          </a:solidFill>
          <a:ln w="12700">
            <a:solidFill>
              <a:srgbClr val="E4644C"/>
            </a:solidFill>
            <a:prstDash val="solid"/>
          </a:ln>
        </p:spPr>
      </p:sp>
      <p:sp>
        <p:nvSpPr>
          <p:cNvPr id="66" name="Text 63"/>
          <p:cNvSpPr txBox="1"/>
          <p:nvPr/>
        </p:nvSpPr>
        <p:spPr>
          <a:xfrm>
            <a:off x="822960" y="4361688"/>
            <a:ext cx="2011680" cy="256032"/>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Layer 1 / head 1</a:t>
            </a:r>
            <a:endParaRPr lang="en-US" sz="1050" dirty="0"/>
          </a:p>
        </p:txBody>
      </p:sp>
      <p:sp>
        <p:nvSpPr>
          <p:cNvPr id="67" name="Text 64"/>
          <p:cNvSpPr txBox="1"/>
          <p:nvPr/>
        </p:nvSpPr>
        <p:spPr>
          <a:xfrm>
            <a:off x="4453128" y="4361688"/>
            <a:ext cx="822960" cy="256032"/>
          </a:xfrm>
          <a:prstGeom prst="rect">
            <a:avLst/>
          </a:prstGeom>
          <a:noFill/>
          <a:ln/>
        </p:spPr>
        <p:txBody>
          <a:bodyPr wrap="square" lIns="0" tIns="0" rIns="0" bIns="0" rtlCol="0" anchor="ctr"/>
          <a:lstStyle/>
          <a:p>
            <a:pPr algn="r" indent="0" marL="0">
              <a:buNone/>
            </a:pPr>
            <a:r>
              <a:rPr lang="en-US" sz="1000" b="1" dirty="0">
                <a:solidFill>
                  <a:srgbClr val="E4644C"/>
                </a:solidFill>
                <a:latin typeface="Arial" pitchFamily="34" charset="0"/>
                <a:ea typeface="Arial" pitchFamily="34" charset="-122"/>
                <a:cs typeface="Arial" pitchFamily="34" charset="-120"/>
              </a:rPr>
              <a:t>-5.40</a:t>
            </a:r>
            <a:endParaRPr lang="en-US" sz="1000" dirty="0"/>
          </a:p>
        </p:txBody>
      </p:sp>
      <p:sp>
        <p:nvSpPr>
          <p:cNvPr id="68" name="Shape 65"/>
          <p:cNvSpPr/>
          <p:nvPr/>
        </p:nvSpPr>
        <p:spPr>
          <a:xfrm>
            <a:off x="6309360" y="4681728"/>
            <a:ext cx="1872691" cy="182880"/>
          </a:xfrm>
          <a:prstGeom prst="rect">
            <a:avLst/>
          </a:prstGeom>
          <a:solidFill>
            <a:srgbClr val="5FC98B"/>
          </a:solidFill>
          <a:ln w="12700">
            <a:solidFill>
              <a:srgbClr val="5FC98B"/>
            </a:solidFill>
            <a:prstDash val="solid"/>
          </a:ln>
        </p:spPr>
      </p:sp>
      <p:sp>
        <p:nvSpPr>
          <p:cNvPr id="69" name="Text 66"/>
          <p:cNvSpPr txBox="1"/>
          <p:nvPr/>
        </p:nvSpPr>
        <p:spPr>
          <a:xfrm>
            <a:off x="822960" y="4645152"/>
            <a:ext cx="2011680" cy="256032"/>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Layer 2 / head 3</a:t>
            </a:r>
            <a:endParaRPr lang="en-US" sz="1050" dirty="0"/>
          </a:p>
        </p:txBody>
      </p:sp>
      <p:sp>
        <p:nvSpPr>
          <p:cNvPr id="70" name="Text 67"/>
          <p:cNvSpPr txBox="1"/>
          <p:nvPr/>
        </p:nvSpPr>
        <p:spPr>
          <a:xfrm>
            <a:off x="8255203" y="4645152"/>
            <a:ext cx="822960" cy="256032"/>
          </a:xfrm>
          <a:prstGeom prst="rect">
            <a:avLst/>
          </a:prstGeom>
          <a:noFill/>
          <a:ln/>
        </p:spPr>
        <p:txBody>
          <a:bodyPr wrap="square" lIns="0" tIns="0" rIns="0" bIns="0" rtlCol="0" anchor="ctr"/>
          <a:lstStyle/>
          <a:p>
            <a:pPr algn="l" indent="0" marL="0">
              <a:buNone/>
            </a:pPr>
            <a:r>
              <a:rPr lang="en-US" sz="1000" b="1" dirty="0">
                <a:solidFill>
                  <a:srgbClr val="5FC98B"/>
                </a:solidFill>
                <a:latin typeface="Arial" pitchFamily="34" charset="0"/>
                <a:ea typeface="Arial" pitchFamily="34" charset="-122"/>
                <a:cs typeface="Arial" pitchFamily="34" charset="-120"/>
              </a:rPr>
              <a:t>+10.24</a:t>
            </a:r>
            <a:endParaRPr lang="en-US" sz="1000" dirty="0"/>
          </a:p>
        </p:txBody>
      </p:sp>
      <p:sp>
        <p:nvSpPr>
          <p:cNvPr id="71" name="Shape 68"/>
          <p:cNvSpPr/>
          <p:nvPr/>
        </p:nvSpPr>
        <p:spPr>
          <a:xfrm>
            <a:off x="6309360" y="4965192"/>
            <a:ext cx="27432" cy="182880"/>
          </a:xfrm>
          <a:prstGeom prst="rect">
            <a:avLst/>
          </a:prstGeom>
          <a:solidFill>
            <a:srgbClr val="AFBDC8"/>
          </a:solidFill>
          <a:ln w="12700">
            <a:solidFill>
              <a:srgbClr val="AFBDC8"/>
            </a:solidFill>
            <a:prstDash val="solid"/>
          </a:ln>
        </p:spPr>
      </p:sp>
      <p:sp>
        <p:nvSpPr>
          <p:cNvPr id="72" name="Text 69"/>
          <p:cNvSpPr txBox="1"/>
          <p:nvPr/>
        </p:nvSpPr>
        <p:spPr>
          <a:xfrm>
            <a:off x="822960" y="4928616"/>
            <a:ext cx="2011680" cy="256032"/>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Layer 2 / head 2</a:t>
            </a:r>
            <a:endParaRPr lang="en-US" sz="1050" dirty="0"/>
          </a:p>
        </p:txBody>
      </p:sp>
      <p:sp>
        <p:nvSpPr>
          <p:cNvPr id="73" name="Text 70"/>
          <p:cNvSpPr txBox="1"/>
          <p:nvPr/>
        </p:nvSpPr>
        <p:spPr>
          <a:xfrm>
            <a:off x="6402629" y="4928616"/>
            <a:ext cx="822960" cy="256032"/>
          </a:xfrm>
          <a:prstGeom prst="rect">
            <a:avLst/>
          </a:prstGeom>
          <a:noFill/>
          <a:ln/>
        </p:spPr>
        <p:txBody>
          <a:bodyPr wrap="square" lIns="0" tIns="0" rIns="0" bIns="0" rtlCol="0" anchor="ctr"/>
          <a:lstStyle/>
          <a:p>
            <a:pPr algn="l" indent="0" marL="0">
              <a:buNone/>
            </a:pPr>
            <a:r>
              <a:rPr lang="en-US" sz="1000" b="1" dirty="0">
                <a:solidFill>
                  <a:srgbClr val="AFBDC8"/>
                </a:solidFill>
                <a:latin typeface="Arial" pitchFamily="34" charset="0"/>
                <a:ea typeface="Arial" pitchFamily="34" charset="-122"/>
                <a:cs typeface="Arial" pitchFamily="34" charset="-120"/>
              </a:rPr>
              <a:t>+0.11</a:t>
            </a:r>
            <a:endParaRPr lang="en-US" sz="1000" dirty="0"/>
          </a:p>
        </p:txBody>
      </p:sp>
      <p:sp>
        <p:nvSpPr>
          <p:cNvPr id="74" name="Text 71"/>
          <p:cNvSpPr txBox="1"/>
          <p:nvPr/>
        </p:nvSpPr>
        <p:spPr>
          <a:xfrm>
            <a:off x="3063240" y="4846320"/>
            <a:ext cx="3017520" cy="274320"/>
          </a:xfrm>
          <a:prstGeom prst="rect">
            <a:avLst/>
          </a:prstGeom>
          <a:noFill/>
          <a:ln/>
        </p:spPr>
        <p:txBody>
          <a:bodyPr wrap="square" lIns="0" tIns="0" rIns="0" bIns="0" rtlCol="0" anchor="t"/>
          <a:lstStyle/>
          <a:p>
            <a:pPr indent="0" marL="0">
              <a:buNone/>
            </a:pPr>
            <a:r>
              <a:rPr lang="en-US" sz="1200" b="1" dirty="0">
                <a:solidFill>
                  <a:srgbClr val="E4644C"/>
                </a:solidFill>
                <a:latin typeface="Arial" pitchFamily="34" charset="0"/>
                <a:ea typeface="Arial" pitchFamily="34" charset="-122"/>
                <a:cs typeface="Arial" pitchFamily="34" charset="-120"/>
              </a:rPr>
              <a:t>One rule reverses the sign</a:t>
            </a:r>
            <a:endParaRPr lang="en-US" sz="1200" dirty="0"/>
          </a:p>
        </p:txBody>
      </p:sp>
      <p:sp>
        <p:nvSpPr>
          <p:cNvPr id="75" name="Text 72"/>
          <p:cNvSpPr txBox="1"/>
          <p:nvPr/>
        </p:nvSpPr>
        <p:spPr>
          <a:xfrm>
            <a:off x="10332720" y="3977640"/>
            <a:ext cx="1097280" cy="502920"/>
          </a:xfrm>
          <a:prstGeom prst="rect">
            <a:avLst/>
          </a:prstGeom>
          <a:noFill/>
          <a:ln/>
        </p:spPr>
        <p:txBody>
          <a:bodyPr wrap="square" lIns="0" tIns="0" rIns="0" bIns="0" rtlCol="0" anchor="t"/>
          <a:lstStyle/>
          <a:p>
            <a:pPr algn="r" indent="0" marL="0">
              <a:buNone/>
            </a:pPr>
            <a:r>
              <a:rPr lang="en-US" sz="2800" b="1" dirty="0">
                <a:solidFill>
                  <a:srgbClr val="E4644C"/>
                </a:solidFill>
                <a:latin typeface="Arial" pitchFamily="34" charset="0"/>
                <a:ea typeface="Arial" pitchFamily="34" charset="-122"/>
                <a:cs typeface="Arial" pitchFamily="34" charset="-120"/>
              </a:rPr>
              <a:t>6 / 6</a:t>
            </a:r>
            <a:endParaRPr lang="en-US" sz="2800" dirty="0"/>
          </a:p>
        </p:txBody>
      </p:sp>
      <p:sp>
        <p:nvSpPr>
          <p:cNvPr id="76" name="Text 73"/>
          <p:cNvSpPr txBox="1"/>
          <p:nvPr/>
        </p:nvSpPr>
        <p:spPr>
          <a:xfrm>
            <a:off x="9692640" y="4526280"/>
            <a:ext cx="1737360" cy="502920"/>
          </a:xfrm>
          <a:prstGeom prst="rect">
            <a:avLst/>
          </a:prstGeom>
          <a:noFill/>
          <a:ln/>
        </p:spPr>
        <p:txBody>
          <a:bodyPr wrap="square" lIns="0" tIns="0" rIns="0" bIns="0" rtlCol="0" anchor="t"/>
          <a:lstStyle/>
          <a:p>
            <a:pPr algn="r" indent="0" marL="0">
              <a:lnSpc>
                <a:spcPct val="115000"/>
              </a:lnSpc>
              <a:buNone/>
            </a:pPr>
            <a:r>
              <a:rPr lang="en-US" sz="1100" dirty="0">
                <a:solidFill>
                  <a:srgbClr val="FFFFFF"/>
                </a:solidFill>
                <a:latin typeface="Arial" pitchFamily="34" charset="0"/>
                <a:ea typeface="Arial" pitchFamily="34" charset="-122"/>
                <a:cs typeface="Arial" pitchFamily="34" charset="-120"/>
              </a:rPr>
              <a:t>checkpoints have</a:t>
            </a:r>
            <a:endParaRPr lang="en-US" sz="1100" dirty="0"/>
          </a:p>
          <a:p>
            <a:pPr algn="r" indent="0" marL="0">
              <a:lnSpc>
                <a:spcPct val="115000"/>
              </a:lnSpc>
              <a:buNone/>
            </a:pPr>
            <a:r>
              <a:rPr lang="en-US" sz="1100" dirty="0">
                <a:solidFill>
                  <a:srgbClr val="FFFFFF"/>
                </a:solidFill>
                <a:latin typeface="Arial" pitchFamily="34" charset="0"/>
                <a:ea typeface="Arial" pitchFamily="34" charset="-122"/>
                <a:cs typeface="Arial" pitchFamily="34" charset="-120"/>
              </a:rPr>
              <a:t>a reversing rule</a:t>
            </a:r>
            <a:endParaRPr lang="en-US" sz="1100" dirty="0"/>
          </a:p>
        </p:txBody>
      </p:sp>
      <p:sp>
        <p:nvSpPr>
          <p:cNvPr id="77" name="Shape 74"/>
          <p:cNvSpPr/>
          <p:nvPr/>
        </p:nvSpPr>
        <p:spPr>
          <a:xfrm>
            <a:off x="548640" y="5559552"/>
            <a:ext cx="11091672" cy="694944"/>
          </a:xfrm>
          <a:prstGeom prst="roundRect">
            <a:avLst>
              <a:gd name="adj" fmla="val 7895"/>
            </a:avLst>
          </a:prstGeom>
          <a:solidFill>
            <a:srgbClr val="44515C"/>
          </a:solidFill>
          <a:ln w="12700">
            <a:solidFill>
              <a:srgbClr val="E4644C"/>
            </a:solidFill>
            <a:prstDash val="solid"/>
          </a:ln>
        </p:spPr>
      </p:sp>
      <p:sp>
        <p:nvSpPr>
          <p:cNvPr id="78" name="Text 75"/>
          <p:cNvSpPr txBox="1"/>
          <p:nvPr/>
        </p:nvSpPr>
        <p:spPr>
          <a:xfrm>
            <a:off x="822960" y="5751576"/>
            <a:ext cx="10515600" cy="36576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The network supplies no self-evident attention map — whatever the operator sees was chosen by a rule.</a:t>
            </a:r>
            <a:endParaRPr lang="en-US" sz="1400" dirty="0"/>
          </a:p>
        </p:txBody>
      </p:sp>
      <p:sp>
        <p:nvSpPr>
          <p:cNvPr id="79" name="Text 76"/>
          <p:cNvSpPr txBox="1"/>
          <p:nvPr/>
        </p:nvSpPr>
        <p:spPr>
          <a:xfrm>
            <a:off x="11365992" y="6382512"/>
            <a:ext cx="365760" cy="274320"/>
          </a:xfrm>
          <a:prstGeom prst="rect">
            <a:avLst/>
          </a:prstGeom>
          <a:noFill/>
          <a:ln/>
        </p:spPr>
        <p:txBody>
          <a:bodyPr wrap="square" lIns="0" tIns="0" rIns="0" bIns="0" rtlCol="0" anchor="ctr"/>
          <a:lstStyle/>
          <a:p>
            <a:pPr algn="r" indent="0" marL="0">
              <a:buNone/>
            </a:pPr>
            <a:r>
              <a:rPr lang="en-US" sz="900" dirty="0">
                <a:solidFill>
                  <a:srgbClr val="7C8B96"/>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39454F"/>
        </a:solidFill>
      </p:bgPr>
    </p:bg>
    <p:spTree>
      <p:nvGrpSpPr>
        <p:cNvPr id="1" name=""/>
        <p:cNvGrpSpPr/>
        <p:nvPr/>
      </p:nvGrpSpPr>
      <p:grpSpPr>
        <a:xfrm>
          <a:off x="0" y="0"/>
          <a:ext cx="0" cy="0"/>
          <a:chOff x="0" y="0"/>
          <a:chExt cx="0" cy="0"/>
        </a:xfrm>
      </p:grpSpPr>
      <p:sp>
        <p:nvSpPr>
          <p:cNvPr id="3" name="Shape 0"/>
          <p:cNvSpPr/>
          <p:nvPr/>
        </p:nvSpPr>
        <p:spPr>
          <a:xfrm>
            <a:off x="201168" y="201168"/>
            <a:ext cx="384048" cy="0"/>
          </a:xfrm>
          <a:prstGeom prst="line">
            <a:avLst/>
          </a:prstGeom>
          <a:noFill/>
          <a:ln w="12700">
            <a:solidFill>
              <a:srgbClr val="66757F"/>
            </a:solidFill>
            <a:prstDash val="solid"/>
          </a:ln>
        </p:spPr>
      </p:sp>
      <p:sp>
        <p:nvSpPr>
          <p:cNvPr id="4" name="Shape 1"/>
          <p:cNvSpPr/>
          <p:nvPr/>
        </p:nvSpPr>
        <p:spPr>
          <a:xfrm>
            <a:off x="201168" y="201168"/>
            <a:ext cx="0" cy="384048"/>
          </a:xfrm>
          <a:prstGeom prst="line">
            <a:avLst/>
          </a:prstGeom>
          <a:noFill/>
          <a:ln w="12700">
            <a:solidFill>
              <a:srgbClr val="66757F"/>
            </a:solidFill>
            <a:prstDash val="solid"/>
          </a:ln>
        </p:spPr>
      </p:sp>
      <p:sp>
        <p:nvSpPr>
          <p:cNvPr id="5" name="Shape 2"/>
          <p:cNvSpPr/>
          <p:nvPr/>
        </p:nvSpPr>
        <p:spPr>
          <a:xfrm flipH="1">
            <a:off x="11603736" y="201168"/>
            <a:ext cx="384048" cy="0"/>
          </a:xfrm>
          <a:prstGeom prst="line">
            <a:avLst/>
          </a:prstGeom>
          <a:noFill/>
          <a:ln w="12700">
            <a:solidFill>
              <a:srgbClr val="66757F"/>
            </a:solidFill>
            <a:prstDash val="solid"/>
          </a:ln>
        </p:spPr>
      </p:sp>
      <p:sp>
        <p:nvSpPr>
          <p:cNvPr id="6" name="Shape 3"/>
          <p:cNvSpPr/>
          <p:nvPr/>
        </p:nvSpPr>
        <p:spPr>
          <a:xfrm>
            <a:off x="11987784" y="201168"/>
            <a:ext cx="0" cy="384048"/>
          </a:xfrm>
          <a:prstGeom prst="line">
            <a:avLst/>
          </a:prstGeom>
          <a:noFill/>
          <a:ln w="12700">
            <a:solidFill>
              <a:srgbClr val="66757F"/>
            </a:solidFill>
            <a:prstDash val="solid"/>
          </a:ln>
        </p:spPr>
      </p:sp>
      <p:sp>
        <p:nvSpPr>
          <p:cNvPr id="7" name="Shape 4"/>
          <p:cNvSpPr/>
          <p:nvPr/>
        </p:nvSpPr>
        <p:spPr>
          <a:xfrm>
            <a:off x="201168" y="6656832"/>
            <a:ext cx="384048" cy="0"/>
          </a:xfrm>
          <a:prstGeom prst="line">
            <a:avLst/>
          </a:prstGeom>
          <a:noFill/>
          <a:ln w="12700">
            <a:solidFill>
              <a:srgbClr val="66757F"/>
            </a:solidFill>
            <a:prstDash val="solid"/>
          </a:ln>
        </p:spPr>
      </p:sp>
      <p:sp>
        <p:nvSpPr>
          <p:cNvPr id="8" name="Shape 5"/>
          <p:cNvSpPr/>
          <p:nvPr/>
        </p:nvSpPr>
        <p:spPr>
          <a:xfrm flipV="1">
            <a:off x="201168" y="6272784"/>
            <a:ext cx="0" cy="384048"/>
          </a:xfrm>
          <a:prstGeom prst="line">
            <a:avLst/>
          </a:prstGeom>
          <a:noFill/>
          <a:ln w="12700">
            <a:solidFill>
              <a:srgbClr val="66757F"/>
            </a:solidFill>
            <a:prstDash val="solid"/>
          </a:ln>
        </p:spPr>
      </p:sp>
      <p:sp>
        <p:nvSpPr>
          <p:cNvPr id="9" name="Shape 6"/>
          <p:cNvSpPr/>
          <p:nvPr/>
        </p:nvSpPr>
        <p:spPr>
          <a:xfrm flipH="1">
            <a:off x="11603736" y="6656832"/>
            <a:ext cx="384048" cy="0"/>
          </a:xfrm>
          <a:prstGeom prst="line">
            <a:avLst/>
          </a:prstGeom>
          <a:noFill/>
          <a:ln w="12700">
            <a:solidFill>
              <a:srgbClr val="66757F"/>
            </a:solidFill>
            <a:prstDash val="solid"/>
          </a:ln>
        </p:spPr>
      </p:sp>
      <p:sp>
        <p:nvSpPr>
          <p:cNvPr id="10" name="Shape 7"/>
          <p:cNvSpPr/>
          <p:nvPr/>
        </p:nvSpPr>
        <p:spPr>
          <a:xfrm flipV="1">
            <a:off x="11987784" y="6272784"/>
            <a:ext cx="0" cy="384048"/>
          </a:xfrm>
          <a:prstGeom prst="line">
            <a:avLst/>
          </a:prstGeom>
          <a:noFill/>
          <a:ln w="12700">
            <a:solidFill>
              <a:srgbClr val="66757F"/>
            </a:solidFill>
            <a:prstDash val="solid"/>
          </a:ln>
        </p:spPr>
      </p:sp>
      <p:sp>
        <p:nvSpPr>
          <p:cNvPr id="11" name="Shape 8"/>
          <p:cNvSpPr/>
          <p:nvPr/>
        </p:nvSpPr>
        <p:spPr>
          <a:xfrm>
            <a:off x="6003036" y="182880"/>
            <a:ext cx="182880" cy="0"/>
          </a:xfrm>
          <a:prstGeom prst="line">
            <a:avLst/>
          </a:prstGeom>
          <a:noFill/>
          <a:ln w="12700">
            <a:solidFill>
              <a:srgbClr val="66757F"/>
            </a:solidFill>
            <a:prstDash val="solid"/>
          </a:ln>
        </p:spPr>
      </p:sp>
      <p:sp>
        <p:nvSpPr>
          <p:cNvPr id="12" name="Shape 9"/>
          <p:cNvSpPr/>
          <p:nvPr/>
        </p:nvSpPr>
        <p:spPr>
          <a:xfrm>
            <a:off x="6094476" y="91440"/>
            <a:ext cx="0" cy="182880"/>
          </a:xfrm>
          <a:prstGeom prst="line">
            <a:avLst/>
          </a:prstGeom>
          <a:noFill/>
          <a:ln w="12700">
            <a:solidFill>
              <a:srgbClr val="66757F"/>
            </a:solidFill>
            <a:prstDash val="solid"/>
          </a:ln>
        </p:spPr>
      </p:sp>
      <p:sp>
        <p:nvSpPr>
          <p:cNvPr id="13" name="Shape 10"/>
          <p:cNvSpPr/>
          <p:nvPr/>
        </p:nvSpPr>
        <p:spPr>
          <a:xfrm>
            <a:off x="6003036" y="6675120"/>
            <a:ext cx="182880" cy="0"/>
          </a:xfrm>
          <a:prstGeom prst="line">
            <a:avLst/>
          </a:prstGeom>
          <a:noFill/>
          <a:ln w="12700">
            <a:solidFill>
              <a:srgbClr val="66757F"/>
            </a:solidFill>
            <a:prstDash val="solid"/>
          </a:ln>
        </p:spPr>
      </p:sp>
      <p:sp>
        <p:nvSpPr>
          <p:cNvPr id="14" name="Shape 11"/>
          <p:cNvSpPr/>
          <p:nvPr/>
        </p:nvSpPr>
        <p:spPr>
          <a:xfrm>
            <a:off x="6094476" y="6583680"/>
            <a:ext cx="0" cy="182880"/>
          </a:xfrm>
          <a:prstGeom prst="line">
            <a:avLst/>
          </a:prstGeom>
          <a:noFill/>
          <a:ln w="12700">
            <a:solidFill>
              <a:srgbClr val="66757F"/>
            </a:solidFill>
            <a:prstDash val="solid"/>
          </a:ln>
        </p:spPr>
      </p:sp>
      <p:sp>
        <p:nvSpPr>
          <p:cNvPr id="15" name="Shape 12"/>
          <p:cNvSpPr/>
          <p:nvPr/>
        </p:nvSpPr>
        <p:spPr>
          <a:xfrm>
            <a:off x="91440" y="3429000"/>
            <a:ext cx="182880" cy="0"/>
          </a:xfrm>
          <a:prstGeom prst="line">
            <a:avLst/>
          </a:prstGeom>
          <a:noFill/>
          <a:ln w="12700">
            <a:solidFill>
              <a:srgbClr val="66757F"/>
            </a:solidFill>
            <a:prstDash val="solid"/>
          </a:ln>
        </p:spPr>
      </p:sp>
      <p:sp>
        <p:nvSpPr>
          <p:cNvPr id="16" name="Shape 13"/>
          <p:cNvSpPr/>
          <p:nvPr/>
        </p:nvSpPr>
        <p:spPr>
          <a:xfrm>
            <a:off x="182880" y="3337560"/>
            <a:ext cx="0" cy="182880"/>
          </a:xfrm>
          <a:prstGeom prst="line">
            <a:avLst/>
          </a:prstGeom>
          <a:noFill/>
          <a:ln w="12700">
            <a:solidFill>
              <a:srgbClr val="66757F"/>
            </a:solidFill>
            <a:prstDash val="solid"/>
          </a:ln>
        </p:spPr>
      </p:sp>
      <p:sp>
        <p:nvSpPr>
          <p:cNvPr id="17" name="Shape 14"/>
          <p:cNvSpPr/>
          <p:nvPr/>
        </p:nvSpPr>
        <p:spPr>
          <a:xfrm>
            <a:off x="11914632" y="3429000"/>
            <a:ext cx="182880" cy="0"/>
          </a:xfrm>
          <a:prstGeom prst="line">
            <a:avLst/>
          </a:prstGeom>
          <a:noFill/>
          <a:ln w="12700">
            <a:solidFill>
              <a:srgbClr val="66757F"/>
            </a:solidFill>
            <a:prstDash val="solid"/>
          </a:ln>
        </p:spPr>
      </p:sp>
      <p:sp>
        <p:nvSpPr>
          <p:cNvPr id="18" name="Shape 15"/>
          <p:cNvSpPr/>
          <p:nvPr/>
        </p:nvSpPr>
        <p:spPr>
          <a:xfrm>
            <a:off x="12006072" y="3337560"/>
            <a:ext cx="0" cy="182880"/>
          </a:xfrm>
          <a:prstGeom prst="line">
            <a:avLst/>
          </a:prstGeom>
          <a:noFill/>
          <a:ln w="12700">
            <a:solidFill>
              <a:srgbClr val="66757F"/>
            </a:solidFill>
            <a:prstDash val="solid"/>
          </a:ln>
        </p:spPr>
      </p:sp>
      <p:sp>
        <p:nvSpPr>
          <p:cNvPr id="19" name="Text 16"/>
          <p:cNvSpPr txBox="1"/>
          <p:nvPr/>
        </p:nvSpPr>
        <p:spPr>
          <a:xfrm>
            <a:off x="566928" y="329184"/>
            <a:ext cx="11064240" cy="566928"/>
          </a:xfrm>
          <a:prstGeom prst="rect">
            <a:avLst/>
          </a:prstGeom>
          <a:noFill/>
          <a:ln/>
        </p:spPr>
        <p:txBody>
          <a:bodyPr wrap="square" lIns="0" tIns="0" rIns="0" bIns="0" rtlCol="0" anchor="t"/>
          <a:lstStyle/>
          <a:p>
            <a:pPr indent="0" marL="0">
              <a:buNone/>
            </a:pPr>
            <a:r>
              <a:rPr lang="en-US" sz="2900" b="1" dirty="0">
                <a:solidFill>
                  <a:srgbClr val="FFFFFF"/>
                </a:solidFill>
                <a:latin typeface="Arial" pitchFamily="34" charset="0"/>
                <a:ea typeface="Arial" pitchFamily="34" charset="-122"/>
                <a:cs typeface="Arial" pitchFamily="34" charset="-120"/>
              </a:rPr>
              <a:t>Verdict RQ4 — Outage Training Does Not Repair It</a:t>
            </a:r>
            <a:endParaRPr lang="en-US" sz="2900" dirty="0"/>
          </a:p>
        </p:txBody>
      </p:sp>
      <p:sp>
        <p:nvSpPr>
          <p:cNvPr id="20" name="Shape 17"/>
          <p:cNvSpPr/>
          <p:nvPr/>
        </p:nvSpPr>
        <p:spPr>
          <a:xfrm>
            <a:off x="548640" y="1143000"/>
            <a:ext cx="11091672" cy="914400"/>
          </a:xfrm>
          <a:prstGeom prst="roundRect">
            <a:avLst>
              <a:gd name="adj" fmla="val 6000"/>
            </a:avLst>
          </a:prstGeom>
          <a:solidFill>
            <a:srgbClr val="44515C"/>
          </a:solidFill>
          <a:ln w="12700">
            <a:solidFill>
              <a:srgbClr val="35D6E8"/>
            </a:solidFill>
            <a:prstDash val="solid"/>
          </a:ln>
        </p:spPr>
      </p:sp>
      <p:sp>
        <p:nvSpPr>
          <p:cNvPr id="21" name="Text 18"/>
          <p:cNvSpPr txBox="1"/>
          <p:nvPr/>
        </p:nvSpPr>
        <p:spPr>
          <a:xfrm>
            <a:off x="822960" y="1371600"/>
            <a:ext cx="10515600" cy="36576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Hypothesis:  training with 30 s outages should make the explanation robust.</a:t>
            </a:r>
            <a:endParaRPr lang="en-US" sz="1500" dirty="0"/>
          </a:p>
        </p:txBody>
      </p:sp>
      <p:sp>
        <p:nvSpPr>
          <p:cNvPr id="22" name="Shape 19"/>
          <p:cNvSpPr/>
          <p:nvPr/>
        </p:nvSpPr>
        <p:spPr>
          <a:xfrm>
            <a:off x="548640" y="2286000"/>
            <a:ext cx="11091672" cy="841248"/>
          </a:xfrm>
          <a:prstGeom prst="roundRect">
            <a:avLst>
              <a:gd name="adj" fmla="val 6522"/>
            </a:avLst>
          </a:prstGeom>
          <a:solidFill>
            <a:srgbClr val="2F3A43"/>
          </a:solidFill>
          <a:ln w="12700">
            <a:solidFill>
              <a:srgbClr val="F0A030"/>
            </a:solidFill>
            <a:prstDash val="solid"/>
          </a:ln>
        </p:spPr>
      </p:sp>
      <p:sp>
        <p:nvSpPr>
          <p:cNvPr id="23" name="Shape 20"/>
          <p:cNvSpPr/>
          <p:nvPr/>
        </p:nvSpPr>
        <p:spPr>
          <a:xfrm>
            <a:off x="822960" y="2478024"/>
            <a:ext cx="457200" cy="457200"/>
          </a:xfrm>
          <a:prstGeom prst="ellipse">
            <a:avLst/>
          </a:prstGeom>
          <a:solidFill>
            <a:srgbClr val="F0A030"/>
          </a:solidFill>
          <a:ln w="12700">
            <a:solidFill>
              <a:srgbClr val="F0A030"/>
            </a:solidFill>
            <a:prstDash val="solid"/>
          </a:ln>
        </p:spPr>
      </p:sp>
      <p:sp>
        <p:nvSpPr>
          <p:cNvPr id="24" name="Text 21"/>
          <p:cNvSpPr txBox="1"/>
          <p:nvPr/>
        </p:nvSpPr>
        <p:spPr>
          <a:xfrm>
            <a:off x="822960" y="2587752"/>
            <a:ext cx="457200" cy="256032"/>
          </a:xfrm>
          <a:prstGeom prst="rect">
            <a:avLst/>
          </a:prstGeom>
          <a:noFill/>
          <a:ln/>
        </p:spPr>
        <p:txBody>
          <a:bodyPr wrap="square" lIns="0" tIns="0" rIns="0" bIns="0" rtlCol="0" anchor="t"/>
          <a:lstStyle/>
          <a:p>
            <a:pPr algn="ctr" indent="0" marL="0">
              <a:buNone/>
            </a:pPr>
            <a:r>
              <a:rPr lang="en-US" sz="1300" b="1" dirty="0">
                <a:solidFill>
                  <a:srgbClr val="1F2830"/>
                </a:solidFill>
                <a:latin typeface="Arial" pitchFamily="34" charset="0"/>
                <a:ea typeface="Arial" pitchFamily="34" charset="-122"/>
                <a:cs typeface="Arial" pitchFamily="34" charset="-120"/>
              </a:rPr>
              <a:t>1</a:t>
            </a:r>
            <a:endParaRPr lang="en-US" sz="1300" dirty="0"/>
          </a:p>
        </p:txBody>
      </p:sp>
      <p:sp>
        <p:nvSpPr>
          <p:cNvPr id="25" name="Text 22"/>
          <p:cNvSpPr txBox="1"/>
          <p:nvPr/>
        </p:nvSpPr>
        <p:spPr>
          <a:xfrm>
            <a:off x="1691640" y="2551176"/>
            <a:ext cx="2651760" cy="31089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DEF variability</a:t>
            </a:r>
            <a:endParaRPr lang="en-US" sz="1400" dirty="0"/>
          </a:p>
        </p:txBody>
      </p:sp>
      <p:sp>
        <p:nvSpPr>
          <p:cNvPr id="26" name="Text 23"/>
          <p:cNvSpPr txBox="1"/>
          <p:nvPr/>
        </p:nvSpPr>
        <p:spPr>
          <a:xfrm>
            <a:off x="4480560" y="2551176"/>
            <a:ext cx="5486400" cy="310896"/>
          </a:xfrm>
          <a:prstGeom prst="rect">
            <a:avLst/>
          </a:prstGeom>
          <a:noFill/>
          <a:ln/>
        </p:spPr>
        <p:txBody>
          <a:bodyPr wrap="square" lIns="0" tIns="0" rIns="0" bIns="0" rtlCol="0" anchor="ctr"/>
          <a:lstStyle/>
          <a:p>
            <a:pPr indent="0" marL="0">
              <a:buNone/>
            </a:pPr>
            <a:r>
              <a:rPr lang="en-US" sz="1250" dirty="0">
                <a:solidFill>
                  <a:srgbClr val="AFBDC8"/>
                </a:solidFill>
                <a:latin typeface="Arial" pitchFamily="34" charset="0"/>
                <a:ea typeface="Arial" pitchFamily="34" charset="-122"/>
                <a:cs typeface="Arial" pitchFamily="34" charset="-120"/>
              </a:rPr>
              <a:t>Still swings across checkpoints</a:t>
            </a:r>
            <a:endParaRPr lang="en-US" sz="1250" dirty="0"/>
          </a:p>
        </p:txBody>
      </p:sp>
      <p:sp>
        <p:nvSpPr>
          <p:cNvPr id="27" name="Shape 24"/>
          <p:cNvSpPr/>
          <p:nvPr/>
        </p:nvSpPr>
        <p:spPr>
          <a:xfrm>
            <a:off x="10660075" y="2505456"/>
            <a:ext cx="442570" cy="402336"/>
          </a:xfrm>
          <a:prstGeom prst="triangle">
            <a:avLst/>
          </a:prstGeom>
          <a:solidFill>
            <a:srgbClr val="F0A030"/>
          </a:solidFill>
          <a:ln w="12700">
            <a:solidFill>
              <a:srgbClr val="F0A030"/>
            </a:solidFill>
            <a:prstDash val="solid"/>
          </a:ln>
        </p:spPr>
      </p:sp>
      <p:sp>
        <p:nvSpPr>
          <p:cNvPr id="28" name="Text 25"/>
          <p:cNvSpPr txBox="1"/>
          <p:nvPr/>
        </p:nvSpPr>
        <p:spPr>
          <a:xfrm>
            <a:off x="10730484" y="2595982"/>
            <a:ext cx="301752" cy="301752"/>
          </a:xfrm>
          <a:prstGeom prst="rect">
            <a:avLst/>
          </a:prstGeom>
          <a:noFill/>
          <a:ln/>
        </p:spPr>
        <p:txBody>
          <a:bodyPr wrap="square" lIns="0" tIns="0" rIns="0" bIns="0" rtlCol="0" anchor="t"/>
          <a:lstStyle/>
          <a:p>
            <a:pPr algn="ctr" indent="0" marL="0">
              <a:buNone/>
            </a:pPr>
            <a:r>
              <a:rPr lang="en-US" sz="1320" b="1" dirty="0">
                <a:solidFill>
                  <a:srgbClr val="1F2830"/>
                </a:solidFill>
                <a:latin typeface="Arial" pitchFamily="34" charset="0"/>
                <a:ea typeface="Arial" pitchFamily="34" charset="-122"/>
                <a:cs typeface="Arial" pitchFamily="34" charset="-120"/>
              </a:rPr>
              <a:t>!</a:t>
            </a:r>
            <a:endParaRPr lang="en-US" sz="1320" dirty="0"/>
          </a:p>
        </p:txBody>
      </p:sp>
      <p:sp>
        <p:nvSpPr>
          <p:cNvPr id="29" name="Shape 26"/>
          <p:cNvSpPr/>
          <p:nvPr/>
        </p:nvSpPr>
        <p:spPr>
          <a:xfrm>
            <a:off x="548640" y="3246120"/>
            <a:ext cx="11091672" cy="841248"/>
          </a:xfrm>
          <a:prstGeom prst="roundRect">
            <a:avLst>
              <a:gd name="adj" fmla="val 6522"/>
            </a:avLst>
          </a:prstGeom>
          <a:solidFill>
            <a:srgbClr val="2F3A43"/>
          </a:solidFill>
          <a:ln w="12700">
            <a:solidFill>
              <a:srgbClr val="F0A030"/>
            </a:solidFill>
            <a:prstDash val="solid"/>
          </a:ln>
        </p:spPr>
      </p:sp>
      <p:sp>
        <p:nvSpPr>
          <p:cNvPr id="30" name="Shape 27"/>
          <p:cNvSpPr/>
          <p:nvPr/>
        </p:nvSpPr>
        <p:spPr>
          <a:xfrm>
            <a:off x="822960" y="3438144"/>
            <a:ext cx="457200" cy="457200"/>
          </a:xfrm>
          <a:prstGeom prst="ellipse">
            <a:avLst/>
          </a:prstGeom>
          <a:solidFill>
            <a:srgbClr val="F0A030"/>
          </a:solidFill>
          <a:ln w="12700">
            <a:solidFill>
              <a:srgbClr val="F0A030"/>
            </a:solidFill>
            <a:prstDash val="solid"/>
          </a:ln>
        </p:spPr>
      </p:sp>
      <p:sp>
        <p:nvSpPr>
          <p:cNvPr id="31" name="Text 28"/>
          <p:cNvSpPr txBox="1"/>
          <p:nvPr/>
        </p:nvSpPr>
        <p:spPr>
          <a:xfrm>
            <a:off x="822960" y="3547872"/>
            <a:ext cx="457200" cy="256032"/>
          </a:xfrm>
          <a:prstGeom prst="rect">
            <a:avLst/>
          </a:prstGeom>
          <a:noFill/>
          <a:ln/>
        </p:spPr>
        <p:txBody>
          <a:bodyPr wrap="square" lIns="0" tIns="0" rIns="0" bIns="0" rtlCol="0" anchor="t"/>
          <a:lstStyle/>
          <a:p>
            <a:pPr algn="ctr" indent="0" marL="0">
              <a:buNone/>
            </a:pPr>
            <a:r>
              <a:rPr lang="en-US" sz="1300" b="1" dirty="0">
                <a:solidFill>
                  <a:srgbClr val="1F2830"/>
                </a:solidFill>
                <a:latin typeface="Arial" pitchFamily="34" charset="0"/>
                <a:ea typeface="Arial" pitchFamily="34" charset="-122"/>
                <a:cs typeface="Arial" pitchFamily="34" charset="-120"/>
              </a:rPr>
              <a:t>2</a:t>
            </a:r>
            <a:endParaRPr lang="en-US" sz="1300" dirty="0"/>
          </a:p>
        </p:txBody>
      </p:sp>
      <p:sp>
        <p:nvSpPr>
          <p:cNvPr id="32" name="Text 29"/>
          <p:cNvSpPr txBox="1"/>
          <p:nvPr/>
        </p:nvSpPr>
        <p:spPr>
          <a:xfrm>
            <a:off x="1691640" y="3511296"/>
            <a:ext cx="2651760" cy="31089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Seed disagreement</a:t>
            </a:r>
            <a:endParaRPr lang="en-US" sz="1400" dirty="0"/>
          </a:p>
        </p:txBody>
      </p:sp>
      <p:sp>
        <p:nvSpPr>
          <p:cNvPr id="33" name="Text 30"/>
          <p:cNvSpPr txBox="1"/>
          <p:nvPr/>
        </p:nvSpPr>
        <p:spPr>
          <a:xfrm>
            <a:off x="4480560" y="3511296"/>
            <a:ext cx="5486400" cy="310896"/>
          </a:xfrm>
          <a:prstGeom prst="rect">
            <a:avLst/>
          </a:prstGeom>
          <a:noFill/>
          <a:ln/>
        </p:spPr>
        <p:txBody>
          <a:bodyPr wrap="square" lIns="0" tIns="0" rIns="0" bIns="0" rtlCol="0" anchor="ctr"/>
          <a:lstStyle/>
          <a:p>
            <a:pPr indent="0" marL="0">
              <a:buNone/>
            </a:pPr>
            <a:r>
              <a:rPr lang="en-US" sz="1250" dirty="0">
                <a:solidFill>
                  <a:srgbClr val="AFBDC8"/>
                </a:solidFill>
                <a:latin typeface="Arial" pitchFamily="34" charset="0"/>
                <a:ea typeface="Arial" pitchFamily="34" charset="-122"/>
                <a:cs typeface="Arial" pitchFamily="34" charset="-120"/>
              </a:rPr>
              <a:t>Not removed — direction still splits</a:t>
            </a:r>
            <a:endParaRPr lang="en-US" sz="1250" dirty="0"/>
          </a:p>
        </p:txBody>
      </p:sp>
      <p:sp>
        <p:nvSpPr>
          <p:cNvPr id="34" name="Shape 31"/>
          <p:cNvSpPr/>
          <p:nvPr/>
        </p:nvSpPr>
        <p:spPr>
          <a:xfrm>
            <a:off x="10660075" y="3465576"/>
            <a:ext cx="442570" cy="402336"/>
          </a:xfrm>
          <a:prstGeom prst="triangle">
            <a:avLst/>
          </a:prstGeom>
          <a:solidFill>
            <a:srgbClr val="F0A030"/>
          </a:solidFill>
          <a:ln w="12700">
            <a:solidFill>
              <a:srgbClr val="F0A030"/>
            </a:solidFill>
            <a:prstDash val="solid"/>
          </a:ln>
        </p:spPr>
      </p:sp>
      <p:sp>
        <p:nvSpPr>
          <p:cNvPr id="35" name="Text 32"/>
          <p:cNvSpPr txBox="1"/>
          <p:nvPr/>
        </p:nvSpPr>
        <p:spPr>
          <a:xfrm>
            <a:off x="10730484" y="3556102"/>
            <a:ext cx="301752" cy="301752"/>
          </a:xfrm>
          <a:prstGeom prst="rect">
            <a:avLst/>
          </a:prstGeom>
          <a:noFill/>
          <a:ln/>
        </p:spPr>
        <p:txBody>
          <a:bodyPr wrap="square" lIns="0" tIns="0" rIns="0" bIns="0" rtlCol="0" anchor="t"/>
          <a:lstStyle/>
          <a:p>
            <a:pPr algn="ctr" indent="0" marL="0">
              <a:buNone/>
            </a:pPr>
            <a:r>
              <a:rPr lang="en-US" sz="1320" b="1" dirty="0">
                <a:solidFill>
                  <a:srgbClr val="1F2830"/>
                </a:solidFill>
                <a:latin typeface="Arial" pitchFamily="34" charset="0"/>
                <a:ea typeface="Arial" pitchFamily="34" charset="-122"/>
                <a:cs typeface="Arial" pitchFamily="34" charset="-120"/>
              </a:rPr>
              <a:t>!</a:t>
            </a:r>
            <a:endParaRPr lang="en-US" sz="1320" dirty="0"/>
          </a:p>
        </p:txBody>
      </p:sp>
      <p:sp>
        <p:nvSpPr>
          <p:cNvPr id="36" name="Shape 33"/>
          <p:cNvSpPr/>
          <p:nvPr/>
        </p:nvSpPr>
        <p:spPr>
          <a:xfrm>
            <a:off x="548640" y="4206240"/>
            <a:ext cx="11091672" cy="841248"/>
          </a:xfrm>
          <a:prstGeom prst="roundRect">
            <a:avLst>
              <a:gd name="adj" fmla="val 6522"/>
            </a:avLst>
          </a:prstGeom>
          <a:solidFill>
            <a:srgbClr val="2F3A43"/>
          </a:solidFill>
          <a:ln w="12700">
            <a:solidFill>
              <a:srgbClr val="E4644C"/>
            </a:solidFill>
            <a:prstDash val="solid"/>
          </a:ln>
        </p:spPr>
      </p:sp>
      <p:sp>
        <p:nvSpPr>
          <p:cNvPr id="37" name="Shape 34"/>
          <p:cNvSpPr/>
          <p:nvPr/>
        </p:nvSpPr>
        <p:spPr>
          <a:xfrm>
            <a:off x="822960" y="4398264"/>
            <a:ext cx="457200" cy="457200"/>
          </a:xfrm>
          <a:prstGeom prst="ellipse">
            <a:avLst/>
          </a:prstGeom>
          <a:solidFill>
            <a:srgbClr val="E4644C"/>
          </a:solidFill>
          <a:ln w="12700">
            <a:solidFill>
              <a:srgbClr val="E4644C"/>
            </a:solidFill>
            <a:prstDash val="solid"/>
          </a:ln>
        </p:spPr>
      </p:sp>
      <p:sp>
        <p:nvSpPr>
          <p:cNvPr id="38" name="Text 35"/>
          <p:cNvSpPr txBox="1"/>
          <p:nvPr/>
        </p:nvSpPr>
        <p:spPr>
          <a:xfrm>
            <a:off x="822960" y="4507992"/>
            <a:ext cx="457200" cy="256032"/>
          </a:xfrm>
          <a:prstGeom prst="rect">
            <a:avLst/>
          </a:prstGeom>
          <a:noFill/>
          <a:ln/>
        </p:spPr>
        <p:txBody>
          <a:bodyPr wrap="square" lIns="0" tIns="0" rIns="0" bIns="0" rtlCol="0" anchor="t"/>
          <a:lstStyle/>
          <a:p>
            <a:pPr algn="ctr" indent="0" marL="0">
              <a:buNone/>
            </a:pPr>
            <a:r>
              <a:rPr lang="en-US" sz="1300" b="1" dirty="0">
                <a:solidFill>
                  <a:srgbClr val="1F2830"/>
                </a:solidFill>
                <a:latin typeface="Arial" pitchFamily="34" charset="0"/>
                <a:ea typeface="Arial" pitchFamily="34" charset="-122"/>
                <a:cs typeface="Arial" pitchFamily="34" charset="-120"/>
              </a:rPr>
              <a:t>3</a:t>
            </a:r>
            <a:endParaRPr lang="en-US" sz="1300" dirty="0"/>
          </a:p>
        </p:txBody>
      </p:sp>
      <p:sp>
        <p:nvSpPr>
          <p:cNvPr id="39" name="Text 36"/>
          <p:cNvSpPr txBox="1"/>
          <p:nvPr/>
        </p:nvSpPr>
        <p:spPr>
          <a:xfrm>
            <a:off x="1691640" y="4471416"/>
            <a:ext cx="2651760" cy="31089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Decision relevance</a:t>
            </a:r>
            <a:endParaRPr lang="en-US" sz="1400" dirty="0"/>
          </a:p>
        </p:txBody>
      </p:sp>
      <p:sp>
        <p:nvSpPr>
          <p:cNvPr id="40" name="Text 37"/>
          <p:cNvSpPr txBox="1"/>
          <p:nvPr/>
        </p:nvSpPr>
        <p:spPr>
          <a:xfrm>
            <a:off x="4480560" y="4471416"/>
            <a:ext cx="5486400" cy="310896"/>
          </a:xfrm>
          <a:prstGeom prst="rect">
            <a:avLst/>
          </a:prstGeom>
          <a:noFill/>
          <a:ln/>
        </p:spPr>
        <p:txBody>
          <a:bodyPr wrap="square" lIns="0" tIns="0" rIns="0" bIns="0" rtlCol="0" anchor="ctr"/>
          <a:lstStyle/>
          <a:p>
            <a:pPr indent="0" marL="0">
              <a:buNone/>
            </a:pPr>
            <a:r>
              <a:rPr lang="en-US" sz="1250" dirty="0">
                <a:solidFill>
                  <a:srgbClr val="AFBDC8"/>
                </a:solidFill>
                <a:latin typeface="Arial" pitchFamily="34" charset="0"/>
                <a:ea typeface="Arial" pitchFamily="34" charset="-122"/>
                <a:cs typeface="Arial" pitchFamily="34" charset="-120"/>
              </a:rPr>
              <a:t>FAIL — the explanation stays untrustworthy</a:t>
            </a:r>
            <a:endParaRPr lang="en-US" sz="1250" dirty="0"/>
          </a:p>
        </p:txBody>
      </p:sp>
      <p:sp>
        <p:nvSpPr>
          <p:cNvPr id="41" name="Text 38"/>
          <p:cNvSpPr txBox="1"/>
          <p:nvPr/>
        </p:nvSpPr>
        <p:spPr>
          <a:xfrm>
            <a:off x="10058400" y="4471416"/>
            <a:ext cx="1371600" cy="310896"/>
          </a:xfrm>
          <a:prstGeom prst="rect">
            <a:avLst/>
          </a:prstGeom>
          <a:noFill/>
          <a:ln/>
        </p:spPr>
        <p:txBody>
          <a:bodyPr wrap="square" lIns="0" tIns="0" rIns="0" bIns="0" rtlCol="0" anchor="ctr"/>
          <a:lstStyle/>
          <a:p>
            <a:pPr algn="r" indent="0" marL="0">
              <a:buNone/>
            </a:pPr>
            <a:r>
              <a:rPr lang="en-US" sz="1500" b="1" dirty="0">
                <a:solidFill>
                  <a:srgbClr val="E4644C"/>
                </a:solidFill>
                <a:latin typeface="Arial" pitchFamily="34" charset="0"/>
                <a:ea typeface="Arial" pitchFamily="34" charset="-122"/>
                <a:cs typeface="Arial" pitchFamily="34" charset="-120"/>
              </a:rPr>
              <a:t>FAIL</a:t>
            </a:r>
            <a:endParaRPr lang="en-US" sz="1500" dirty="0"/>
          </a:p>
        </p:txBody>
      </p:sp>
      <p:sp>
        <p:nvSpPr>
          <p:cNvPr id="42" name="Text 39"/>
          <p:cNvSpPr txBox="1"/>
          <p:nvPr/>
        </p:nvSpPr>
        <p:spPr>
          <a:xfrm>
            <a:off x="548640" y="5120640"/>
            <a:ext cx="11091672" cy="457200"/>
          </a:xfrm>
          <a:prstGeom prst="rect">
            <a:avLst/>
          </a:prstGeom>
          <a:noFill/>
          <a:ln/>
        </p:spPr>
        <p:txBody>
          <a:bodyPr wrap="square" lIns="0" tIns="0" rIns="0" bIns="0" rtlCol="0" anchor="t"/>
          <a:lstStyle/>
          <a:p>
            <a:pPr indent="0" marL="0">
              <a:lnSpc>
                <a:spcPct val="115000"/>
              </a:lnSpc>
              <a:buNone/>
            </a:pPr>
            <a:r>
              <a:rPr lang="en-US" sz="950" i="1" dirty="0">
                <a:solidFill>
                  <a:srgbClr val="93A2AD"/>
                </a:solidFill>
                <a:latin typeface="Arial" pitchFamily="34" charset="0"/>
                <a:ea typeface="Arial" pitchFamily="34" charset="-122"/>
                <a:cs typeface="Arial" pitchFamily="34" charset="-120"/>
              </a:rPr>
              <a:t>Stated limit: GAT and GAT-Outage use different maximum training budgets and learning-rate horizons, so H5 is descriptive — it compares two fitted configurations and cannot isolate degraded training observations as the cause.</a:t>
            </a:r>
            <a:endParaRPr lang="en-US" sz="950" dirty="0"/>
          </a:p>
        </p:txBody>
      </p:sp>
      <p:sp>
        <p:nvSpPr>
          <p:cNvPr id="43" name="Shape 40"/>
          <p:cNvSpPr/>
          <p:nvPr/>
        </p:nvSpPr>
        <p:spPr>
          <a:xfrm>
            <a:off x="548640" y="5559552"/>
            <a:ext cx="11091672" cy="694944"/>
          </a:xfrm>
          <a:prstGeom prst="roundRect">
            <a:avLst>
              <a:gd name="adj" fmla="val 7895"/>
            </a:avLst>
          </a:prstGeom>
          <a:solidFill>
            <a:srgbClr val="44515C"/>
          </a:solidFill>
          <a:ln w="12700">
            <a:solidFill>
              <a:srgbClr val="E4644C"/>
            </a:solidFill>
            <a:prstDash val="solid"/>
          </a:ln>
        </p:spPr>
      </p:sp>
      <p:sp>
        <p:nvSpPr>
          <p:cNvPr id="44" name="Text 41"/>
          <p:cNvSpPr txBox="1"/>
          <p:nvPr/>
        </p:nvSpPr>
        <p:spPr>
          <a:xfrm>
            <a:off x="822960" y="5751576"/>
            <a:ext cx="10515600" cy="36576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Adding noise to training does not repair an explanation channel that the reward never optimised for.</a:t>
            </a:r>
            <a:endParaRPr lang="en-US" sz="1400" dirty="0"/>
          </a:p>
        </p:txBody>
      </p:sp>
      <p:sp>
        <p:nvSpPr>
          <p:cNvPr id="45" name="Text 42"/>
          <p:cNvSpPr txBox="1"/>
          <p:nvPr/>
        </p:nvSpPr>
        <p:spPr>
          <a:xfrm>
            <a:off x="11365992" y="6382512"/>
            <a:ext cx="365760" cy="274320"/>
          </a:xfrm>
          <a:prstGeom prst="rect">
            <a:avLst/>
          </a:prstGeom>
          <a:noFill/>
          <a:ln/>
        </p:spPr>
        <p:txBody>
          <a:bodyPr wrap="square" lIns="0" tIns="0" rIns="0" bIns="0" rtlCol="0" anchor="ctr"/>
          <a:lstStyle/>
          <a:p>
            <a:pPr algn="r" indent="0" marL="0">
              <a:buNone/>
            </a:pPr>
            <a:r>
              <a:rPr lang="en-US" sz="900" dirty="0">
                <a:solidFill>
                  <a:srgbClr val="7C8B96"/>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39454F"/>
        </a:solidFill>
      </p:bgPr>
    </p:bg>
    <p:spTree>
      <p:nvGrpSpPr>
        <p:cNvPr id="1" name=""/>
        <p:cNvGrpSpPr/>
        <p:nvPr/>
      </p:nvGrpSpPr>
      <p:grpSpPr>
        <a:xfrm>
          <a:off x="0" y="0"/>
          <a:ext cx="0" cy="0"/>
          <a:chOff x="0" y="0"/>
          <a:chExt cx="0" cy="0"/>
        </a:xfrm>
      </p:grpSpPr>
      <p:sp>
        <p:nvSpPr>
          <p:cNvPr id="3" name="Shape 0"/>
          <p:cNvSpPr/>
          <p:nvPr/>
        </p:nvSpPr>
        <p:spPr>
          <a:xfrm>
            <a:off x="201168" y="201168"/>
            <a:ext cx="384048" cy="0"/>
          </a:xfrm>
          <a:prstGeom prst="line">
            <a:avLst/>
          </a:prstGeom>
          <a:noFill/>
          <a:ln w="12700">
            <a:solidFill>
              <a:srgbClr val="66757F"/>
            </a:solidFill>
            <a:prstDash val="solid"/>
          </a:ln>
        </p:spPr>
      </p:sp>
      <p:sp>
        <p:nvSpPr>
          <p:cNvPr id="4" name="Shape 1"/>
          <p:cNvSpPr/>
          <p:nvPr/>
        </p:nvSpPr>
        <p:spPr>
          <a:xfrm>
            <a:off x="201168" y="201168"/>
            <a:ext cx="0" cy="384048"/>
          </a:xfrm>
          <a:prstGeom prst="line">
            <a:avLst/>
          </a:prstGeom>
          <a:noFill/>
          <a:ln w="12700">
            <a:solidFill>
              <a:srgbClr val="66757F"/>
            </a:solidFill>
            <a:prstDash val="solid"/>
          </a:ln>
        </p:spPr>
      </p:sp>
      <p:sp>
        <p:nvSpPr>
          <p:cNvPr id="5" name="Shape 2"/>
          <p:cNvSpPr/>
          <p:nvPr/>
        </p:nvSpPr>
        <p:spPr>
          <a:xfrm flipH="1">
            <a:off x="11603736" y="201168"/>
            <a:ext cx="384048" cy="0"/>
          </a:xfrm>
          <a:prstGeom prst="line">
            <a:avLst/>
          </a:prstGeom>
          <a:noFill/>
          <a:ln w="12700">
            <a:solidFill>
              <a:srgbClr val="66757F"/>
            </a:solidFill>
            <a:prstDash val="solid"/>
          </a:ln>
        </p:spPr>
      </p:sp>
      <p:sp>
        <p:nvSpPr>
          <p:cNvPr id="6" name="Shape 3"/>
          <p:cNvSpPr/>
          <p:nvPr/>
        </p:nvSpPr>
        <p:spPr>
          <a:xfrm>
            <a:off x="11987784" y="201168"/>
            <a:ext cx="0" cy="384048"/>
          </a:xfrm>
          <a:prstGeom prst="line">
            <a:avLst/>
          </a:prstGeom>
          <a:noFill/>
          <a:ln w="12700">
            <a:solidFill>
              <a:srgbClr val="66757F"/>
            </a:solidFill>
            <a:prstDash val="solid"/>
          </a:ln>
        </p:spPr>
      </p:sp>
      <p:sp>
        <p:nvSpPr>
          <p:cNvPr id="7" name="Shape 4"/>
          <p:cNvSpPr/>
          <p:nvPr/>
        </p:nvSpPr>
        <p:spPr>
          <a:xfrm>
            <a:off x="201168" y="6656832"/>
            <a:ext cx="384048" cy="0"/>
          </a:xfrm>
          <a:prstGeom prst="line">
            <a:avLst/>
          </a:prstGeom>
          <a:noFill/>
          <a:ln w="12700">
            <a:solidFill>
              <a:srgbClr val="66757F"/>
            </a:solidFill>
            <a:prstDash val="solid"/>
          </a:ln>
        </p:spPr>
      </p:sp>
      <p:sp>
        <p:nvSpPr>
          <p:cNvPr id="8" name="Shape 5"/>
          <p:cNvSpPr/>
          <p:nvPr/>
        </p:nvSpPr>
        <p:spPr>
          <a:xfrm flipV="1">
            <a:off x="201168" y="6272784"/>
            <a:ext cx="0" cy="384048"/>
          </a:xfrm>
          <a:prstGeom prst="line">
            <a:avLst/>
          </a:prstGeom>
          <a:noFill/>
          <a:ln w="12700">
            <a:solidFill>
              <a:srgbClr val="66757F"/>
            </a:solidFill>
            <a:prstDash val="solid"/>
          </a:ln>
        </p:spPr>
      </p:sp>
      <p:sp>
        <p:nvSpPr>
          <p:cNvPr id="9" name="Shape 6"/>
          <p:cNvSpPr/>
          <p:nvPr/>
        </p:nvSpPr>
        <p:spPr>
          <a:xfrm flipH="1">
            <a:off x="11603736" y="6656832"/>
            <a:ext cx="384048" cy="0"/>
          </a:xfrm>
          <a:prstGeom prst="line">
            <a:avLst/>
          </a:prstGeom>
          <a:noFill/>
          <a:ln w="12700">
            <a:solidFill>
              <a:srgbClr val="66757F"/>
            </a:solidFill>
            <a:prstDash val="solid"/>
          </a:ln>
        </p:spPr>
      </p:sp>
      <p:sp>
        <p:nvSpPr>
          <p:cNvPr id="10" name="Shape 7"/>
          <p:cNvSpPr/>
          <p:nvPr/>
        </p:nvSpPr>
        <p:spPr>
          <a:xfrm flipV="1">
            <a:off x="11987784" y="6272784"/>
            <a:ext cx="0" cy="384048"/>
          </a:xfrm>
          <a:prstGeom prst="line">
            <a:avLst/>
          </a:prstGeom>
          <a:noFill/>
          <a:ln w="12700">
            <a:solidFill>
              <a:srgbClr val="66757F"/>
            </a:solidFill>
            <a:prstDash val="solid"/>
          </a:ln>
        </p:spPr>
      </p:sp>
      <p:sp>
        <p:nvSpPr>
          <p:cNvPr id="11" name="Shape 8"/>
          <p:cNvSpPr/>
          <p:nvPr/>
        </p:nvSpPr>
        <p:spPr>
          <a:xfrm>
            <a:off x="6003036" y="182880"/>
            <a:ext cx="182880" cy="0"/>
          </a:xfrm>
          <a:prstGeom prst="line">
            <a:avLst/>
          </a:prstGeom>
          <a:noFill/>
          <a:ln w="12700">
            <a:solidFill>
              <a:srgbClr val="66757F"/>
            </a:solidFill>
            <a:prstDash val="solid"/>
          </a:ln>
        </p:spPr>
      </p:sp>
      <p:sp>
        <p:nvSpPr>
          <p:cNvPr id="12" name="Shape 9"/>
          <p:cNvSpPr/>
          <p:nvPr/>
        </p:nvSpPr>
        <p:spPr>
          <a:xfrm>
            <a:off x="6094476" y="91440"/>
            <a:ext cx="0" cy="182880"/>
          </a:xfrm>
          <a:prstGeom prst="line">
            <a:avLst/>
          </a:prstGeom>
          <a:noFill/>
          <a:ln w="12700">
            <a:solidFill>
              <a:srgbClr val="66757F"/>
            </a:solidFill>
            <a:prstDash val="solid"/>
          </a:ln>
        </p:spPr>
      </p:sp>
      <p:sp>
        <p:nvSpPr>
          <p:cNvPr id="13" name="Shape 10"/>
          <p:cNvSpPr/>
          <p:nvPr/>
        </p:nvSpPr>
        <p:spPr>
          <a:xfrm>
            <a:off x="6003036" y="6675120"/>
            <a:ext cx="182880" cy="0"/>
          </a:xfrm>
          <a:prstGeom prst="line">
            <a:avLst/>
          </a:prstGeom>
          <a:noFill/>
          <a:ln w="12700">
            <a:solidFill>
              <a:srgbClr val="66757F"/>
            </a:solidFill>
            <a:prstDash val="solid"/>
          </a:ln>
        </p:spPr>
      </p:sp>
      <p:sp>
        <p:nvSpPr>
          <p:cNvPr id="14" name="Shape 11"/>
          <p:cNvSpPr/>
          <p:nvPr/>
        </p:nvSpPr>
        <p:spPr>
          <a:xfrm>
            <a:off x="6094476" y="6583680"/>
            <a:ext cx="0" cy="182880"/>
          </a:xfrm>
          <a:prstGeom prst="line">
            <a:avLst/>
          </a:prstGeom>
          <a:noFill/>
          <a:ln w="12700">
            <a:solidFill>
              <a:srgbClr val="66757F"/>
            </a:solidFill>
            <a:prstDash val="solid"/>
          </a:ln>
        </p:spPr>
      </p:sp>
      <p:sp>
        <p:nvSpPr>
          <p:cNvPr id="15" name="Shape 12"/>
          <p:cNvSpPr/>
          <p:nvPr/>
        </p:nvSpPr>
        <p:spPr>
          <a:xfrm>
            <a:off x="91440" y="3429000"/>
            <a:ext cx="182880" cy="0"/>
          </a:xfrm>
          <a:prstGeom prst="line">
            <a:avLst/>
          </a:prstGeom>
          <a:noFill/>
          <a:ln w="12700">
            <a:solidFill>
              <a:srgbClr val="66757F"/>
            </a:solidFill>
            <a:prstDash val="solid"/>
          </a:ln>
        </p:spPr>
      </p:sp>
      <p:sp>
        <p:nvSpPr>
          <p:cNvPr id="16" name="Shape 13"/>
          <p:cNvSpPr/>
          <p:nvPr/>
        </p:nvSpPr>
        <p:spPr>
          <a:xfrm>
            <a:off x="182880" y="3337560"/>
            <a:ext cx="0" cy="182880"/>
          </a:xfrm>
          <a:prstGeom prst="line">
            <a:avLst/>
          </a:prstGeom>
          <a:noFill/>
          <a:ln w="12700">
            <a:solidFill>
              <a:srgbClr val="66757F"/>
            </a:solidFill>
            <a:prstDash val="solid"/>
          </a:ln>
        </p:spPr>
      </p:sp>
      <p:sp>
        <p:nvSpPr>
          <p:cNvPr id="17" name="Shape 14"/>
          <p:cNvSpPr/>
          <p:nvPr/>
        </p:nvSpPr>
        <p:spPr>
          <a:xfrm>
            <a:off x="11914632" y="3429000"/>
            <a:ext cx="182880" cy="0"/>
          </a:xfrm>
          <a:prstGeom prst="line">
            <a:avLst/>
          </a:prstGeom>
          <a:noFill/>
          <a:ln w="12700">
            <a:solidFill>
              <a:srgbClr val="66757F"/>
            </a:solidFill>
            <a:prstDash val="solid"/>
          </a:ln>
        </p:spPr>
      </p:sp>
      <p:sp>
        <p:nvSpPr>
          <p:cNvPr id="18" name="Shape 15"/>
          <p:cNvSpPr/>
          <p:nvPr/>
        </p:nvSpPr>
        <p:spPr>
          <a:xfrm>
            <a:off x="12006072" y="3337560"/>
            <a:ext cx="0" cy="182880"/>
          </a:xfrm>
          <a:prstGeom prst="line">
            <a:avLst/>
          </a:prstGeom>
          <a:noFill/>
          <a:ln w="12700">
            <a:solidFill>
              <a:srgbClr val="66757F"/>
            </a:solidFill>
            <a:prstDash val="solid"/>
          </a:ln>
        </p:spPr>
      </p:sp>
      <p:sp>
        <p:nvSpPr>
          <p:cNvPr id="19" name="Text 16"/>
          <p:cNvSpPr txBox="1"/>
          <p:nvPr/>
        </p:nvSpPr>
        <p:spPr>
          <a:xfrm>
            <a:off x="566928" y="329184"/>
            <a:ext cx="11064240" cy="566928"/>
          </a:xfrm>
          <a:prstGeom prst="rect">
            <a:avLst/>
          </a:prstGeom>
          <a:noFill/>
          <a:ln/>
        </p:spPr>
        <p:txBody>
          <a:bodyPr wrap="square" lIns="0" tIns="0" rIns="0" bIns="0" rtlCol="0" anchor="t"/>
          <a:lstStyle/>
          <a:p>
            <a:pPr indent="0" marL="0">
              <a:buNone/>
            </a:pPr>
            <a:r>
              <a:rPr lang="en-US" sz="2900" b="1" dirty="0">
                <a:solidFill>
                  <a:srgbClr val="FFFFFF"/>
                </a:solidFill>
                <a:latin typeface="Arial" pitchFamily="34" charset="0"/>
                <a:ea typeface="Arial" pitchFamily="34" charset="-122"/>
                <a:cs typeface="Arial" pitchFamily="34" charset="-120"/>
              </a:rPr>
              <a:t>Contribution — The Freshness-Aware Audit Funnel</a:t>
            </a:r>
            <a:endParaRPr lang="en-US" sz="2900" dirty="0"/>
          </a:p>
        </p:txBody>
      </p:sp>
      <p:sp>
        <p:nvSpPr>
          <p:cNvPr id="20" name="Shape 17"/>
          <p:cNvSpPr/>
          <p:nvPr/>
        </p:nvSpPr>
        <p:spPr>
          <a:xfrm>
            <a:off x="2286000" y="1115568"/>
            <a:ext cx="4572000" cy="512064"/>
          </a:xfrm>
          <a:prstGeom prst="flowChartManualOperation">
            <a:avLst/>
          </a:prstGeom>
          <a:solidFill>
            <a:srgbClr val="2F3A43"/>
          </a:solidFill>
          <a:ln w="19050">
            <a:solidFill>
              <a:srgbClr val="5FC98B"/>
            </a:solidFill>
            <a:prstDash val="solid"/>
          </a:ln>
        </p:spPr>
      </p:sp>
      <p:sp>
        <p:nvSpPr>
          <p:cNvPr id="21" name="Text 18"/>
          <p:cNvSpPr txBox="1"/>
          <p:nvPr/>
        </p:nvSpPr>
        <p:spPr>
          <a:xfrm>
            <a:off x="2468880" y="1243584"/>
            <a:ext cx="4206240" cy="27432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Evidence integrity</a:t>
            </a:r>
            <a:endParaRPr lang="en-US" sz="1100" dirty="0"/>
          </a:p>
        </p:txBody>
      </p:sp>
      <p:sp>
        <p:nvSpPr>
          <p:cNvPr id="22" name="Text 19"/>
          <p:cNvSpPr txBox="1"/>
          <p:nvPr/>
        </p:nvSpPr>
        <p:spPr>
          <a:xfrm>
            <a:off x="1874520" y="1243584"/>
            <a:ext cx="320040" cy="274320"/>
          </a:xfrm>
          <a:prstGeom prst="rect">
            <a:avLst/>
          </a:prstGeom>
          <a:noFill/>
          <a:ln/>
        </p:spPr>
        <p:txBody>
          <a:bodyPr wrap="square" lIns="0" tIns="0" rIns="0" bIns="0" rtlCol="0" anchor="t"/>
          <a:lstStyle/>
          <a:p>
            <a:pPr algn="r" indent="0" marL="0">
              <a:buNone/>
            </a:pPr>
            <a:r>
              <a:rPr lang="en-US" sz="1100" b="1" dirty="0">
                <a:solidFill>
                  <a:srgbClr val="AFBDC8"/>
                </a:solidFill>
                <a:latin typeface="Arial" pitchFamily="34" charset="0"/>
                <a:ea typeface="Arial" pitchFamily="34" charset="-122"/>
                <a:cs typeface="Arial" pitchFamily="34" charset="-120"/>
              </a:rPr>
              <a:t>1</a:t>
            </a:r>
            <a:endParaRPr lang="en-US" sz="1100" dirty="0"/>
          </a:p>
        </p:txBody>
      </p:sp>
      <p:sp>
        <p:nvSpPr>
          <p:cNvPr id="23" name="Shape 20"/>
          <p:cNvSpPr/>
          <p:nvPr/>
        </p:nvSpPr>
        <p:spPr>
          <a:xfrm>
            <a:off x="7111289" y="1391717"/>
            <a:ext cx="110642" cy="120701"/>
          </a:xfrm>
          <a:prstGeom prst="line">
            <a:avLst/>
          </a:prstGeom>
          <a:noFill/>
          <a:ln w="38100">
            <a:solidFill>
              <a:srgbClr val="5FC98B"/>
            </a:solidFill>
            <a:prstDash val="solid"/>
          </a:ln>
        </p:spPr>
      </p:sp>
      <p:sp>
        <p:nvSpPr>
          <p:cNvPr id="24" name="Shape 21"/>
          <p:cNvSpPr/>
          <p:nvPr/>
        </p:nvSpPr>
        <p:spPr>
          <a:xfrm flipV="1">
            <a:off x="7221931" y="1230782"/>
            <a:ext cx="181051" cy="281635"/>
          </a:xfrm>
          <a:prstGeom prst="line">
            <a:avLst/>
          </a:prstGeom>
          <a:noFill/>
          <a:ln w="38100">
            <a:solidFill>
              <a:srgbClr val="5FC98B"/>
            </a:solidFill>
            <a:prstDash val="solid"/>
          </a:ln>
        </p:spPr>
      </p:sp>
      <p:sp>
        <p:nvSpPr>
          <p:cNvPr id="25" name="Text 22"/>
          <p:cNvSpPr txBox="1"/>
          <p:nvPr/>
        </p:nvSpPr>
        <p:spPr>
          <a:xfrm>
            <a:off x="7452360" y="1243584"/>
            <a:ext cx="822960" cy="274320"/>
          </a:xfrm>
          <a:prstGeom prst="rect">
            <a:avLst/>
          </a:prstGeom>
          <a:noFill/>
          <a:ln/>
        </p:spPr>
        <p:txBody>
          <a:bodyPr wrap="square" lIns="0" tIns="0" rIns="0" bIns="0" rtlCol="0" anchor="ctr"/>
          <a:lstStyle/>
          <a:p>
            <a:pPr indent="0" marL="0">
              <a:buNone/>
            </a:pPr>
            <a:r>
              <a:rPr lang="en-US" sz="1150" b="1" dirty="0">
                <a:solidFill>
                  <a:srgbClr val="5FC98B"/>
                </a:solidFill>
                <a:latin typeface="Arial" pitchFamily="34" charset="0"/>
                <a:ea typeface="Arial" pitchFamily="34" charset="-122"/>
                <a:cs typeface="Arial" pitchFamily="34" charset="-120"/>
              </a:rPr>
              <a:t>PASS</a:t>
            </a:r>
            <a:endParaRPr lang="en-US" sz="1150" dirty="0"/>
          </a:p>
        </p:txBody>
      </p:sp>
      <p:sp>
        <p:nvSpPr>
          <p:cNvPr id="26" name="Shape 23"/>
          <p:cNvSpPr/>
          <p:nvPr/>
        </p:nvSpPr>
        <p:spPr>
          <a:xfrm>
            <a:off x="2514600" y="1737360"/>
            <a:ext cx="4114800" cy="512064"/>
          </a:xfrm>
          <a:prstGeom prst="flowChartManualOperation">
            <a:avLst/>
          </a:prstGeom>
          <a:solidFill>
            <a:srgbClr val="2F3A43"/>
          </a:solidFill>
          <a:ln w="19050">
            <a:solidFill>
              <a:srgbClr val="5FC98B"/>
            </a:solidFill>
            <a:prstDash val="solid"/>
          </a:ln>
        </p:spPr>
      </p:sp>
      <p:sp>
        <p:nvSpPr>
          <p:cNvPr id="27" name="Text 24"/>
          <p:cNvSpPr txBox="1"/>
          <p:nvPr/>
        </p:nvSpPr>
        <p:spPr>
          <a:xfrm>
            <a:off x="2697480" y="1865376"/>
            <a:ext cx="3749040" cy="27432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Freshness reported separately</a:t>
            </a:r>
            <a:endParaRPr lang="en-US" sz="1100" dirty="0"/>
          </a:p>
        </p:txBody>
      </p:sp>
      <p:sp>
        <p:nvSpPr>
          <p:cNvPr id="28" name="Text 25"/>
          <p:cNvSpPr txBox="1"/>
          <p:nvPr/>
        </p:nvSpPr>
        <p:spPr>
          <a:xfrm>
            <a:off x="2103120" y="1865376"/>
            <a:ext cx="320040" cy="274320"/>
          </a:xfrm>
          <a:prstGeom prst="rect">
            <a:avLst/>
          </a:prstGeom>
          <a:noFill/>
          <a:ln/>
        </p:spPr>
        <p:txBody>
          <a:bodyPr wrap="square" lIns="0" tIns="0" rIns="0" bIns="0" rtlCol="0" anchor="t"/>
          <a:lstStyle/>
          <a:p>
            <a:pPr algn="r" indent="0" marL="0">
              <a:buNone/>
            </a:pPr>
            <a:r>
              <a:rPr lang="en-US" sz="1100" b="1" dirty="0">
                <a:solidFill>
                  <a:srgbClr val="AFBDC8"/>
                </a:solidFill>
                <a:latin typeface="Arial" pitchFamily="34" charset="0"/>
                <a:ea typeface="Arial" pitchFamily="34" charset="-122"/>
                <a:cs typeface="Arial" pitchFamily="34" charset="-120"/>
              </a:rPr>
              <a:t>2</a:t>
            </a:r>
            <a:endParaRPr lang="en-US" sz="1100" dirty="0"/>
          </a:p>
        </p:txBody>
      </p:sp>
      <p:sp>
        <p:nvSpPr>
          <p:cNvPr id="29" name="Shape 26"/>
          <p:cNvSpPr/>
          <p:nvPr/>
        </p:nvSpPr>
        <p:spPr>
          <a:xfrm>
            <a:off x="6882689" y="2013509"/>
            <a:ext cx="110642" cy="120701"/>
          </a:xfrm>
          <a:prstGeom prst="line">
            <a:avLst/>
          </a:prstGeom>
          <a:noFill/>
          <a:ln w="38100">
            <a:solidFill>
              <a:srgbClr val="5FC98B"/>
            </a:solidFill>
            <a:prstDash val="solid"/>
          </a:ln>
        </p:spPr>
      </p:sp>
      <p:sp>
        <p:nvSpPr>
          <p:cNvPr id="30" name="Shape 27"/>
          <p:cNvSpPr/>
          <p:nvPr/>
        </p:nvSpPr>
        <p:spPr>
          <a:xfrm flipV="1">
            <a:off x="6993331" y="1852574"/>
            <a:ext cx="181051" cy="281635"/>
          </a:xfrm>
          <a:prstGeom prst="line">
            <a:avLst/>
          </a:prstGeom>
          <a:noFill/>
          <a:ln w="38100">
            <a:solidFill>
              <a:srgbClr val="5FC98B"/>
            </a:solidFill>
            <a:prstDash val="solid"/>
          </a:ln>
        </p:spPr>
      </p:sp>
      <p:sp>
        <p:nvSpPr>
          <p:cNvPr id="31" name="Text 28"/>
          <p:cNvSpPr txBox="1"/>
          <p:nvPr/>
        </p:nvSpPr>
        <p:spPr>
          <a:xfrm>
            <a:off x="7223760" y="1865376"/>
            <a:ext cx="822960" cy="274320"/>
          </a:xfrm>
          <a:prstGeom prst="rect">
            <a:avLst/>
          </a:prstGeom>
          <a:noFill/>
          <a:ln/>
        </p:spPr>
        <p:txBody>
          <a:bodyPr wrap="square" lIns="0" tIns="0" rIns="0" bIns="0" rtlCol="0" anchor="ctr"/>
          <a:lstStyle/>
          <a:p>
            <a:pPr indent="0" marL="0">
              <a:buNone/>
            </a:pPr>
            <a:r>
              <a:rPr lang="en-US" sz="1150" b="1" dirty="0">
                <a:solidFill>
                  <a:srgbClr val="5FC98B"/>
                </a:solidFill>
                <a:latin typeface="Arial" pitchFamily="34" charset="0"/>
                <a:ea typeface="Arial" pitchFamily="34" charset="-122"/>
                <a:cs typeface="Arial" pitchFamily="34" charset="-120"/>
              </a:rPr>
              <a:t>PASS</a:t>
            </a:r>
            <a:endParaRPr lang="en-US" sz="1150" dirty="0"/>
          </a:p>
        </p:txBody>
      </p:sp>
      <p:sp>
        <p:nvSpPr>
          <p:cNvPr id="32" name="Shape 29"/>
          <p:cNvSpPr/>
          <p:nvPr/>
        </p:nvSpPr>
        <p:spPr>
          <a:xfrm>
            <a:off x="2743200" y="2359152"/>
            <a:ext cx="3657600" cy="512064"/>
          </a:xfrm>
          <a:prstGeom prst="flowChartManualOperation">
            <a:avLst/>
          </a:prstGeom>
          <a:solidFill>
            <a:srgbClr val="2F3A43"/>
          </a:solidFill>
          <a:ln w="19050">
            <a:solidFill>
              <a:srgbClr val="5FC98B"/>
            </a:solidFill>
            <a:prstDash val="solid"/>
          </a:ln>
        </p:spPr>
      </p:sp>
      <p:sp>
        <p:nvSpPr>
          <p:cNvPr id="33" name="Text 30"/>
          <p:cNvSpPr txBox="1"/>
          <p:nvPr/>
        </p:nvSpPr>
        <p:spPr>
          <a:xfrm>
            <a:off x="2926080" y="2487168"/>
            <a:ext cx="3291840" cy="27432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Action-aware controls</a:t>
            </a:r>
            <a:endParaRPr lang="en-US" sz="1100" dirty="0"/>
          </a:p>
        </p:txBody>
      </p:sp>
      <p:sp>
        <p:nvSpPr>
          <p:cNvPr id="34" name="Text 31"/>
          <p:cNvSpPr txBox="1"/>
          <p:nvPr/>
        </p:nvSpPr>
        <p:spPr>
          <a:xfrm>
            <a:off x="2331720" y="2487168"/>
            <a:ext cx="320040" cy="274320"/>
          </a:xfrm>
          <a:prstGeom prst="rect">
            <a:avLst/>
          </a:prstGeom>
          <a:noFill/>
          <a:ln/>
        </p:spPr>
        <p:txBody>
          <a:bodyPr wrap="square" lIns="0" tIns="0" rIns="0" bIns="0" rtlCol="0" anchor="t"/>
          <a:lstStyle/>
          <a:p>
            <a:pPr algn="r" indent="0" marL="0">
              <a:buNone/>
            </a:pPr>
            <a:r>
              <a:rPr lang="en-US" sz="1100" b="1" dirty="0">
                <a:solidFill>
                  <a:srgbClr val="AFBDC8"/>
                </a:solidFill>
                <a:latin typeface="Arial" pitchFamily="34" charset="0"/>
                <a:ea typeface="Arial" pitchFamily="34" charset="-122"/>
                <a:cs typeface="Arial" pitchFamily="34" charset="-120"/>
              </a:rPr>
              <a:t>3</a:t>
            </a:r>
            <a:endParaRPr lang="en-US" sz="1100" dirty="0"/>
          </a:p>
        </p:txBody>
      </p:sp>
      <p:sp>
        <p:nvSpPr>
          <p:cNvPr id="35" name="Shape 32"/>
          <p:cNvSpPr/>
          <p:nvPr/>
        </p:nvSpPr>
        <p:spPr>
          <a:xfrm>
            <a:off x="6654089" y="2635301"/>
            <a:ext cx="110642" cy="120701"/>
          </a:xfrm>
          <a:prstGeom prst="line">
            <a:avLst/>
          </a:prstGeom>
          <a:noFill/>
          <a:ln w="38100">
            <a:solidFill>
              <a:srgbClr val="5FC98B"/>
            </a:solidFill>
            <a:prstDash val="solid"/>
          </a:ln>
        </p:spPr>
      </p:sp>
      <p:sp>
        <p:nvSpPr>
          <p:cNvPr id="36" name="Shape 33"/>
          <p:cNvSpPr/>
          <p:nvPr/>
        </p:nvSpPr>
        <p:spPr>
          <a:xfrm flipV="1">
            <a:off x="6764731" y="2474366"/>
            <a:ext cx="181051" cy="281635"/>
          </a:xfrm>
          <a:prstGeom prst="line">
            <a:avLst/>
          </a:prstGeom>
          <a:noFill/>
          <a:ln w="38100">
            <a:solidFill>
              <a:srgbClr val="5FC98B"/>
            </a:solidFill>
            <a:prstDash val="solid"/>
          </a:ln>
        </p:spPr>
      </p:sp>
      <p:sp>
        <p:nvSpPr>
          <p:cNvPr id="37" name="Text 34"/>
          <p:cNvSpPr txBox="1"/>
          <p:nvPr/>
        </p:nvSpPr>
        <p:spPr>
          <a:xfrm>
            <a:off x="6995160" y="2487168"/>
            <a:ext cx="822960" cy="274320"/>
          </a:xfrm>
          <a:prstGeom prst="rect">
            <a:avLst/>
          </a:prstGeom>
          <a:noFill/>
          <a:ln/>
        </p:spPr>
        <p:txBody>
          <a:bodyPr wrap="square" lIns="0" tIns="0" rIns="0" bIns="0" rtlCol="0" anchor="ctr"/>
          <a:lstStyle/>
          <a:p>
            <a:pPr indent="0" marL="0">
              <a:buNone/>
            </a:pPr>
            <a:r>
              <a:rPr lang="en-US" sz="1150" b="1" dirty="0">
                <a:solidFill>
                  <a:srgbClr val="5FC98B"/>
                </a:solidFill>
                <a:latin typeface="Arial" pitchFamily="34" charset="0"/>
                <a:ea typeface="Arial" pitchFamily="34" charset="-122"/>
                <a:cs typeface="Arial" pitchFamily="34" charset="-120"/>
              </a:rPr>
              <a:t>PASS</a:t>
            </a:r>
            <a:endParaRPr lang="en-US" sz="1150" dirty="0"/>
          </a:p>
        </p:txBody>
      </p:sp>
      <p:sp>
        <p:nvSpPr>
          <p:cNvPr id="38" name="Shape 35"/>
          <p:cNvSpPr/>
          <p:nvPr/>
        </p:nvSpPr>
        <p:spPr>
          <a:xfrm>
            <a:off x="2971800" y="2980944"/>
            <a:ext cx="3200400" cy="512064"/>
          </a:xfrm>
          <a:prstGeom prst="flowChartManualOperation">
            <a:avLst/>
          </a:prstGeom>
          <a:solidFill>
            <a:srgbClr val="2F3A43"/>
          </a:solidFill>
          <a:ln w="19050">
            <a:solidFill>
              <a:srgbClr val="E4644C"/>
            </a:solidFill>
            <a:prstDash val="solid"/>
          </a:ln>
        </p:spPr>
      </p:sp>
      <p:sp>
        <p:nvSpPr>
          <p:cNvPr id="39" name="Text 36"/>
          <p:cNvSpPr txBox="1"/>
          <p:nvPr/>
        </p:nvSpPr>
        <p:spPr>
          <a:xfrm>
            <a:off x="3154680" y="3108960"/>
            <a:ext cx="2834640" cy="27432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Decision relevance (CI &gt; 0)</a:t>
            </a:r>
            <a:endParaRPr lang="en-US" sz="1100" dirty="0"/>
          </a:p>
        </p:txBody>
      </p:sp>
      <p:sp>
        <p:nvSpPr>
          <p:cNvPr id="40" name="Text 37"/>
          <p:cNvSpPr txBox="1"/>
          <p:nvPr/>
        </p:nvSpPr>
        <p:spPr>
          <a:xfrm>
            <a:off x="2560320" y="3108960"/>
            <a:ext cx="320040" cy="274320"/>
          </a:xfrm>
          <a:prstGeom prst="rect">
            <a:avLst/>
          </a:prstGeom>
          <a:noFill/>
          <a:ln/>
        </p:spPr>
        <p:txBody>
          <a:bodyPr wrap="square" lIns="0" tIns="0" rIns="0" bIns="0" rtlCol="0" anchor="t"/>
          <a:lstStyle/>
          <a:p>
            <a:pPr algn="r" indent="0" marL="0">
              <a:buNone/>
            </a:pPr>
            <a:r>
              <a:rPr lang="en-US" sz="1100" b="1" dirty="0">
                <a:solidFill>
                  <a:srgbClr val="AFBDC8"/>
                </a:solidFill>
                <a:latin typeface="Arial" pitchFamily="34" charset="0"/>
                <a:ea typeface="Arial" pitchFamily="34" charset="-122"/>
                <a:cs typeface="Arial" pitchFamily="34" charset="-120"/>
              </a:rPr>
              <a:t>4</a:t>
            </a:r>
            <a:endParaRPr lang="en-US" sz="1100" dirty="0"/>
          </a:p>
        </p:txBody>
      </p:sp>
      <p:sp>
        <p:nvSpPr>
          <p:cNvPr id="41" name="Shape 38"/>
          <p:cNvSpPr/>
          <p:nvPr/>
        </p:nvSpPr>
        <p:spPr>
          <a:xfrm>
            <a:off x="6355080" y="3054096"/>
            <a:ext cx="402336" cy="365760"/>
          </a:xfrm>
          <a:prstGeom prst="triangle">
            <a:avLst/>
          </a:prstGeom>
          <a:solidFill>
            <a:srgbClr val="E4644C"/>
          </a:solidFill>
          <a:ln w="12700">
            <a:solidFill>
              <a:srgbClr val="E4644C"/>
            </a:solidFill>
            <a:prstDash val="solid"/>
          </a:ln>
        </p:spPr>
      </p:sp>
      <p:sp>
        <p:nvSpPr>
          <p:cNvPr id="42" name="Text 39"/>
          <p:cNvSpPr txBox="1"/>
          <p:nvPr/>
        </p:nvSpPr>
        <p:spPr>
          <a:xfrm>
            <a:off x="6419088" y="3136392"/>
            <a:ext cx="274320" cy="274320"/>
          </a:xfrm>
          <a:prstGeom prst="rect">
            <a:avLst/>
          </a:prstGeom>
          <a:noFill/>
          <a:ln/>
        </p:spPr>
        <p:txBody>
          <a:bodyPr wrap="square" lIns="0" tIns="0" rIns="0" bIns="0" rtlCol="0" anchor="t"/>
          <a:lstStyle/>
          <a:p>
            <a:pPr algn="ctr" indent="0" marL="0">
              <a:buNone/>
            </a:pPr>
            <a:r>
              <a:rPr lang="en-US" sz="1200" b="1" dirty="0">
                <a:solidFill>
                  <a:srgbClr val="1F2830"/>
                </a:solidFill>
                <a:latin typeface="Arial" pitchFamily="34" charset="0"/>
                <a:ea typeface="Arial" pitchFamily="34" charset="-122"/>
                <a:cs typeface="Arial" pitchFamily="34" charset="-120"/>
              </a:rPr>
              <a:t>!</a:t>
            </a:r>
            <a:endParaRPr lang="en-US" sz="1200" dirty="0"/>
          </a:p>
        </p:txBody>
      </p:sp>
      <p:sp>
        <p:nvSpPr>
          <p:cNvPr id="43" name="Text 40"/>
          <p:cNvSpPr txBox="1"/>
          <p:nvPr/>
        </p:nvSpPr>
        <p:spPr>
          <a:xfrm>
            <a:off x="6766560" y="3108960"/>
            <a:ext cx="822960" cy="274320"/>
          </a:xfrm>
          <a:prstGeom prst="rect">
            <a:avLst/>
          </a:prstGeom>
          <a:noFill/>
          <a:ln/>
        </p:spPr>
        <p:txBody>
          <a:bodyPr wrap="square" lIns="0" tIns="0" rIns="0" bIns="0" rtlCol="0" anchor="ctr"/>
          <a:lstStyle/>
          <a:p>
            <a:pPr indent="0" marL="0">
              <a:buNone/>
            </a:pPr>
            <a:r>
              <a:rPr lang="en-US" sz="1150" b="1" dirty="0">
                <a:solidFill>
                  <a:srgbClr val="E4644C"/>
                </a:solidFill>
                <a:latin typeface="Arial" pitchFamily="34" charset="0"/>
                <a:ea typeface="Arial" pitchFamily="34" charset="-122"/>
                <a:cs typeface="Arial" pitchFamily="34" charset="-120"/>
              </a:rPr>
              <a:t>FAIL</a:t>
            </a:r>
            <a:endParaRPr lang="en-US" sz="1150" dirty="0"/>
          </a:p>
        </p:txBody>
      </p:sp>
      <p:sp>
        <p:nvSpPr>
          <p:cNvPr id="44" name="Shape 41"/>
          <p:cNvSpPr/>
          <p:nvPr/>
        </p:nvSpPr>
        <p:spPr>
          <a:xfrm>
            <a:off x="3200400" y="3602736"/>
            <a:ext cx="2743200" cy="512064"/>
          </a:xfrm>
          <a:prstGeom prst="flowChartManualOperation">
            <a:avLst/>
          </a:prstGeom>
          <a:solidFill>
            <a:srgbClr val="2F3A43"/>
          </a:solidFill>
          <a:ln w="19050">
            <a:solidFill>
              <a:srgbClr val="E4644C"/>
            </a:solidFill>
            <a:prstDash val="solid"/>
          </a:ln>
        </p:spPr>
      </p:sp>
      <p:sp>
        <p:nvSpPr>
          <p:cNvPr id="45" name="Text 42"/>
          <p:cNvSpPr txBox="1"/>
          <p:nvPr/>
        </p:nvSpPr>
        <p:spPr>
          <a:xfrm>
            <a:off x="3383280" y="3730752"/>
            <a:ext cx="2377440" cy="27432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Extraction stability</a:t>
            </a:r>
            <a:endParaRPr lang="en-US" sz="1100" dirty="0"/>
          </a:p>
        </p:txBody>
      </p:sp>
      <p:sp>
        <p:nvSpPr>
          <p:cNvPr id="46" name="Text 43"/>
          <p:cNvSpPr txBox="1"/>
          <p:nvPr/>
        </p:nvSpPr>
        <p:spPr>
          <a:xfrm>
            <a:off x="2788920" y="3730752"/>
            <a:ext cx="320040" cy="274320"/>
          </a:xfrm>
          <a:prstGeom prst="rect">
            <a:avLst/>
          </a:prstGeom>
          <a:noFill/>
          <a:ln/>
        </p:spPr>
        <p:txBody>
          <a:bodyPr wrap="square" lIns="0" tIns="0" rIns="0" bIns="0" rtlCol="0" anchor="t"/>
          <a:lstStyle/>
          <a:p>
            <a:pPr algn="r" indent="0" marL="0">
              <a:buNone/>
            </a:pPr>
            <a:r>
              <a:rPr lang="en-US" sz="1100" b="1" dirty="0">
                <a:solidFill>
                  <a:srgbClr val="AFBDC8"/>
                </a:solidFill>
                <a:latin typeface="Arial" pitchFamily="34" charset="0"/>
                <a:ea typeface="Arial" pitchFamily="34" charset="-122"/>
                <a:cs typeface="Arial" pitchFamily="34" charset="-120"/>
              </a:rPr>
              <a:t>5</a:t>
            </a:r>
            <a:endParaRPr lang="en-US" sz="1100" dirty="0"/>
          </a:p>
        </p:txBody>
      </p:sp>
      <p:sp>
        <p:nvSpPr>
          <p:cNvPr id="47" name="Shape 44"/>
          <p:cNvSpPr/>
          <p:nvPr/>
        </p:nvSpPr>
        <p:spPr>
          <a:xfrm>
            <a:off x="6126480" y="3675888"/>
            <a:ext cx="402336" cy="365760"/>
          </a:xfrm>
          <a:prstGeom prst="triangle">
            <a:avLst/>
          </a:prstGeom>
          <a:solidFill>
            <a:srgbClr val="E4644C"/>
          </a:solidFill>
          <a:ln w="12700">
            <a:solidFill>
              <a:srgbClr val="E4644C"/>
            </a:solidFill>
            <a:prstDash val="solid"/>
          </a:ln>
        </p:spPr>
      </p:sp>
      <p:sp>
        <p:nvSpPr>
          <p:cNvPr id="48" name="Text 45"/>
          <p:cNvSpPr txBox="1"/>
          <p:nvPr/>
        </p:nvSpPr>
        <p:spPr>
          <a:xfrm>
            <a:off x="6190488" y="3758184"/>
            <a:ext cx="274320" cy="274320"/>
          </a:xfrm>
          <a:prstGeom prst="rect">
            <a:avLst/>
          </a:prstGeom>
          <a:noFill/>
          <a:ln/>
        </p:spPr>
        <p:txBody>
          <a:bodyPr wrap="square" lIns="0" tIns="0" rIns="0" bIns="0" rtlCol="0" anchor="t"/>
          <a:lstStyle/>
          <a:p>
            <a:pPr algn="ctr" indent="0" marL="0">
              <a:buNone/>
            </a:pPr>
            <a:r>
              <a:rPr lang="en-US" sz="1200" b="1" dirty="0">
                <a:solidFill>
                  <a:srgbClr val="1F2830"/>
                </a:solidFill>
                <a:latin typeface="Arial" pitchFamily="34" charset="0"/>
                <a:ea typeface="Arial" pitchFamily="34" charset="-122"/>
                <a:cs typeface="Arial" pitchFamily="34" charset="-120"/>
              </a:rPr>
              <a:t>!</a:t>
            </a:r>
            <a:endParaRPr lang="en-US" sz="1200" dirty="0"/>
          </a:p>
        </p:txBody>
      </p:sp>
      <p:sp>
        <p:nvSpPr>
          <p:cNvPr id="49" name="Text 46"/>
          <p:cNvSpPr txBox="1"/>
          <p:nvPr/>
        </p:nvSpPr>
        <p:spPr>
          <a:xfrm>
            <a:off x="6537960" y="3730752"/>
            <a:ext cx="822960" cy="274320"/>
          </a:xfrm>
          <a:prstGeom prst="rect">
            <a:avLst/>
          </a:prstGeom>
          <a:noFill/>
          <a:ln/>
        </p:spPr>
        <p:txBody>
          <a:bodyPr wrap="square" lIns="0" tIns="0" rIns="0" bIns="0" rtlCol="0" anchor="ctr"/>
          <a:lstStyle/>
          <a:p>
            <a:pPr indent="0" marL="0">
              <a:buNone/>
            </a:pPr>
            <a:r>
              <a:rPr lang="en-US" sz="1150" b="1" dirty="0">
                <a:solidFill>
                  <a:srgbClr val="E4644C"/>
                </a:solidFill>
                <a:latin typeface="Arial" pitchFamily="34" charset="0"/>
                <a:ea typeface="Arial" pitchFamily="34" charset="-122"/>
                <a:cs typeface="Arial" pitchFamily="34" charset="-120"/>
              </a:rPr>
              <a:t>FAIL</a:t>
            </a:r>
            <a:endParaRPr lang="en-US" sz="1150" dirty="0"/>
          </a:p>
        </p:txBody>
      </p:sp>
      <p:sp>
        <p:nvSpPr>
          <p:cNvPr id="50" name="Shape 47"/>
          <p:cNvSpPr/>
          <p:nvPr/>
        </p:nvSpPr>
        <p:spPr>
          <a:xfrm>
            <a:off x="3429000" y="4224528"/>
            <a:ext cx="2286000" cy="512064"/>
          </a:xfrm>
          <a:prstGeom prst="flowChartManualOperation">
            <a:avLst/>
          </a:prstGeom>
          <a:solidFill>
            <a:srgbClr val="2F3A43"/>
          </a:solidFill>
          <a:ln w="19050">
            <a:solidFill>
              <a:srgbClr val="E4644C"/>
            </a:solidFill>
            <a:prstDash val="solid"/>
          </a:ln>
        </p:spPr>
      </p:sp>
      <p:sp>
        <p:nvSpPr>
          <p:cNvPr id="51" name="Text 48"/>
          <p:cNvSpPr txBox="1"/>
          <p:nvPr/>
        </p:nvSpPr>
        <p:spPr>
          <a:xfrm>
            <a:off x="3611880" y="4352544"/>
            <a:ext cx="1920240" cy="27432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Checkpoint consistency</a:t>
            </a:r>
            <a:endParaRPr lang="en-US" sz="1100" dirty="0"/>
          </a:p>
        </p:txBody>
      </p:sp>
      <p:sp>
        <p:nvSpPr>
          <p:cNvPr id="52" name="Text 49"/>
          <p:cNvSpPr txBox="1"/>
          <p:nvPr/>
        </p:nvSpPr>
        <p:spPr>
          <a:xfrm>
            <a:off x="3017520" y="4352544"/>
            <a:ext cx="320040" cy="274320"/>
          </a:xfrm>
          <a:prstGeom prst="rect">
            <a:avLst/>
          </a:prstGeom>
          <a:noFill/>
          <a:ln/>
        </p:spPr>
        <p:txBody>
          <a:bodyPr wrap="square" lIns="0" tIns="0" rIns="0" bIns="0" rtlCol="0" anchor="t"/>
          <a:lstStyle/>
          <a:p>
            <a:pPr algn="r" indent="0" marL="0">
              <a:buNone/>
            </a:pPr>
            <a:r>
              <a:rPr lang="en-US" sz="1100" b="1" dirty="0">
                <a:solidFill>
                  <a:srgbClr val="AFBDC8"/>
                </a:solidFill>
                <a:latin typeface="Arial" pitchFamily="34" charset="0"/>
                <a:ea typeface="Arial" pitchFamily="34" charset="-122"/>
                <a:cs typeface="Arial" pitchFamily="34" charset="-120"/>
              </a:rPr>
              <a:t>6</a:t>
            </a:r>
            <a:endParaRPr lang="en-US" sz="1100" dirty="0"/>
          </a:p>
        </p:txBody>
      </p:sp>
      <p:sp>
        <p:nvSpPr>
          <p:cNvPr id="53" name="Shape 50"/>
          <p:cNvSpPr/>
          <p:nvPr/>
        </p:nvSpPr>
        <p:spPr>
          <a:xfrm>
            <a:off x="5897880" y="4297680"/>
            <a:ext cx="402336" cy="365760"/>
          </a:xfrm>
          <a:prstGeom prst="triangle">
            <a:avLst/>
          </a:prstGeom>
          <a:solidFill>
            <a:srgbClr val="E4644C"/>
          </a:solidFill>
          <a:ln w="12700">
            <a:solidFill>
              <a:srgbClr val="E4644C"/>
            </a:solidFill>
            <a:prstDash val="solid"/>
          </a:ln>
        </p:spPr>
      </p:sp>
      <p:sp>
        <p:nvSpPr>
          <p:cNvPr id="54" name="Text 51"/>
          <p:cNvSpPr txBox="1"/>
          <p:nvPr/>
        </p:nvSpPr>
        <p:spPr>
          <a:xfrm>
            <a:off x="5961888" y="4379976"/>
            <a:ext cx="274320" cy="274320"/>
          </a:xfrm>
          <a:prstGeom prst="rect">
            <a:avLst/>
          </a:prstGeom>
          <a:noFill/>
          <a:ln/>
        </p:spPr>
        <p:txBody>
          <a:bodyPr wrap="square" lIns="0" tIns="0" rIns="0" bIns="0" rtlCol="0" anchor="t"/>
          <a:lstStyle/>
          <a:p>
            <a:pPr algn="ctr" indent="0" marL="0">
              <a:buNone/>
            </a:pPr>
            <a:r>
              <a:rPr lang="en-US" sz="1200" b="1" dirty="0">
                <a:solidFill>
                  <a:srgbClr val="1F2830"/>
                </a:solidFill>
                <a:latin typeface="Arial" pitchFamily="34" charset="0"/>
                <a:ea typeface="Arial" pitchFamily="34" charset="-122"/>
                <a:cs typeface="Arial" pitchFamily="34" charset="-120"/>
              </a:rPr>
              <a:t>!</a:t>
            </a:r>
            <a:endParaRPr lang="en-US" sz="1200" dirty="0"/>
          </a:p>
        </p:txBody>
      </p:sp>
      <p:sp>
        <p:nvSpPr>
          <p:cNvPr id="55" name="Text 52"/>
          <p:cNvSpPr txBox="1"/>
          <p:nvPr/>
        </p:nvSpPr>
        <p:spPr>
          <a:xfrm>
            <a:off x="6309360" y="4352544"/>
            <a:ext cx="822960" cy="274320"/>
          </a:xfrm>
          <a:prstGeom prst="rect">
            <a:avLst/>
          </a:prstGeom>
          <a:noFill/>
          <a:ln/>
        </p:spPr>
        <p:txBody>
          <a:bodyPr wrap="square" lIns="0" tIns="0" rIns="0" bIns="0" rtlCol="0" anchor="ctr"/>
          <a:lstStyle/>
          <a:p>
            <a:pPr indent="0" marL="0">
              <a:buNone/>
            </a:pPr>
            <a:r>
              <a:rPr lang="en-US" sz="1150" b="1" dirty="0">
                <a:solidFill>
                  <a:srgbClr val="E4644C"/>
                </a:solidFill>
                <a:latin typeface="Arial" pitchFamily="34" charset="0"/>
                <a:ea typeface="Arial" pitchFamily="34" charset="-122"/>
                <a:cs typeface="Arial" pitchFamily="34" charset="-120"/>
              </a:rPr>
              <a:t>FAIL</a:t>
            </a:r>
            <a:endParaRPr lang="en-US" sz="1150" dirty="0"/>
          </a:p>
        </p:txBody>
      </p:sp>
      <p:sp>
        <p:nvSpPr>
          <p:cNvPr id="56" name="Shape 53"/>
          <p:cNvSpPr/>
          <p:nvPr/>
        </p:nvSpPr>
        <p:spPr>
          <a:xfrm>
            <a:off x="4572000" y="4828032"/>
            <a:ext cx="0" cy="201168"/>
          </a:xfrm>
          <a:prstGeom prst="line">
            <a:avLst/>
          </a:prstGeom>
          <a:noFill/>
          <a:ln w="19050">
            <a:solidFill>
              <a:srgbClr val="AFBDC8"/>
            </a:solidFill>
            <a:prstDash val="solid"/>
          </a:ln>
        </p:spPr>
      </p:sp>
      <p:sp>
        <p:nvSpPr>
          <p:cNvPr id="57" name="Shape 54"/>
          <p:cNvSpPr/>
          <p:nvPr/>
        </p:nvSpPr>
        <p:spPr>
          <a:xfrm>
            <a:off x="1463040" y="5074920"/>
            <a:ext cx="1965960" cy="329184"/>
          </a:xfrm>
          <a:prstGeom prst="roundRect">
            <a:avLst>
              <a:gd name="adj" fmla="val 13889"/>
            </a:avLst>
          </a:prstGeom>
          <a:solidFill>
            <a:srgbClr val="5FC98B"/>
          </a:solidFill>
          <a:ln w="12700">
            <a:solidFill>
              <a:srgbClr val="5FC98B"/>
            </a:solidFill>
            <a:prstDash val="solid"/>
          </a:ln>
        </p:spPr>
      </p:sp>
      <p:sp>
        <p:nvSpPr>
          <p:cNvPr id="58" name="Text 55"/>
          <p:cNvSpPr txBox="1"/>
          <p:nvPr/>
        </p:nvSpPr>
        <p:spPr>
          <a:xfrm>
            <a:off x="1463040" y="5074920"/>
            <a:ext cx="1965960" cy="329184"/>
          </a:xfrm>
          <a:prstGeom prst="rect">
            <a:avLst/>
          </a:prstGeom>
          <a:noFill/>
          <a:ln/>
        </p:spPr>
        <p:txBody>
          <a:bodyPr wrap="square" lIns="0" tIns="0" rIns="0" bIns="0" rtlCol="0" anchor="ctr"/>
          <a:lstStyle/>
          <a:p>
            <a:pPr algn="ctr" indent="0" marL="0">
              <a:buNone/>
            </a:pPr>
            <a:r>
              <a:rPr lang="en-US" sz="1100" b="1" dirty="0">
                <a:solidFill>
                  <a:srgbClr val="1F2830"/>
                </a:solidFill>
                <a:latin typeface="Arial" pitchFamily="34" charset="0"/>
                <a:ea typeface="Arial" pitchFamily="34" charset="-122"/>
                <a:cs typeface="Arial" pitchFamily="34" charset="-120"/>
              </a:rPr>
              <a:t>ELIGIBLE</a:t>
            </a:r>
            <a:endParaRPr lang="en-US" sz="1100" dirty="0"/>
          </a:p>
        </p:txBody>
      </p:sp>
      <p:sp>
        <p:nvSpPr>
          <p:cNvPr id="59" name="Shape 56"/>
          <p:cNvSpPr/>
          <p:nvPr/>
        </p:nvSpPr>
        <p:spPr>
          <a:xfrm>
            <a:off x="3566160" y="5074920"/>
            <a:ext cx="1965960" cy="329184"/>
          </a:xfrm>
          <a:prstGeom prst="roundRect">
            <a:avLst>
              <a:gd name="adj" fmla="val 13889"/>
            </a:avLst>
          </a:prstGeom>
          <a:solidFill>
            <a:srgbClr val="E4644C"/>
          </a:solidFill>
          <a:ln w="12700">
            <a:solidFill>
              <a:srgbClr val="E4644C"/>
            </a:solidFill>
            <a:prstDash val="solid"/>
          </a:ln>
        </p:spPr>
      </p:sp>
      <p:sp>
        <p:nvSpPr>
          <p:cNvPr id="60" name="Text 57"/>
          <p:cNvSpPr txBox="1"/>
          <p:nvPr/>
        </p:nvSpPr>
        <p:spPr>
          <a:xfrm>
            <a:off x="3566160" y="5074920"/>
            <a:ext cx="1965960" cy="329184"/>
          </a:xfrm>
          <a:prstGeom prst="rect">
            <a:avLst/>
          </a:prstGeom>
          <a:noFill/>
          <a:ln/>
        </p:spPr>
        <p:txBody>
          <a:bodyPr wrap="square" lIns="0" tIns="0" rIns="0" bIns="0" rtlCol="0" anchor="ctr"/>
          <a:lstStyle/>
          <a:p>
            <a:pPr algn="ctr" indent="0" marL="0">
              <a:buNone/>
            </a:pPr>
            <a:r>
              <a:rPr lang="en-US" sz="1100" b="1" dirty="0">
                <a:solidFill>
                  <a:srgbClr val="1F2830"/>
                </a:solidFill>
                <a:latin typeface="Arial" pitchFamily="34" charset="0"/>
                <a:ea typeface="Arial" pitchFamily="34" charset="-122"/>
                <a:cs typeface="Arial" pitchFamily="34" charset="-120"/>
              </a:rPr>
              <a:t>WITHHOLD</a:t>
            </a:r>
            <a:endParaRPr lang="en-US" sz="1100" dirty="0"/>
          </a:p>
        </p:txBody>
      </p:sp>
      <p:sp>
        <p:nvSpPr>
          <p:cNvPr id="61" name="Shape 58"/>
          <p:cNvSpPr/>
          <p:nvPr/>
        </p:nvSpPr>
        <p:spPr>
          <a:xfrm>
            <a:off x="5669280" y="5074920"/>
            <a:ext cx="1965960" cy="329184"/>
          </a:xfrm>
          <a:prstGeom prst="roundRect">
            <a:avLst>
              <a:gd name="adj" fmla="val 13889"/>
            </a:avLst>
          </a:prstGeom>
          <a:solidFill>
            <a:srgbClr val="AFBDC8"/>
          </a:solidFill>
          <a:ln w="12700">
            <a:solidFill>
              <a:srgbClr val="AFBDC8"/>
            </a:solidFill>
            <a:prstDash val="solid"/>
          </a:ln>
        </p:spPr>
      </p:sp>
      <p:sp>
        <p:nvSpPr>
          <p:cNvPr id="62" name="Text 59"/>
          <p:cNvSpPr txBox="1"/>
          <p:nvPr/>
        </p:nvSpPr>
        <p:spPr>
          <a:xfrm>
            <a:off x="5669280" y="5074920"/>
            <a:ext cx="1965960" cy="329184"/>
          </a:xfrm>
          <a:prstGeom prst="rect">
            <a:avLst/>
          </a:prstGeom>
          <a:noFill/>
          <a:ln/>
        </p:spPr>
        <p:txBody>
          <a:bodyPr wrap="square" lIns="0" tIns="0" rIns="0" bIns="0" rtlCol="0" anchor="ctr"/>
          <a:lstStyle/>
          <a:p>
            <a:pPr algn="ctr" indent="0" marL="0">
              <a:buNone/>
            </a:pPr>
            <a:r>
              <a:rPr lang="en-US" sz="1100" b="1" dirty="0">
                <a:solidFill>
                  <a:srgbClr val="1F2830"/>
                </a:solidFill>
                <a:latin typeface="Arial" pitchFamily="34" charset="0"/>
                <a:ea typeface="Arial" pitchFamily="34" charset="-122"/>
                <a:cs typeface="Arial" pitchFamily="34" charset="-120"/>
              </a:rPr>
              <a:t>INCOMPLETE</a:t>
            </a:r>
            <a:endParaRPr lang="en-US" sz="1100" dirty="0"/>
          </a:p>
        </p:txBody>
      </p:sp>
      <p:sp>
        <p:nvSpPr>
          <p:cNvPr id="63" name="Shape 60"/>
          <p:cNvSpPr/>
          <p:nvPr/>
        </p:nvSpPr>
        <p:spPr>
          <a:xfrm>
            <a:off x="8229600" y="1463040"/>
            <a:ext cx="3410712" cy="3200400"/>
          </a:xfrm>
          <a:prstGeom prst="roundRect">
            <a:avLst>
              <a:gd name="adj" fmla="val 1714"/>
            </a:avLst>
          </a:prstGeom>
          <a:solidFill>
            <a:srgbClr val="44515C"/>
          </a:solidFill>
          <a:ln w="12700">
            <a:solidFill>
              <a:srgbClr val="E4644C"/>
            </a:solidFill>
            <a:prstDash val="solid"/>
          </a:ln>
        </p:spPr>
      </p:sp>
      <p:sp>
        <p:nvSpPr>
          <p:cNvPr id="64" name="Shape 61"/>
          <p:cNvSpPr/>
          <p:nvPr/>
        </p:nvSpPr>
        <p:spPr>
          <a:xfrm rot="21120000">
            <a:off x="8549640" y="2011680"/>
            <a:ext cx="2788920" cy="1371600"/>
          </a:xfrm>
          <a:prstGeom prst="roundRect">
            <a:avLst>
              <a:gd name="adj" fmla="val 5333"/>
            </a:avLst>
          </a:prstGeom>
          <a:solidFill>
            <a:srgbClr val="39454F">
              <a:alpha val="0"/>
            </a:srgbClr>
          </a:solidFill>
          <a:ln w="63500">
            <a:solidFill>
              <a:srgbClr val="E4644C"/>
            </a:solidFill>
            <a:prstDash val="solid"/>
          </a:ln>
        </p:spPr>
      </p:sp>
      <p:sp>
        <p:nvSpPr>
          <p:cNvPr id="65" name="Text 62"/>
          <p:cNvSpPr txBox="1"/>
          <p:nvPr/>
        </p:nvSpPr>
        <p:spPr>
          <a:xfrm rot="21120000">
            <a:off x="8595360" y="2450592"/>
            <a:ext cx="2697480" cy="548640"/>
          </a:xfrm>
          <a:prstGeom prst="rect">
            <a:avLst/>
          </a:prstGeom>
          <a:noFill/>
          <a:ln/>
        </p:spPr>
        <p:txBody>
          <a:bodyPr wrap="square" lIns="0" tIns="0" rIns="0" bIns="0" rtlCol="0" anchor="t"/>
          <a:lstStyle/>
          <a:p>
            <a:pPr algn="ctr" indent="0" marL="0">
              <a:buNone/>
            </a:pPr>
            <a:r>
              <a:rPr lang="en-US" sz="2600" b="1" dirty="0">
                <a:solidFill>
                  <a:srgbClr val="E4644C"/>
                </a:solidFill>
                <a:latin typeface="Arial" pitchFamily="34" charset="0"/>
                <a:ea typeface="Arial" pitchFamily="34" charset="-122"/>
                <a:cs typeface="Arial" pitchFamily="34" charset="-120"/>
              </a:rPr>
              <a:t>WITHHOLD</a:t>
            </a:r>
            <a:endParaRPr lang="en-US" sz="2600" dirty="0"/>
          </a:p>
        </p:txBody>
      </p:sp>
      <p:sp>
        <p:nvSpPr>
          <p:cNvPr id="66" name="Text 63"/>
          <p:cNvSpPr txBox="1"/>
          <p:nvPr/>
        </p:nvSpPr>
        <p:spPr>
          <a:xfrm>
            <a:off x="8503920" y="3657600"/>
            <a:ext cx="2880360" cy="548640"/>
          </a:xfrm>
          <a:prstGeom prst="rect">
            <a:avLst/>
          </a:prstGeom>
          <a:noFill/>
          <a:ln/>
        </p:spPr>
        <p:txBody>
          <a:bodyPr wrap="square" lIns="0" tIns="0" rIns="0" bIns="0" rtlCol="0" anchor="t"/>
          <a:lstStyle/>
          <a:p>
            <a:pPr algn="ctr" indent="0" marL="0">
              <a:lnSpc>
                <a:spcPct val="120000"/>
              </a:lnSpc>
              <a:buNone/>
            </a:pPr>
            <a:r>
              <a:rPr lang="en-US" sz="1300" b="1" dirty="0">
                <a:solidFill>
                  <a:srgbClr val="FFFFFF"/>
                </a:solidFill>
                <a:latin typeface="Arial" pitchFamily="34" charset="0"/>
                <a:ea typeface="Arial" pitchFamily="34" charset="-122"/>
                <a:cs typeface="Arial" pitchFamily="34" charset="-120"/>
              </a:rPr>
              <a:t>Both model families.</a:t>
            </a:r>
            <a:endParaRPr lang="en-US" sz="1300" dirty="0"/>
          </a:p>
          <a:p>
            <a:pPr algn="ctr" indent="0" marL="0">
              <a:lnSpc>
                <a:spcPct val="120000"/>
              </a:lnSpc>
              <a:buNone/>
            </a:pPr>
            <a:r>
              <a:rPr lang="en-US" sz="1300" b="1" dirty="0">
                <a:solidFill>
                  <a:srgbClr val="FFFFFF"/>
                </a:solidFill>
                <a:latin typeface="Arial" pitchFamily="34" charset="0"/>
                <a:ea typeface="Arial" pitchFamily="34" charset="-122"/>
                <a:cs typeface="Arial" pitchFamily="34" charset="-120"/>
              </a:rPr>
              <a:t>All six checkpoints.</a:t>
            </a:r>
            <a:endParaRPr lang="en-US" sz="1300" dirty="0"/>
          </a:p>
        </p:txBody>
      </p:sp>
      <p:sp>
        <p:nvSpPr>
          <p:cNvPr id="67" name="Text 64"/>
          <p:cNvSpPr txBox="1"/>
          <p:nvPr/>
        </p:nvSpPr>
        <p:spPr>
          <a:xfrm>
            <a:off x="8503920" y="4251960"/>
            <a:ext cx="2880360" cy="457200"/>
          </a:xfrm>
          <a:prstGeom prst="rect">
            <a:avLst/>
          </a:prstGeom>
          <a:noFill/>
          <a:ln/>
        </p:spPr>
        <p:txBody>
          <a:bodyPr wrap="square" lIns="0" tIns="0" rIns="0" bIns="0" rtlCol="0" anchor="t"/>
          <a:lstStyle/>
          <a:p>
            <a:pPr indent="0" marL="0">
              <a:lnSpc>
                <a:spcPct val="115000"/>
              </a:lnSpc>
              <a:buNone/>
            </a:pPr>
            <a:r>
              <a:rPr lang="en-US" sz="950" i="1" dirty="0">
                <a:solidFill>
                  <a:srgbClr val="93A2AD"/>
                </a:solidFill>
                <a:latin typeface="Arial" pitchFamily="34" charset="0"/>
                <a:ea typeface="Arial" pitchFamily="34" charset="-122"/>
                <a:cs typeface="Arial" pitchFamily="34" charset="-120"/>
              </a:rPr>
              <a:t>Attention may still be used as an internal diagnostic — but not shown as the reason for a decision.</a:t>
            </a:r>
            <a:endParaRPr lang="en-US" sz="950" dirty="0"/>
          </a:p>
        </p:txBody>
      </p:sp>
      <p:sp>
        <p:nvSpPr>
          <p:cNvPr id="68" name="Shape 65"/>
          <p:cNvSpPr/>
          <p:nvPr/>
        </p:nvSpPr>
        <p:spPr>
          <a:xfrm>
            <a:off x="548640" y="5559552"/>
            <a:ext cx="11091672" cy="694944"/>
          </a:xfrm>
          <a:prstGeom prst="roundRect">
            <a:avLst>
              <a:gd name="adj" fmla="val 7895"/>
            </a:avLst>
          </a:prstGeom>
          <a:solidFill>
            <a:srgbClr val="44515C"/>
          </a:solidFill>
          <a:ln w="12700">
            <a:solidFill>
              <a:srgbClr val="E4644C"/>
            </a:solidFill>
            <a:prstDash val="solid"/>
          </a:ln>
        </p:spPr>
      </p:sp>
      <p:sp>
        <p:nvSpPr>
          <p:cNvPr id="69" name="Text 66"/>
          <p:cNvSpPr txBox="1"/>
          <p:nvPr/>
        </p:nvSpPr>
        <p:spPr>
          <a:xfrm>
            <a:off x="822960" y="5751576"/>
            <a:ext cx="10515600" cy="36576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WITHHOLD is the audit working, not the experiment failing — the system refused a visually credible explanation.</a:t>
            </a:r>
            <a:endParaRPr lang="en-US" sz="1400" dirty="0"/>
          </a:p>
        </p:txBody>
      </p:sp>
      <p:sp>
        <p:nvSpPr>
          <p:cNvPr id="70" name="Text 67"/>
          <p:cNvSpPr txBox="1"/>
          <p:nvPr/>
        </p:nvSpPr>
        <p:spPr>
          <a:xfrm>
            <a:off x="11365992" y="6382512"/>
            <a:ext cx="365760" cy="274320"/>
          </a:xfrm>
          <a:prstGeom prst="rect">
            <a:avLst/>
          </a:prstGeom>
          <a:noFill/>
          <a:ln/>
        </p:spPr>
        <p:txBody>
          <a:bodyPr wrap="square" lIns="0" tIns="0" rIns="0" bIns="0" rtlCol="0" anchor="ctr"/>
          <a:lstStyle/>
          <a:p>
            <a:pPr algn="r" indent="0" marL="0">
              <a:buNone/>
            </a:pPr>
            <a:r>
              <a:rPr lang="en-US" sz="900" dirty="0">
                <a:solidFill>
                  <a:srgbClr val="7C8B96"/>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9454F"/>
        </a:solidFill>
      </p:bgPr>
    </p:bg>
    <p:spTree>
      <p:nvGrpSpPr>
        <p:cNvPr id="1" name=""/>
        <p:cNvGrpSpPr/>
        <p:nvPr/>
      </p:nvGrpSpPr>
      <p:grpSpPr>
        <a:xfrm>
          <a:off x="0" y="0"/>
          <a:ext cx="0" cy="0"/>
          <a:chOff x="0" y="0"/>
          <a:chExt cx="0" cy="0"/>
        </a:xfrm>
      </p:grpSpPr>
      <p:sp>
        <p:nvSpPr>
          <p:cNvPr id="3" name="Shape 0"/>
          <p:cNvSpPr/>
          <p:nvPr/>
        </p:nvSpPr>
        <p:spPr>
          <a:xfrm>
            <a:off x="201168" y="201168"/>
            <a:ext cx="384048" cy="0"/>
          </a:xfrm>
          <a:prstGeom prst="line">
            <a:avLst/>
          </a:prstGeom>
          <a:noFill/>
          <a:ln w="12700">
            <a:solidFill>
              <a:srgbClr val="66757F"/>
            </a:solidFill>
            <a:prstDash val="solid"/>
          </a:ln>
        </p:spPr>
      </p:sp>
      <p:sp>
        <p:nvSpPr>
          <p:cNvPr id="4" name="Shape 1"/>
          <p:cNvSpPr/>
          <p:nvPr/>
        </p:nvSpPr>
        <p:spPr>
          <a:xfrm>
            <a:off x="201168" y="201168"/>
            <a:ext cx="0" cy="384048"/>
          </a:xfrm>
          <a:prstGeom prst="line">
            <a:avLst/>
          </a:prstGeom>
          <a:noFill/>
          <a:ln w="12700">
            <a:solidFill>
              <a:srgbClr val="66757F"/>
            </a:solidFill>
            <a:prstDash val="solid"/>
          </a:ln>
        </p:spPr>
      </p:sp>
      <p:sp>
        <p:nvSpPr>
          <p:cNvPr id="5" name="Shape 2"/>
          <p:cNvSpPr/>
          <p:nvPr/>
        </p:nvSpPr>
        <p:spPr>
          <a:xfrm flipH="1">
            <a:off x="11603736" y="201168"/>
            <a:ext cx="384048" cy="0"/>
          </a:xfrm>
          <a:prstGeom prst="line">
            <a:avLst/>
          </a:prstGeom>
          <a:noFill/>
          <a:ln w="12700">
            <a:solidFill>
              <a:srgbClr val="66757F"/>
            </a:solidFill>
            <a:prstDash val="solid"/>
          </a:ln>
        </p:spPr>
      </p:sp>
      <p:sp>
        <p:nvSpPr>
          <p:cNvPr id="6" name="Shape 3"/>
          <p:cNvSpPr/>
          <p:nvPr/>
        </p:nvSpPr>
        <p:spPr>
          <a:xfrm>
            <a:off x="11987784" y="201168"/>
            <a:ext cx="0" cy="384048"/>
          </a:xfrm>
          <a:prstGeom prst="line">
            <a:avLst/>
          </a:prstGeom>
          <a:noFill/>
          <a:ln w="12700">
            <a:solidFill>
              <a:srgbClr val="66757F"/>
            </a:solidFill>
            <a:prstDash val="solid"/>
          </a:ln>
        </p:spPr>
      </p:sp>
      <p:sp>
        <p:nvSpPr>
          <p:cNvPr id="7" name="Shape 4"/>
          <p:cNvSpPr/>
          <p:nvPr/>
        </p:nvSpPr>
        <p:spPr>
          <a:xfrm>
            <a:off x="201168" y="6656832"/>
            <a:ext cx="384048" cy="0"/>
          </a:xfrm>
          <a:prstGeom prst="line">
            <a:avLst/>
          </a:prstGeom>
          <a:noFill/>
          <a:ln w="12700">
            <a:solidFill>
              <a:srgbClr val="66757F"/>
            </a:solidFill>
            <a:prstDash val="solid"/>
          </a:ln>
        </p:spPr>
      </p:sp>
      <p:sp>
        <p:nvSpPr>
          <p:cNvPr id="8" name="Shape 5"/>
          <p:cNvSpPr/>
          <p:nvPr/>
        </p:nvSpPr>
        <p:spPr>
          <a:xfrm flipV="1">
            <a:off x="201168" y="6272784"/>
            <a:ext cx="0" cy="384048"/>
          </a:xfrm>
          <a:prstGeom prst="line">
            <a:avLst/>
          </a:prstGeom>
          <a:noFill/>
          <a:ln w="12700">
            <a:solidFill>
              <a:srgbClr val="66757F"/>
            </a:solidFill>
            <a:prstDash val="solid"/>
          </a:ln>
        </p:spPr>
      </p:sp>
      <p:sp>
        <p:nvSpPr>
          <p:cNvPr id="9" name="Shape 6"/>
          <p:cNvSpPr/>
          <p:nvPr/>
        </p:nvSpPr>
        <p:spPr>
          <a:xfrm flipH="1">
            <a:off x="11603736" y="6656832"/>
            <a:ext cx="384048" cy="0"/>
          </a:xfrm>
          <a:prstGeom prst="line">
            <a:avLst/>
          </a:prstGeom>
          <a:noFill/>
          <a:ln w="12700">
            <a:solidFill>
              <a:srgbClr val="66757F"/>
            </a:solidFill>
            <a:prstDash val="solid"/>
          </a:ln>
        </p:spPr>
      </p:sp>
      <p:sp>
        <p:nvSpPr>
          <p:cNvPr id="10" name="Shape 7"/>
          <p:cNvSpPr/>
          <p:nvPr/>
        </p:nvSpPr>
        <p:spPr>
          <a:xfrm flipV="1">
            <a:off x="11987784" y="6272784"/>
            <a:ext cx="0" cy="384048"/>
          </a:xfrm>
          <a:prstGeom prst="line">
            <a:avLst/>
          </a:prstGeom>
          <a:noFill/>
          <a:ln w="12700">
            <a:solidFill>
              <a:srgbClr val="66757F"/>
            </a:solidFill>
            <a:prstDash val="solid"/>
          </a:ln>
        </p:spPr>
      </p:sp>
      <p:sp>
        <p:nvSpPr>
          <p:cNvPr id="11" name="Shape 8"/>
          <p:cNvSpPr/>
          <p:nvPr/>
        </p:nvSpPr>
        <p:spPr>
          <a:xfrm>
            <a:off x="6003036" y="182880"/>
            <a:ext cx="182880" cy="0"/>
          </a:xfrm>
          <a:prstGeom prst="line">
            <a:avLst/>
          </a:prstGeom>
          <a:noFill/>
          <a:ln w="12700">
            <a:solidFill>
              <a:srgbClr val="66757F"/>
            </a:solidFill>
            <a:prstDash val="solid"/>
          </a:ln>
        </p:spPr>
      </p:sp>
      <p:sp>
        <p:nvSpPr>
          <p:cNvPr id="12" name="Shape 9"/>
          <p:cNvSpPr/>
          <p:nvPr/>
        </p:nvSpPr>
        <p:spPr>
          <a:xfrm>
            <a:off x="6094476" y="91440"/>
            <a:ext cx="0" cy="182880"/>
          </a:xfrm>
          <a:prstGeom prst="line">
            <a:avLst/>
          </a:prstGeom>
          <a:noFill/>
          <a:ln w="12700">
            <a:solidFill>
              <a:srgbClr val="66757F"/>
            </a:solidFill>
            <a:prstDash val="solid"/>
          </a:ln>
        </p:spPr>
      </p:sp>
      <p:sp>
        <p:nvSpPr>
          <p:cNvPr id="13" name="Shape 10"/>
          <p:cNvSpPr/>
          <p:nvPr/>
        </p:nvSpPr>
        <p:spPr>
          <a:xfrm>
            <a:off x="6003036" y="6675120"/>
            <a:ext cx="182880" cy="0"/>
          </a:xfrm>
          <a:prstGeom prst="line">
            <a:avLst/>
          </a:prstGeom>
          <a:noFill/>
          <a:ln w="12700">
            <a:solidFill>
              <a:srgbClr val="66757F"/>
            </a:solidFill>
            <a:prstDash val="solid"/>
          </a:ln>
        </p:spPr>
      </p:sp>
      <p:sp>
        <p:nvSpPr>
          <p:cNvPr id="14" name="Shape 11"/>
          <p:cNvSpPr/>
          <p:nvPr/>
        </p:nvSpPr>
        <p:spPr>
          <a:xfrm>
            <a:off x="6094476" y="6583680"/>
            <a:ext cx="0" cy="182880"/>
          </a:xfrm>
          <a:prstGeom prst="line">
            <a:avLst/>
          </a:prstGeom>
          <a:noFill/>
          <a:ln w="12700">
            <a:solidFill>
              <a:srgbClr val="66757F"/>
            </a:solidFill>
            <a:prstDash val="solid"/>
          </a:ln>
        </p:spPr>
      </p:sp>
      <p:sp>
        <p:nvSpPr>
          <p:cNvPr id="15" name="Shape 12"/>
          <p:cNvSpPr/>
          <p:nvPr/>
        </p:nvSpPr>
        <p:spPr>
          <a:xfrm>
            <a:off x="91440" y="3429000"/>
            <a:ext cx="182880" cy="0"/>
          </a:xfrm>
          <a:prstGeom prst="line">
            <a:avLst/>
          </a:prstGeom>
          <a:noFill/>
          <a:ln w="12700">
            <a:solidFill>
              <a:srgbClr val="66757F"/>
            </a:solidFill>
            <a:prstDash val="solid"/>
          </a:ln>
        </p:spPr>
      </p:sp>
      <p:sp>
        <p:nvSpPr>
          <p:cNvPr id="16" name="Shape 13"/>
          <p:cNvSpPr/>
          <p:nvPr/>
        </p:nvSpPr>
        <p:spPr>
          <a:xfrm>
            <a:off x="182880" y="3337560"/>
            <a:ext cx="0" cy="182880"/>
          </a:xfrm>
          <a:prstGeom prst="line">
            <a:avLst/>
          </a:prstGeom>
          <a:noFill/>
          <a:ln w="12700">
            <a:solidFill>
              <a:srgbClr val="66757F"/>
            </a:solidFill>
            <a:prstDash val="solid"/>
          </a:ln>
        </p:spPr>
      </p:sp>
      <p:sp>
        <p:nvSpPr>
          <p:cNvPr id="17" name="Shape 14"/>
          <p:cNvSpPr/>
          <p:nvPr/>
        </p:nvSpPr>
        <p:spPr>
          <a:xfrm>
            <a:off x="11914632" y="3429000"/>
            <a:ext cx="182880" cy="0"/>
          </a:xfrm>
          <a:prstGeom prst="line">
            <a:avLst/>
          </a:prstGeom>
          <a:noFill/>
          <a:ln w="12700">
            <a:solidFill>
              <a:srgbClr val="66757F"/>
            </a:solidFill>
            <a:prstDash val="solid"/>
          </a:ln>
        </p:spPr>
      </p:sp>
      <p:sp>
        <p:nvSpPr>
          <p:cNvPr id="18" name="Shape 15"/>
          <p:cNvSpPr/>
          <p:nvPr/>
        </p:nvSpPr>
        <p:spPr>
          <a:xfrm>
            <a:off x="12006072" y="3337560"/>
            <a:ext cx="0" cy="182880"/>
          </a:xfrm>
          <a:prstGeom prst="line">
            <a:avLst/>
          </a:prstGeom>
          <a:noFill/>
          <a:ln w="12700">
            <a:solidFill>
              <a:srgbClr val="66757F"/>
            </a:solidFill>
            <a:prstDash val="solid"/>
          </a:ln>
        </p:spPr>
      </p:sp>
      <p:sp>
        <p:nvSpPr>
          <p:cNvPr id="19" name="Text 16"/>
          <p:cNvSpPr txBox="1"/>
          <p:nvPr/>
        </p:nvSpPr>
        <p:spPr>
          <a:xfrm>
            <a:off x="566928" y="329184"/>
            <a:ext cx="11064240" cy="566928"/>
          </a:xfrm>
          <a:prstGeom prst="rect">
            <a:avLst/>
          </a:prstGeom>
          <a:noFill/>
          <a:ln/>
        </p:spPr>
        <p:txBody>
          <a:bodyPr wrap="square" lIns="0" tIns="0" rIns="0" bIns="0" rtlCol="0" anchor="t"/>
          <a:lstStyle/>
          <a:p>
            <a:pPr indent="0" marL="0">
              <a:buNone/>
            </a:pPr>
            <a:r>
              <a:rPr lang="en-US" sz="2900" b="1" dirty="0">
                <a:solidFill>
                  <a:srgbClr val="FFFFFF"/>
                </a:solidFill>
                <a:latin typeface="Arial" pitchFamily="34" charset="0"/>
                <a:ea typeface="Arial" pitchFamily="34" charset="-122"/>
                <a:cs typeface="Arial" pitchFamily="34" charset="-120"/>
              </a:rPr>
              <a:t>Answers</a:t>
            </a:r>
            <a:endParaRPr lang="en-US" sz="2900" dirty="0"/>
          </a:p>
        </p:txBody>
      </p:sp>
      <p:sp>
        <p:nvSpPr>
          <p:cNvPr id="20" name="Shape 17"/>
          <p:cNvSpPr/>
          <p:nvPr/>
        </p:nvSpPr>
        <p:spPr>
          <a:xfrm>
            <a:off x="548640" y="1188720"/>
            <a:ext cx="5486400" cy="2240280"/>
          </a:xfrm>
          <a:prstGeom prst="roundRect">
            <a:avLst>
              <a:gd name="adj" fmla="val 2449"/>
            </a:avLst>
          </a:prstGeom>
          <a:solidFill>
            <a:srgbClr val="2F3A43"/>
          </a:solidFill>
          <a:ln w="12700">
            <a:solidFill>
              <a:srgbClr val="E4644C"/>
            </a:solidFill>
            <a:prstDash val="solid"/>
          </a:ln>
        </p:spPr>
      </p:sp>
      <p:sp>
        <p:nvSpPr>
          <p:cNvPr id="21" name="Text 18"/>
          <p:cNvSpPr txBox="1"/>
          <p:nvPr/>
        </p:nvSpPr>
        <p:spPr>
          <a:xfrm>
            <a:off x="822960" y="1444752"/>
            <a:ext cx="1097280" cy="365760"/>
          </a:xfrm>
          <a:prstGeom prst="rect">
            <a:avLst/>
          </a:prstGeom>
          <a:noFill/>
          <a:ln/>
        </p:spPr>
        <p:txBody>
          <a:bodyPr wrap="square" lIns="0" tIns="0" rIns="0" bIns="0" rtlCol="0" anchor="t"/>
          <a:lstStyle/>
          <a:p>
            <a:pPr indent="0" marL="0">
              <a:buNone/>
            </a:pPr>
            <a:r>
              <a:rPr lang="en-US" sz="1900" b="1" dirty="0">
                <a:solidFill>
                  <a:srgbClr val="AFBDC8"/>
                </a:solidFill>
                <a:latin typeface="Arial" pitchFamily="34" charset="0"/>
                <a:ea typeface="Arial" pitchFamily="34" charset="-122"/>
                <a:cs typeface="Arial" pitchFamily="34" charset="-120"/>
              </a:rPr>
              <a:t>RQ1</a:t>
            </a:r>
            <a:endParaRPr lang="en-US" sz="1900" dirty="0"/>
          </a:p>
        </p:txBody>
      </p:sp>
      <p:sp>
        <p:nvSpPr>
          <p:cNvPr id="22" name="Text 19"/>
          <p:cNvSpPr txBox="1"/>
          <p:nvPr/>
        </p:nvSpPr>
        <p:spPr>
          <a:xfrm>
            <a:off x="2011680" y="1371600"/>
            <a:ext cx="2743200" cy="502920"/>
          </a:xfrm>
          <a:prstGeom prst="rect">
            <a:avLst/>
          </a:prstGeom>
          <a:noFill/>
          <a:ln/>
        </p:spPr>
        <p:txBody>
          <a:bodyPr wrap="square" lIns="0" tIns="0" rIns="0" bIns="0" rtlCol="0" anchor="t"/>
          <a:lstStyle/>
          <a:p>
            <a:pPr indent="0" marL="0">
              <a:buNone/>
            </a:pPr>
            <a:r>
              <a:rPr lang="en-US" sz="3000" b="1" dirty="0">
                <a:solidFill>
                  <a:srgbClr val="E4644C"/>
                </a:solidFill>
                <a:latin typeface="Arial" pitchFamily="34" charset="0"/>
                <a:ea typeface="Arial" pitchFamily="34" charset="-122"/>
                <a:cs typeface="Arial" pitchFamily="34" charset="-120"/>
              </a:rPr>
              <a:t>NO</a:t>
            </a:r>
            <a:endParaRPr lang="en-US" sz="3000" dirty="0"/>
          </a:p>
        </p:txBody>
      </p:sp>
      <p:sp>
        <p:nvSpPr>
          <p:cNvPr id="23" name="Text 20"/>
          <p:cNvSpPr txBox="1"/>
          <p:nvPr/>
        </p:nvSpPr>
        <p:spPr>
          <a:xfrm>
            <a:off x="822960" y="2240280"/>
            <a:ext cx="4983480" cy="960120"/>
          </a:xfrm>
          <a:prstGeom prst="rect">
            <a:avLst/>
          </a:prstGeom>
          <a:noFill/>
          <a:ln/>
        </p:spPr>
        <p:txBody>
          <a:bodyPr wrap="square" lIns="0" tIns="0" rIns="0" bIns="0" rtlCol="0" anchor="t"/>
          <a:lstStyle/>
          <a:p>
            <a:pPr indent="0" marL="0">
              <a:lnSpc>
                <a:spcPct val="135000"/>
              </a:lnSpc>
              <a:buNone/>
            </a:pPr>
            <a:r>
              <a:rPr lang="en-US" sz="1400" dirty="0">
                <a:solidFill>
                  <a:srgbClr val="FFFFFF"/>
                </a:solidFill>
                <a:latin typeface="Arial" pitchFamily="34" charset="0"/>
                <a:ea typeface="Arial" pitchFamily="34" charset="-122"/>
                <a:cs typeface="Arial" pitchFamily="34" charset="-120"/>
              </a:rPr>
              <a:t>Attention does not identify decision-relevant nodes, even on clean data.</a:t>
            </a:r>
            <a:endParaRPr lang="en-US" sz="1400" dirty="0"/>
          </a:p>
        </p:txBody>
      </p:sp>
      <p:sp>
        <p:nvSpPr>
          <p:cNvPr id="24" name="Shape 21"/>
          <p:cNvSpPr/>
          <p:nvPr/>
        </p:nvSpPr>
        <p:spPr>
          <a:xfrm>
            <a:off x="6153912" y="1188720"/>
            <a:ext cx="5486400" cy="2240280"/>
          </a:xfrm>
          <a:prstGeom prst="roundRect">
            <a:avLst>
              <a:gd name="adj" fmla="val 2449"/>
            </a:avLst>
          </a:prstGeom>
          <a:solidFill>
            <a:srgbClr val="2F3A43"/>
          </a:solidFill>
          <a:ln w="12700">
            <a:solidFill>
              <a:srgbClr val="F0A030"/>
            </a:solidFill>
            <a:prstDash val="solid"/>
          </a:ln>
        </p:spPr>
      </p:sp>
      <p:sp>
        <p:nvSpPr>
          <p:cNvPr id="25" name="Text 22"/>
          <p:cNvSpPr txBox="1"/>
          <p:nvPr/>
        </p:nvSpPr>
        <p:spPr>
          <a:xfrm>
            <a:off x="6428232" y="1444752"/>
            <a:ext cx="1097280" cy="365760"/>
          </a:xfrm>
          <a:prstGeom prst="rect">
            <a:avLst/>
          </a:prstGeom>
          <a:noFill/>
          <a:ln/>
        </p:spPr>
        <p:txBody>
          <a:bodyPr wrap="square" lIns="0" tIns="0" rIns="0" bIns="0" rtlCol="0" anchor="t"/>
          <a:lstStyle/>
          <a:p>
            <a:pPr indent="0" marL="0">
              <a:buNone/>
            </a:pPr>
            <a:r>
              <a:rPr lang="en-US" sz="1900" b="1" dirty="0">
                <a:solidFill>
                  <a:srgbClr val="AFBDC8"/>
                </a:solidFill>
                <a:latin typeface="Arial" pitchFamily="34" charset="0"/>
                <a:ea typeface="Arial" pitchFamily="34" charset="-122"/>
                <a:cs typeface="Arial" pitchFamily="34" charset="-120"/>
              </a:rPr>
              <a:t>RQ2</a:t>
            </a:r>
            <a:endParaRPr lang="en-US" sz="1900" dirty="0"/>
          </a:p>
        </p:txBody>
      </p:sp>
      <p:sp>
        <p:nvSpPr>
          <p:cNvPr id="26" name="Text 23"/>
          <p:cNvSpPr txBox="1"/>
          <p:nvPr/>
        </p:nvSpPr>
        <p:spPr>
          <a:xfrm>
            <a:off x="7616952" y="1371600"/>
            <a:ext cx="2743200" cy="502920"/>
          </a:xfrm>
          <a:prstGeom prst="rect">
            <a:avLst/>
          </a:prstGeom>
          <a:noFill/>
          <a:ln/>
        </p:spPr>
        <p:txBody>
          <a:bodyPr wrap="square" lIns="0" tIns="0" rIns="0" bIns="0" rtlCol="0" anchor="t"/>
          <a:lstStyle/>
          <a:p>
            <a:pPr indent="0" marL="0">
              <a:buNone/>
            </a:pPr>
            <a:r>
              <a:rPr lang="en-US" sz="3000" b="1" dirty="0">
                <a:solidFill>
                  <a:srgbClr val="F0A030"/>
                </a:solidFill>
                <a:latin typeface="Arial" pitchFamily="34" charset="0"/>
                <a:ea typeface="Arial" pitchFamily="34" charset="-122"/>
                <a:cs typeface="Arial" pitchFamily="34" charset="-120"/>
              </a:rPr>
              <a:t>MIXED</a:t>
            </a:r>
            <a:endParaRPr lang="en-US" sz="3000" dirty="0"/>
          </a:p>
        </p:txBody>
      </p:sp>
      <p:sp>
        <p:nvSpPr>
          <p:cNvPr id="27" name="Text 24"/>
          <p:cNvSpPr txBox="1"/>
          <p:nvPr/>
        </p:nvSpPr>
        <p:spPr>
          <a:xfrm>
            <a:off x="6428232" y="2240280"/>
            <a:ext cx="4983480" cy="960120"/>
          </a:xfrm>
          <a:prstGeom prst="rect">
            <a:avLst/>
          </a:prstGeom>
          <a:noFill/>
          <a:ln/>
        </p:spPr>
        <p:txBody>
          <a:bodyPr wrap="square" lIns="0" tIns="0" rIns="0" bIns="0" rtlCol="0" anchor="t"/>
          <a:lstStyle/>
          <a:p>
            <a:pPr indent="0" marL="0">
              <a:lnSpc>
                <a:spcPct val="135000"/>
              </a:lnSpc>
              <a:buNone/>
            </a:pPr>
            <a:r>
              <a:rPr lang="en-US" sz="1400" dirty="0">
                <a:solidFill>
                  <a:srgbClr val="FFFFFF"/>
                </a:solidFill>
                <a:latin typeface="Arial" pitchFamily="34" charset="0"/>
                <a:ea typeface="Arial" pitchFamily="34" charset="-122"/>
                <a:cs typeface="Arial" pitchFamily="34" charset="-120"/>
              </a:rPr>
              <a:t>Degradation moves stale-node attention — in no consistent direction.</a:t>
            </a:r>
            <a:endParaRPr lang="en-US" sz="1400" dirty="0"/>
          </a:p>
        </p:txBody>
      </p:sp>
      <p:sp>
        <p:nvSpPr>
          <p:cNvPr id="28" name="Shape 25"/>
          <p:cNvSpPr/>
          <p:nvPr/>
        </p:nvSpPr>
        <p:spPr>
          <a:xfrm>
            <a:off x="548640" y="3584448"/>
            <a:ext cx="5486400" cy="2240280"/>
          </a:xfrm>
          <a:prstGeom prst="roundRect">
            <a:avLst>
              <a:gd name="adj" fmla="val 2449"/>
            </a:avLst>
          </a:prstGeom>
          <a:solidFill>
            <a:srgbClr val="2F3A43"/>
          </a:solidFill>
          <a:ln w="12700">
            <a:solidFill>
              <a:srgbClr val="F0A030"/>
            </a:solidFill>
            <a:prstDash val="solid"/>
          </a:ln>
        </p:spPr>
      </p:sp>
      <p:sp>
        <p:nvSpPr>
          <p:cNvPr id="29" name="Text 26"/>
          <p:cNvSpPr txBox="1"/>
          <p:nvPr/>
        </p:nvSpPr>
        <p:spPr>
          <a:xfrm>
            <a:off x="822960" y="3840480"/>
            <a:ext cx="1097280" cy="365760"/>
          </a:xfrm>
          <a:prstGeom prst="rect">
            <a:avLst/>
          </a:prstGeom>
          <a:noFill/>
          <a:ln/>
        </p:spPr>
        <p:txBody>
          <a:bodyPr wrap="square" lIns="0" tIns="0" rIns="0" bIns="0" rtlCol="0" anchor="t"/>
          <a:lstStyle/>
          <a:p>
            <a:pPr indent="0" marL="0">
              <a:buNone/>
            </a:pPr>
            <a:r>
              <a:rPr lang="en-US" sz="1900" b="1" dirty="0">
                <a:solidFill>
                  <a:srgbClr val="AFBDC8"/>
                </a:solidFill>
                <a:latin typeface="Arial" pitchFamily="34" charset="0"/>
                <a:ea typeface="Arial" pitchFamily="34" charset="-122"/>
                <a:cs typeface="Arial" pitchFamily="34" charset="-120"/>
              </a:rPr>
              <a:t>RQ3</a:t>
            </a:r>
            <a:endParaRPr lang="en-US" sz="1900" dirty="0"/>
          </a:p>
        </p:txBody>
      </p:sp>
      <p:sp>
        <p:nvSpPr>
          <p:cNvPr id="30" name="Text 27"/>
          <p:cNvSpPr txBox="1"/>
          <p:nvPr/>
        </p:nvSpPr>
        <p:spPr>
          <a:xfrm>
            <a:off x="2011680" y="3767328"/>
            <a:ext cx="2743200" cy="502920"/>
          </a:xfrm>
          <a:prstGeom prst="rect">
            <a:avLst/>
          </a:prstGeom>
          <a:noFill/>
          <a:ln/>
        </p:spPr>
        <p:txBody>
          <a:bodyPr wrap="square" lIns="0" tIns="0" rIns="0" bIns="0" rtlCol="0" anchor="t"/>
          <a:lstStyle/>
          <a:p>
            <a:pPr indent="0" marL="0">
              <a:buNone/>
            </a:pPr>
            <a:r>
              <a:rPr lang="en-US" sz="3000" b="1" dirty="0">
                <a:solidFill>
                  <a:srgbClr val="F0A030"/>
                </a:solidFill>
                <a:latin typeface="Arial" pitchFamily="34" charset="0"/>
                <a:ea typeface="Arial" pitchFamily="34" charset="-122"/>
                <a:cs typeface="Arial" pitchFamily="34" charset="-120"/>
              </a:rPr>
              <a:t>NO</a:t>
            </a:r>
            <a:endParaRPr lang="en-US" sz="3000" dirty="0"/>
          </a:p>
        </p:txBody>
      </p:sp>
      <p:sp>
        <p:nvSpPr>
          <p:cNvPr id="31" name="Text 28"/>
          <p:cNvSpPr txBox="1"/>
          <p:nvPr/>
        </p:nvSpPr>
        <p:spPr>
          <a:xfrm>
            <a:off x="822960" y="4636008"/>
            <a:ext cx="4983480" cy="960120"/>
          </a:xfrm>
          <a:prstGeom prst="rect">
            <a:avLst/>
          </a:prstGeom>
          <a:noFill/>
          <a:ln/>
        </p:spPr>
        <p:txBody>
          <a:bodyPr wrap="square" lIns="0" tIns="0" rIns="0" bIns="0" rtlCol="0" anchor="t"/>
          <a:lstStyle/>
          <a:p>
            <a:pPr indent="0" marL="0">
              <a:lnSpc>
                <a:spcPct val="135000"/>
              </a:lnSpc>
              <a:buNone/>
            </a:pPr>
            <a:r>
              <a:rPr lang="en-US" sz="1400" dirty="0">
                <a:solidFill>
                  <a:srgbClr val="FFFFFF"/>
                </a:solidFill>
                <a:latin typeface="Arial" pitchFamily="34" charset="0"/>
                <a:ea typeface="Arial" pitchFamily="34" charset="-122"/>
                <a:cs typeface="Arial" pitchFamily="34" charset="-120"/>
              </a:rPr>
              <a:t>Exposure rises; the predicted faithfulness decline never appears.</a:t>
            </a:r>
            <a:endParaRPr lang="en-US" sz="1400" dirty="0"/>
          </a:p>
        </p:txBody>
      </p:sp>
      <p:sp>
        <p:nvSpPr>
          <p:cNvPr id="32" name="Shape 29"/>
          <p:cNvSpPr/>
          <p:nvPr/>
        </p:nvSpPr>
        <p:spPr>
          <a:xfrm>
            <a:off x="6153912" y="3584448"/>
            <a:ext cx="5486400" cy="2240280"/>
          </a:xfrm>
          <a:prstGeom prst="roundRect">
            <a:avLst>
              <a:gd name="adj" fmla="val 2449"/>
            </a:avLst>
          </a:prstGeom>
          <a:solidFill>
            <a:srgbClr val="2F3A43"/>
          </a:solidFill>
          <a:ln w="12700">
            <a:solidFill>
              <a:srgbClr val="E4644C"/>
            </a:solidFill>
            <a:prstDash val="solid"/>
          </a:ln>
        </p:spPr>
      </p:sp>
      <p:sp>
        <p:nvSpPr>
          <p:cNvPr id="33" name="Text 30"/>
          <p:cNvSpPr txBox="1"/>
          <p:nvPr/>
        </p:nvSpPr>
        <p:spPr>
          <a:xfrm>
            <a:off x="6428232" y="3840480"/>
            <a:ext cx="1097280" cy="365760"/>
          </a:xfrm>
          <a:prstGeom prst="rect">
            <a:avLst/>
          </a:prstGeom>
          <a:noFill/>
          <a:ln/>
        </p:spPr>
        <p:txBody>
          <a:bodyPr wrap="square" lIns="0" tIns="0" rIns="0" bIns="0" rtlCol="0" anchor="t"/>
          <a:lstStyle/>
          <a:p>
            <a:pPr indent="0" marL="0">
              <a:buNone/>
            </a:pPr>
            <a:r>
              <a:rPr lang="en-US" sz="1900" b="1" dirty="0">
                <a:solidFill>
                  <a:srgbClr val="AFBDC8"/>
                </a:solidFill>
                <a:latin typeface="Arial" pitchFamily="34" charset="0"/>
                <a:ea typeface="Arial" pitchFamily="34" charset="-122"/>
                <a:cs typeface="Arial" pitchFamily="34" charset="-120"/>
              </a:rPr>
              <a:t>RQ4</a:t>
            </a:r>
            <a:endParaRPr lang="en-US" sz="1900" dirty="0"/>
          </a:p>
        </p:txBody>
      </p:sp>
      <p:sp>
        <p:nvSpPr>
          <p:cNvPr id="34" name="Text 31"/>
          <p:cNvSpPr txBox="1"/>
          <p:nvPr/>
        </p:nvSpPr>
        <p:spPr>
          <a:xfrm>
            <a:off x="7616952" y="3767328"/>
            <a:ext cx="2743200" cy="502920"/>
          </a:xfrm>
          <a:prstGeom prst="rect">
            <a:avLst/>
          </a:prstGeom>
          <a:noFill/>
          <a:ln/>
        </p:spPr>
        <p:txBody>
          <a:bodyPr wrap="square" lIns="0" tIns="0" rIns="0" bIns="0" rtlCol="0" anchor="t"/>
          <a:lstStyle/>
          <a:p>
            <a:pPr indent="0" marL="0">
              <a:buNone/>
            </a:pPr>
            <a:r>
              <a:rPr lang="en-US" sz="3000" b="1" dirty="0">
                <a:solidFill>
                  <a:srgbClr val="E4644C"/>
                </a:solidFill>
                <a:latin typeface="Arial" pitchFamily="34" charset="0"/>
                <a:ea typeface="Arial" pitchFamily="34" charset="-122"/>
                <a:cs typeface="Arial" pitchFamily="34" charset="-120"/>
              </a:rPr>
              <a:t>NO</a:t>
            </a:r>
            <a:endParaRPr lang="en-US" sz="3000" dirty="0"/>
          </a:p>
        </p:txBody>
      </p:sp>
      <p:sp>
        <p:nvSpPr>
          <p:cNvPr id="35" name="Text 32"/>
          <p:cNvSpPr txBox="1"/>
          <p:nvPr/>
        </p:nvSpPr>
        <p:spPr>
          <a:xfrm>
            <a:off x="6428232" y="4636008"/>
            <a:ext cx="4983480" cy="960120"/>
          </a:xfrm>
          <a:prstGeom prst="rect">
            <a:avLst/>
          </a:prstGeom>
          <a:noFill/>
          <a:ln/>
        </p:spPr>
        <p:txBody>
          <a:bodyPr wrap="square" lIns="0" tIns="0" rIns="0" bIns="0" rtlCol="0" anchor="t"/>
          <a:lstStyle/>
          <a:p>
            <a:pPr indent="0" marL="0">
              <a:lnSpc>
                <a:spcPct val="135000"/>
              </a:lnSpc>
              <a:buNone/>
            </a:pPr>
            <a:r>
              <a:rPr lang="en-US" sz="1400" dirty="0">
                <a:solidFill>
                  <a:srgbClr val="FFFFFF"/>
                </a:solidFill>
                <a:latin typeface="Arial" pitchFamily="34" charset="0"/>
                <a:ea typeface="Arial" pitchFamily="34" charset="-122"/>
                <a:cs typeface="Arial" pitchFamily="34" charset="-120"/>
              </a:rPr>
              <a:t>Outage training removes neither the instability nor the failure.</a:t>
            </a:r>
            <a:endParaRPr lang="en-US" sz="1400" dirty="0"/>
          </a:p>
        </p:txBody>
      </p:sp>
      <p:sp>
        <p:nvSpPr>
          <p:cNvPr id="36" name="Text 33"/>
          <p:cNvSpPr txBox="1"/>
          <p:nvPr/>
        </p:nvSpPr>
        <p:spPr>
          <a:xfrm>
            <a:off x="548640" y="6035040"/>
            <a:ext cx="11091672" cy="320040"/>
          </a:xfrm>
          <a:prstGeom prst="rect">
            <a:avLst/>
          </a:prstGeom>
          <a:noFill/>
          <a:ln/>
        </p:spPr>
        <p:txBody>
          <a:bodyPr wrap="square" lIns="0" tIns="0" rIns="0" bIns="0" rtlCol="0" anchor="t"/>
          <a:lstStyle/>
          <a:p>
            <a:pPr algn="ctr" indent="0" marL="0">
              <a:buNone/>
            </a:pPr>
            <a:r>
              <a:rPr lang="en-US" sz="1300" b="1" dirty="0">
                <a:solidFill>
                  <a:srgbClr val="35D6E8"/>
                </a:solidFill>
                <a:latin typeface="Arial" pitchFamily="34" charset="0"/>
                <a:ea typeface="Arial" pitchFamily="34" charset="-122"/>
                <a:cs typeface="Arial" pitchFamily="34" charset="-120"/>
              </a:rPr>
              <a:t>The map stays on the screen. What it cannot show is that its evidence is current, or that it drove the action.</a:t>
            </a:r>
            <a:endParaRPr lang="en-US" sz="1300" dirty="0"/>
          </a:p>
        </p:txBody>
      </p:sp>
      <p:sp>
        <p:nvSpPr>
          <p:cNvPr id="37" name="Text 34"/>
          <p:cNvSpPr txBox="1"/>
          <p:nvPr/>
        </p:nvSpPr>
        <p:spPr>
          <a:xfrm>
            <a:off x="11365992" y="6382512"/>
            <a:ext cx="365760" cy="274320"/>
          </a:xfrm>
          <a:prstGeom prst="rect">
            <a:avLst/>
          </a:prstGeom>
          <a:noFill/>
          <a:ln/>
        </p:spPr>
        <p:txBody>
          <a:bodyPr wrap="square" lIns="0" tIns="0" rIns="0" bIns="0" rtlCol="0" anchor="ctr"/>
          <a:lstStyle/>
          <a:p>
            <a:pPr algn="r" indent="0" marL="0">
              <a:buNone/>
            </a:pPr>
            <a:r>
              <a:rPr lang="en-US" sz="900" dirty="0">
                <a:solidFill>
                  <a:srgbClr val="7C8B96"/>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39454F"/>
        </a:solidFill>
      </p:bgPr>
    </p:bg>
    <p:spTree>
      <p:nvGrpSpPr>
        <p:cNvPr id="1" name=""/>
        <p:cNvGrpSpPr/>
        <p:nvPr/>
      </p:nvGrpSpPr>
      <p:grpSpPr>
        <a:xfrm>
          <a:off x="0" y="0"/>
          <a:ext cx="0" cy="0"/>
          <a:chOff x="0" y="0"/>
          <a:chExt cx="0" cy="0"/>
        </a:xfrm>
      </p:grpSpPr>
      <p:sp>
        <p:nvSpPr>
          <p:cNvPr id="3" name="Shape 0"/>
          <p:cNvSpPr/>
          <p:nvPr/>
        </p:nvSpPr>
        <p:spPr>
          <a:xfrm>
            <a:off x="201168" y="201168"/>
            <a:ext cx="384048" cy="0"/>
          </a:xfrm>
          <a:prstGeom prst="line">
            <a:avLst/>
          </a:prstGeom>
          <a:noFill/>
          <a:ln w="12700">
            <a:solidFill>
              <a:srgbClr val="66757F"/>
            </a:solidFill>
            <a:prstDash val="solid"/>
          </a:ln>
        </p:spPr>
      </p:sp>
      <p:sp>
        <p:nvSpPr>
          <p:cNvPr id="4" name="Shape 1"/>
          <p:cNvSpPr/>
          <p:nvPr/>
        </p:nvSpPr>
        <p:spPr>
          <a:xfrm>
            <a:off x="201168" y="201168"/>
            <a:ext cx="0" cy="384048"/>
          </a:xfrm>
          <a:prstGeom prst="line">
            <a:avLst/>
          </a:prstGeom>
          <a:noFill/>
          <a:ln w="12700">
            <a:solidFill>
              <a:srgbClr val="66757F"/>
            </a:solidFill>
            <a:prstDash val="solid"/>
          </a:ln>
        </p:spPr>
      </p:sp>
      <p:sp>
        <p:nvSpPr>
          <p:cNvPr id="5" name="Shape 2"/>
          <p:cNvSpPr/>
          <p:nvPr/>
        </p:nvSpPr>
        <p:spPr>
          <a:xfrm flipH="1">
            <a:off x="11603736" y="201168"/>
            <a:ext cx="384048" cy="0"/>
          </a:xfrm>
          <a:prstGeom prst="line">
            <a:avLst/>
          </a:prstGeom>
          <a:noFill/>
          <a:ln w="12700">
            <a:solidFill>
              <a:srgbClr val="66757F"/>
            </a:solidFill>
            <a:prstDash val="solid"/>
          </a:ln>
        </p:spPr>
      </p:sp>
      <p:sp>
        <p:nvSpPr>
          <p:cNvPr id="6" name="Shape 3"/>
          <p:cNvSpPr/>
          <p:nvPr/>
        </p:nvSpPr>
        <p:spPr>
          <a:xfrm>
            <a:off x="11987784" y="201168"/>
            <a:ext cx="0" cy="384048"/>
          </a:xfrm>
          <a:prstGeom prst="line">
            <a:avLst/>
          </a:prstGeom>
          <a:noFill/>
          <a:ln w="12700">
            <a:solidFill>
              <a:srgbClr val="66757F"/>
            </a:solidFill>
            <a:prstDash val="solid"/>
          </a:ln>
        </p:spPr>
      </p:sp>
      <p:sp>
        <p:nvSpPr>
          <p:cNvPr id="7" name="Shape 4"/>
          <p:cNvSpPr/>
          <p:nvPr/>
        </p:nvSpPr>
        <p:spPr>
          <a:xfrm>
            <a:off x="201168" y="6656832"/>
            <a:ext cx="384048" cy="0"/>
          </a:xfrm>
          <a:prstGeom prst="line">
            <a:avLst/>
          </a:prstGeom>
          <a:noFill/>
          <a:ln w="12700">
            <a:solidFill>
              <a:srgbClr val="66757F"/>
            </a:solidFill>
            <a:prstDash val="solid"/>
          </a:ln>
        </p:spPr>
      </p:sp>
      <p:sp>
        <p:nvSpPr>
          <p:cNvPr id="8" name="Shape 5"/>
          <p:cNvSpPr/>
          <p:nvPr/>
        </p:nvSpPr>
        <p:spPr>
          <a:xfrm flipV="1">
            <a:off x="201168" y="6272784"/>
            <a:ext cx="0" cy="384048"/>
          </a:xfrm>
          <a:prstGeom prst="line">
            <a:avLst/>
          </a:prstGeom>
          <a:noFill/>
          <a:ln w="12700">
            <a:solidFill>
              <a:srgbClr val="66757F"/>
            </a:solidFill>
            <a:prstDash val="solid"/>
          </a:ln>
        </p:spPr>
      </p:sp>
      <p:sp>
        <p:nvSpPr>
          <p:cNvPr id="9" name="Shape 6"/>
          <p:cNvSpPr/>
          <p:nvPr/>
        </p:nvSpPr>
        <p:spPr>
          <a:xfrm flipH="1">
            <a:off x="11603736" y="6656832"/>
            <a:ext cx="384048" cy="0"/>
          </a:xfrm>
          <a:prstGeom prst="line">
            <a:avLst/>
          </a:prstGeom>
          <a:noFill/>
          <a:ln w="12700">
            <a:solidFill>
              <a:srgbClr val="66757F"/>
            </a:solidFill>
            <a:prstDash val="solid"/>
          </a:ln>
        </p:spPr>
      </p:sp>
      <p:sp>
        <p:nvSpPr>
          <p:cNvPr id="10" name="Shape 7"/>
          <p:cNvSpPr/>
          <p:nvPr/>
        </p:nvSpPr>
        <p:spPr>
          <a:xfrm flipV="1">
            <a:off x="11987784" y="6272784"/>
            <a:ext cx="0" cy="384048"/>
          </a:xfrm>
          <a:prstGeom prst="line">
            <a:avLst/>
          </a:prstGeom>
          <a:noFill/>
          <a:ln w="12700">
            <a:solidFill>
              <a:srgbClr val="66757F"/>
            </a:solidFill>
            <a:prstDash val="solid"/>
          </a:ln>
        </p:spPr>
      </p:sp>
      <p:sp>
        <p:nvSpPr>
          <p:cNvPr id="11" name="Shape 8"/>
          <p:cNvSpPr/>
          <p:nvPr/>
        </p:nvSpPr>
        <p:spPr>
          <a:xfrm>
            <a:off x="6003036" y="182880"/>
            <a:ext cx="182880" cy="0"/>
          </a:xfrm>
          <a:prstGeom prst="line">
            <a:avLst/>
          </a:prstGeom>
          <a:noFill/>
          <a:ln w="12700">
            <a:solidFill>
              <a:srgbClr val="66757F"/>
            </a:solidFill>
            <a:prstDash val="solid"/>
          </a:ln>
        </p:spPr>
      </p:sp>
      <p:sp>
        <p:nvSpPr>
          <p:cNvPr id="12" name="Shape 9"/>
          <p:cNvSpPr/>
          <p:nvPr/>
        </p:nvSpPr>
        <p:spPr>
          <a:xfrm>
            <a:off x="6094476" y="91440"/>
            <a:ext cx="0" cy="182880"/>
          </a:xfrm>
          <a:prstGeom prst="line">
            <a:avLst/>
          </a:prstGeom>
          <a:noFill/>
          <a:ln w="12700">
            <a:solidFill>
              <a:srgbClr val="66757F"/>
            </a:solidFill>
            <a:prstDash val="solid"/>
          </a:ln>
        </p:spPr>
      </p:sp>
      <p:sp>
        <p:nvSpPr>
          <p:cNvPr id="13" name="Shape 10"/>
          <p:cNvSpPr/>
          <p:nvPr/>
        </p:nvSpPr>
        <p:spPr>
          <a:xfrm>
            <a:off x="6003036" y="6675120"/>
            <a:ext cx="182880" cy="0"/>
          </a:xfrm>
          <a:prstGeom prst="line">
            <a:avLst/>
          </a:prstGeom>
          <a:noFill/>
          <a:ln w="12700">
            <a:solidFill>
              <a:srgbClr val="66757F"/>
            </a:solidFill>
            <a:prstDash val="solid"/>
          </a:ln>
        </p:spPr>
      </p:sp>
      <p:sp>
        <p:nvSpPr>
          <p:cNvPr id="14" name="Shape 11"/>
          <p:cNvSpPr/>
          <p:nvPr/>
        </p:nvSpPr>
        <p:spPr>
          <a:xfrm>
            <a:off x="6094476" y="6583680"/>
            <a:ext cx="0" cy="182880"/>
          </a:xfrm>
          <a:prstGeom prst="line">
            <a:avLst/>
          </a:prstGeom>
          <a:noFill/>
          <a:ln w="12700">
            <a:solidFill>
              <a:srgbClr val="66757F"/>
            </a:solidFill>
            <a:prstDash val="solid"/>
          </a:ln>
        </p:spPr>
      </p:sp>
      <p:sp>
        <p:nvSpPr>
          <p:cNvPr id="15" name="Shape 12"/>
          <p:cNvSpPr/>
          <p:nvPr/>
        </p:nvSpPr>
        <p:spPr>
          <a:xfrm>
            <a:off x="91440" y="3429000"/>
            <a:ext cx="182880" cy="0"/>
          </a:xfrm>
          <a:prstGeom prst="line">
            <a:avLst/>
          </a:prstGeom>
          <a:noFill/>
          <a:ln w="12700">
            <a:solidFill>
              <a:srgbClr val="66757F"/>
            </a:solidFill>
            <a:prstDash val="solid"/>
          </a:ln>
        </p:spPr>
      </p:sp>
      <p:sp>
        <p:nvSpPr>
          <p:cNvPr id="16" name="Shape 13"/>
          <p:cNvSpPr/>
          <p:nvPr/>
        </p:nvSpPr>
        <p:spPr>
          <a:xfrm>
            <a:off x="182880" y="3337560"/>
            <a:ext cx="0" cy="182880"/>
          </a:xfrm>
          <a:prstGeom prst="line">
            <a:avLst/>
          </a:prstGeom>
          <a:noFill/>
          <a:ln w="12700">
            <a:solidFill>
              <a:srgbClr val="66757F"/>
            </a:solidFill>
            <a:prstDash val="solid"/>
          </a:ln>
        </p:spPr>
      </p:sp>
      <p:sp>
        <p:nvSpPr>
          <p:cNvPr id="17" name="Shape 14"/>
          <p:cNvSpPr/>
          <p:nvPr/>
        </p:nvSpPr>
        <p:spPr>
          <a:xfrm>
            <a:off x="11914632" y="3429000"/>
            <a:ext cx="182880" cy="0"/>
          </a:xfrm>
          <a:prstGeom prst="line">
            <a:avLst/>
          </a:prstGeom>
          <a:noFill/>
          <a:ln w="12700">
            <a:solidFill>
              <a:srgbClr val="66757F"/>
            </a:solidFill>
            <a:prstDash val="solid"/>
          </a:ln>
        </p:spPr>
      </p:sp>
      <p:sp>
        <p:nvSpPr>
          <p:cNvPr id="18" name="Shape 15"/>
          <p:cNvSpPr/>
          <p:nvPr/>
        </p:nvSpPr>
        <p:spPr>
          <a:xfrm>
            <a:off x="12006072" y="3337560"/>
            <a:ext cx="0" cy="182880"/>
          </a:xfrm>
          <a:prstGeom prst="line">
            <a:avLst/>
          </a:prstGeom>
          <a:noFill/>
          <a:ln w="12700">
            <a:solidFill>
              <a:srgbClr val="66757F"/>
            </a:solidFill>
            <a:prstDash val="solid"/>
          </a:ln>
        </p:spPr>
      </p:sp>
      <p:sp>
        <p:nvSpPr>
          <p:cNvPr id="19" name="Text 16"/>
          <p:cNvSpPr txBox="1"/>
          <p:nvPr/>
        </p:nvSpPr>
        <p:spPr>
          <a:xfrm>
            <a:off x="566928" y="329184"/>
            <a:ext cx="11064240" cy="566928"/>
          </a:xfrm>
          <a:prstGeom prst="rect">
            <a:avLst/>
          </a:prstGeom>
          <a:noFill/>
          <a:ln/>
        </p:spPr>
        <p:txBody>
          <a:bodyPr wrap="square" lIns="0" tIns="0" rIns="0" bIns="0" rtlCol="0" anchor="t"/>
          <a:lstStyle/>
          <a:p>
            <a:pPr indent="0" marL="0">
              <a:buNone/>
            </a:pPr>
            <a:r>
              <a:rPr lang="en-US" sz="2900" b="1" dirty="0">
                <a:solidFill>
                  <a:srgbClr val="FFFFFF"/>
                </a:solidFill>
                <a:latin typeface="Arial" pitchFamily="34" charset="0"/>
                <a:ea typeface="Arial" pitchFamily="34" charset="-122"/>
                <a:cs typeface="Arial" pitchFamily="34" charset="-120"/>
              </a:rPr>
              <a:t>Limitations and Future Work</a:t>
            </a:r>
            <a:endParaRPr lang="en-US" sz="2900" dirty="0"/>
          </a:p>
        </p:txBody>
      </p:sp>
      <p:sp>
        <p:nvSpPr>
          <p:cNvPr id="20" name="Shape 17"/>
          <p:cNvSpPr/>
          <p:nvPr/>
        </p:nvSpPr>
        <p:spPr>
          <a:xfrm>
            <a:off x="548640" y="1143000"/>
            <a:ext cx="5486400" cy="4663440"/>
          </a:xfrm>
          <a:prstGeom prst="roundRect">
            <a:avLst>
              <a:gd name="adj" fmla="val 1176"/>
            </a:avLst>
          </a:prstGeom>
          <a:solidFill>
            <a:srgbClr val="2F3A43"/>
          </a:solidFill>
          <a:ln w="12700">
            <a:solidFill>
              <a:srgbClr val="F0A030"/>
            </a:solidFill>
            <a:prstDash val="solid"/>
          </a:ln>
        </p:spPr>
      </p:sp>
      <p:sp>
        <p:nvSpPr>
          <p:cNvPr id="21" name="Shape 18"/>
          <p:cNvSpPr/>
          <p:nvPr/>
        </p:nvSpPr>
        <p:spPr>
          <a:xfrm>
            <a:off x="777240" y="1325880"/>
            <a:ext cx="1417320" cy="292608"/>
          </a:xfrm>
          <a:prstGeom prst="roundRect">
            <a:avLst>
              <a:gd name="adj" fmla="val 15625"/>
            </a:avLst>
          </a:prstGeom>
          <a:solidFill>
            <a:srgbClr val="F0A030"/>
          </a:solidFill>
          <a:ln w="12700">
            <a:solidFill>
              <a:srgbClr val="F0A030"/>
            </a:solidFill>
            <a:prstDash val="solid"/>
          </a:ln>
        </p:spPr>
      </p:sp>
      <p:sp>
        <p:nvSpPr>
          <p:cNvPr id="22" name="Text 19"/>
          <p:cNvSpPr txBox="1"/>
          <p:nvPr/>
        </p:nvSpPr>
        <p:spPr>
          <a:xfrm>
            <a:off x="777240" y="1325880"/>
            <a:ext cx="1417320" cy="292608"/>
          </a:xfrm>
          <a:prstGeom prst="rect">
            <a:avLst/>
          </a:prstGeom>
          <a:noFill/>
          <a:ln/>
        </p:spPr>
        <p:txBody>
          <a:bodyPr wrap="square" lIns="0" tIns="0" rIns="0" bIns="0" rtlCol="0" anchor="ctr"/>
          <a:lstStyle/>
          <a:p>
            <a:pPr algn="ctr" indent="0" marL="0">
              <a:buNone/>
            </a:pPr>
            <a:r>
              <a:rPr lang="en-US" sz="1100" b="1" dirty="0">
                <a:solidFill>
                  <a:srgbClr val="1F2830"/>
                </a:solidFill>
                <a:latin typeface="Arial" pitchFamily="34" charset="0"/>
                <a:ea typeface="Arial" pitchFamily="34" charset="-122"/>
                <a:cs typeface="Arial" pitchFamily="34" charset="-120"/>
              </a:rPr>
              <a:t>LIMITATIONS</a:t>
            </a:r>
            <a:endParaRPr lang="en-US" sz="1100" dirty="0"/>
          </a:p>
        </p:txBody>
      </p:sp>
      <p:sp>
        <p:nvSpPr>
          <p:cNvPr id="23" name="Shape 20"/>
          <p:cNvSpPr/>
          <p:nvPr/>
        </p:nvSpPr>
        <p:spPr>
          <a:xfrm>
            <a:off x="845820" y="2061972"/>
            <a:ext cx="137160" cy="137160"/>
          </a:xfrm>
          <a:prstGeom prst="ellipse">
            <a:avLst/>
          </a:prstGeom>
          <a:solidFill>
            <a:srgbClr val="F0A030"/>
          </a:solidFill>
          <a:ln w="12700">
            <a:solidFill>
              <a:srgbClr val="F0A030"/>
            </a:solidFill>
            <a:prstDash val="solid"/>
          </a:ln>
        </p:spPr>
      </p:sp>
      <p:sp>
        <p:nvSpPr>
          <p:cNvPr id="24" name="Text 21"/>
          <p:cNvSpPr txBox="1"/>
          <p:nvPr/>
        </p:nvSpPr>
        <p:spPr>
          <a:xfrm>
            <a:off x="1143000" y="1947672"/>
            <a:ext cx="4663440" cy="25603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One simulated district · 20 taxis</a:t>
            </a:r>
            <a:endParaRPr lang="en-US" sz="1200" dirty="0"/>
          </a:p>
        </p:txBody>
      </p:sp>
      <p:sp>
        <p:nvSpPr>
          <p:cNvPr id="25" name="Text 22"/>
          <p:cNvSpPr txBox="1"/>
          <p:nvPr/>
        </p:nvSpPr>
        <p:spPr>
          <a:xfrm>
            <a:off x="1143000" y="2185416"/>
            <a:ext cx="4663440" cy="256032"/>
          </a:xfrm>
          <a:prstGeom prst="rect">
            <a:avLst/>
          </a:prstGeom>
          <a:noFill/>
          <a:ln/>
        </p:spPr>
        <p:txBody>
          <a:bodyPr wrap="square" lIns="0" tIns="0" rIns="0" bIns="0" rtlCol="0" anchor="t"/>
          <a:lstStyle/>
          <a:p>
            <a:pPr indent="0" marL="0">
              <a:buNone/>
            </a:pPr>
            <a:r>
              <a:rPr lang="en-US" sz="1050" dirty="0">
                <a:solidFill>
                  <a:srgbClr val="AFBDC8"/>
                </a:solidFill>
                <a:latin typeface="Arial" pitchFamily="34" charset="0"/>
                <a:ea typeface="Arial" pitchFamily="34" charset="-122"/>
                <a:cs typeface="Arial" pitchFamily="34" charset="-120"/>
              </a:rPr>
              <a:t>scenario-dependent exposure</a:t>
            </a:r>
            <a:endParaRPr lang="en-US" sz="1050" dirty="0"/>
          </a:p>
        </p:txBody>
      </p:sp>
      <p:sp>
        <p:nvSpPr>
          <p:cNvPr id="26" name="Shape 23"/>
          <p:cNvSpPr/>
          <p:nvPr/>
        </p:nvSpPr>
        <p:spPr>
          <a:xfrm>
            <a:off x="845820" y="2683764"/>
            <a:ext cx="137160" cy="137160"/>
          </a:xfrm>
          <a:prstGeom prst="ellipse">
            <a:avLst/>
          </a:prstGeom>
          <a:solidFill>
            <a:srgbClr val="F0A030"/>
          </a:solidFill>
          <a:ln w="12700">
            <a:solidFill>
              <a:srgbClr val="F0A030"/>
            </a:solidFill>
            <a:prstDash val="solid"/>
          </a:ln>
        </p:spPr>
      </p:sp>
      <p:sp>
        <p:nvSpPr>
          <p:cNvPr id="27" name="Text 24"/>
          <p:cNvSpPr txBox="1"/>
          <p:nvPr/>
        </p:nvSpPr>
        <p:spPr>
          <a:xfrm>
            <a:off x="1143000" y="2569464"/>
            <a:ext cx="4663440" cy="25603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3 training seeds per model</a:t>
            </a:r>
            <a:endParaRPr lang="en-US" sz="1200" dirty="0"/>
          </a:p>
        </p:txBody>
      </p:sp>
      <p:sp>
        <p:nvSpPr>
          <p:cNvPr id="28" name="Text 25"/>
          <p:cNvSpPr txBox="1"/>
          <p:nvPr/>
        </p:nvSpPr>
        <p:spPr>
          <a:xfrm>
            <a:off x="1143000" y="2807208"/>
            <a:ext cx="4663440" cy="256032"/>
          </a:xfrm>
          <a:prstGeom prst="rect">
            <a:avLst/>
          </a:prstGeom>
          <a:noFill/>
          <a:ln/>
        </p:spPr>
        <p:txBody>
          <a:bodyPr wrap="square" lIns="0" tIns="0" rIns="0" bIns="0" rtlCol="0" anchor="t"/>
          <a:lstStyle/>
          <a:p>
            <a:pPr indent="0" marL="0">
              <a:buNone/>
            </a:pPr>
            <a:r>
              <a:rPr lang="en-US" sz="1050" dirty="0">
                <a:solidFill>
                  <a:srgbClr val="AFBDC8"/>
                </a:solidFill>
                <a:latin typeface="Arial" pitchFamily="34" charset="0"/>
                <a:ea typeface="Arial" pitchFamily="34" charset="-122"/>
                <a:cs typeface="Arial" pitchFamily="34" charset="-120"/>
              </a:rPr>
              <a:t>shows variation, not a distribution</a:t>
            </a:r>
            <a:endParaRPr lang="en-US" sz="1050" dirty="0"/>
          </a:p>
        </p:txBody>
      </p:sp>
      <p:sp>
        <p:nvSpPr>
          <p:cNvPr id="29" name="Shape 26"/>
          <p:cNvSpPr/>
          <p:nvPr/>
        </p:nvSpPr>
        <p:spPr>
          <a:xfrm>
            <a:off x="845820" y="3305556"/>
            <a:ext cx="137160" cy="137160"/>
          </a:xfrm>
          <a:prstGeom prst="ellipse">
            <a:avLst/>
          </a:prstGeom>
          <a:solidFill>
            <a:srgbClr val="F0A030"/>
          </a:solidFill>
          <a:ln w="12700">
            <a:solidFill>
              <a:srgbClr val="F0A030"/>
            </a:solidFill>
            <a:prstDash val="solid"/>
          </a:ln>
        </p:spPr>
      </p:sp>
      <p:sp>
        <p:nvSpPr>
          <p:cNvPr id="30" name="Text 27"/>
          <p:cNvSpPr txBox="1"/>
          <p:nvPr/>
        </p:nvSpPr>
        <p:spPr>
          <a:xfrm>
            <a:off x="1143000" y="3191256"/>
            <a:ext cx="4663440" cy="25603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Small local graph</a:t>
            </a:r>
            <a:endParaRPr lang="en-US" sz="1200" dirty="0"/>
          </a:p>
        </p:txBody>
      </p:sp>
      <p:sp>
        <p:nvSpPr>
          <p:cNvPr id="31" name="Text 28"/>
          <p:cNvSpPr txBox="1"/>
          <p:nvPr/>
        </p:nvSpPr>
        <p:spPr>
          <a:xfrm>
            <a:off x="1143000" y="3429000"/>
            <a:ext cx="4663440" cy="256032"/>
          </a:xfrm>
          <a:prstGeom prst="rect">
            <a:avLst/>
          </a:prstGeom>
          <a:noFill/>
          <a:ln/>
        </p:spPr>
        <p:txBody>
          <a:bodyPr wrap="square" lIns="0" tIns="0" rIns="0" bIns="0" rtlCol="0" anchor="t"/>
          <a:lstStyle/>
          <a:p>
            <a:pPr indent="0" marL="0">
              <a:buNone/>
            </a:pPr>
            <a:r>
              <a:rPr lang="en-US" sz="1050" dirty="0">
                <a:solidFill>
                  <a:srgbClr val="AFBDC8"/>
                </a:solidFill>
                <a:latin typeface="Arial" pitchFamily="34" charset="0"/>
                <a:ea typeface="Arial" pitchFamily="34" charset="-122"/>
                <a:cs typeface="Arial" pitchFamily="34" charset="-120"/>
              </a:rPr>
              <a:t>random and explanation sets overlap</a:t>
            </a:r>
            <a:endParaRPr lang="en-US" sz="1050" dirty="0"/>
          </a:p>
        </p:txBody>
      </p:sp>
      <p:sp>
        <p:nvSpPr>
          <p:cNvPr id="32" name="Shape 29"/>
          <p:cNvSpPr/>
          <p:nvPr/>
        </p:nvSpPr>
        <p:spPr>
          <a:xfrm>
            <a:off x="845820" y="3927348"/>
            <a:ext cx="137160" cy="137160"/>
          </a:xfrm>
          <a:prstGeom prst="ellipse">
            <a:avLst/>
          </a:prstGeom>
          <a:solidFill>
            <a:srgbClr val="F0A030"/>
          </a:solidFill>
          <a:ln w="12700">
            <a:solidFill>
              <a:srgbClr val="F0A030"/>
            </a:solidFill>
            <a:prstDash val="solid"/>
          </a:ln>
        </p:spPr>
      </p:sp>
      <p:sp>
        <p:nvSpPr>
          <p:cNvPr id="33" name="Text 30"/>
          <p:cNvSpPr txBox="1"/>
          <p:nvPr/>
        </p:nvSpPr>
        <p:spPr>
          <a:xfrm>
            <a:off x="1143000" y="3813048"/>
            <a:ext cx="4663440" cy="25603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LOO is a positive control</a:t>
            </a:r>
            <a:endParaRPr lang="en-US" sz="1200" dirty="0"/>
          </a:p>
        </p:txBody>
      </p:sp>
      <p:sp>
        <p:nvSpPr>
          <p:cNvPr id="34" name="Text 31"/>
          <p:cNvSpPr txBox="1"/>
          <p:nvPr/>
        </p:nvSpPr>
        <p:spPr>
          <a:xfrm>
            <a:off x="1143000" y="4050792"/>
            <a:ext cx="4663440" cy="256032"/>
          </a:xfrm>
          <a:prstGeom prst="rect">
            <a:avLst/>
          </a:prstGeom>
          <a:noFill/>
          <a:ln/>
        </p:spPr>
        <p:txBody>
          <a:bodyPr wrap="square" lIns="0" tIns="0" rIns="0" bIns="0" rtlCol="0" anchor="t"/>
          <a:lstStyle/>
          <a:p>
            <a:pPr indent="0" marL="0">
              <a:buNone/>
            </a:pPr>
            <a:r>
              <a:rPr lang="en-US" sz="1050" dirty="0">
                <a:solidFill>
                  <a:srgbClr val="AFBDC8"/>
                </a:solidFill>
                <a:latin typeface="Arial" pitchFamily="34" charset="0"/>
                <a:ea typeface="Arial" pitchFamily="34" charset="-122"/>
                <a:cs typeface="Arial" pitchFamily="34" charset="-120"/>
              </a:rPr>
              <a:t>not a ground-truth explanation</a:t>
            </a:r>
            <a:endParaRPr lang="en-US" sz="1050" dirty="0"/>
          </a:p>
        </p:txBody>
      </p:sp>
      <p:sp>
        <p:nvSpPr>
          <p:cNvPr id="35" name="Shape 32"/>
          <p:cNvSpPr/>
          <p:nvPr/>
        </p:nvSpPr>
        <p:spPr>
          <a:xfrm>
            <a:off x="845820" y="4549140"/>
            <a:ext cx="137160" cy="137160"/>
          </a:xfrm>
          <a:prstGeom prst="ellipse">
            <a:avLst/>
          </a:prstGeom>
          <a:solidFill>
            <a:srgbClr val="F0A030"/>
          </a:solidFill>
          <a:ln w="12700">
            <a:solidFill>
              <a:srgbClr val="F0A030"/>
            </a:solidFill>
            <a:prstDash val="solid"/>
          </a:ln>
        </p:spPr>
      </p:sp>
      <p:sp>
        <p:nvSpPr>
          <p:cNvPr id="36" name="Text 33"/>
          <p:cNvSpPr txBox="1"/>
          <p:nvPr/>
        </p:nvSpPr>
        <p:spPr>
          <a:xfrm>
            <a:off x="1143000" y="4434840"/>
            <a:ext cx="4663440" cy="25603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Fixed freezes only</a:t>
            </a:r>
            <a:endParaRPr lang="en-US" sz="1200" dirty="0"/>
          </a:p>
        </p:txBody>
      </p:sp>
      <p:sp>
        <p:nvSpPr>
          <p:cNvPr id="37" name="Text 34"/>
          <p:cNvSpPr txBox="1"/>
          <p:nvPr/>
        </p:nvSpPr>
        <p:spPr>
          <a:xfrm>
            <a:off x="1143000" y="4672584"/>
            <a:ext cx="4663440" cy="256032"/>
          </a:xfrm>
          <a:prstGeom prst="rect">
            <a:avLst/>
          </a:prstGeom>
          <a:noFill/>
          <a:ln/>
        </p:spPr>
        <p:txBody>
          <a:bodyPr wrap="square" lIns="0" tIns="0" rIns="0" bIns="0" rtlCol="0" anchor="t"/>
          <a:lstStyle/>
          <a:p>
            <a:pPr indent="0" marL="0">
              <a:buNone/>
            </a:pPr>
            <a:r>
              <a:rPr lang="en-US" sz="1050" dirty="0">
                <a:solidFill>
                  <a:srgbClr val="AFBDC8"/>
                </a:solidFill>
                <a:latin typeface="Arial" pitchFamily="34" charset="0"/>
                <a:ea typeface="Arial" pitchFamily="34" charset="-122"/>
                <a:cs typeface="Arial" pitchFamily="34" charset="-120"/>
              </a:rPr>
              <a:t>no delay or partial failure</a:t>
            </a:r>
            <a:endParaRPr lang="en-US" sz="1050" dirty="0"/>
          </a:p>
        </p:txBody>
      </p:sp>
      <p:sp>
        <p:nvSpPr>
          <p:cNvPr id="38" name="Shape 35"/>
          <p:cNvSpPr/>
          <p:nvPr/>
        </p:nvSpPr>
        <p:spPr>
          <a:xfrm>
            <a:off x="845820" y="5170932"/>
            <a:ext cx="137160" cy="137160"/>
          </a:xfrm>
          <a:prstGeom prst="ellipse">
            <a:avLst/>
          </a:prstGeom>
          <a:solidFill>
            <a:srgbClr val="F0A030"/>
          </a:solidFill>
          <a:ln w="12700">
            <a:solidFill>
              <a:srgbClr val="F0A030"/>
            </a:solidFill>
            <a:prstDash val="solid"/>
          </a:ln>
        </p:spPr>
      </p:sp>
      <p:sp>
        <p:nvSpPr>
          <p:cNvPr id="39" name="Text 36"/>
          <p:cNvSpPr txBox="1"/>
          <p:nvPr/>
        </p:nvSpPr>
        <p:spPr>
          <a:xfrm>
            <a:off x="1143000" y="5056632"/>
            <a:ext cx="4663440" cy="25603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Different training budgets</a:t>
            </a:r>
            <a:endParaRPr lang="en-US" sz="1200" dirty="0"/>
          </a:p>
        </p:txBody>
      </p:sp>
      <p:sp>
        <p:nvSpPr>
          <p:cNvPr id="40" name="Text 37"/>
          <p:cNvSpPr txBox="1"/>
          <p:nvPr/>
        </p:nvSpPr>
        <p:spPr>
          <a:xfrm>
            <a:off x="1143000" y="5294376"/>
            <a:ext cx="4663440" cy="256032"/>
          </a:xfrm>
          <a:prstGeom prst="rect">
            <a:avLst/>
          </a:prstGeom>
          <a:noFill/>
          <a:ln/>
        </p:spPr>
        <p:txBody>
          <a:bodyPr wrap="square" lIns="0" tIns="0" rIns="0" bIns="0" rtlCol="0" anchor="t"/>
          <a:lstStyle/>
          <a:p>
            <a:pPr indent="0" marL="0">
              <a:buNone/>
            </a:pPr>
            <a:r>
              <a:rPr lang="en-US" sz="1050" dirty="0">
                <a:solidFill>
                  <a:srgbClr val="AFBDC8"/>
                </a:solidFill>
                <a:latin typeface="Arial" pitchFamily="34" charset="0"/>
                <a:ea typeface="Arial" pitchFamily="34" charset="-122"/>
                <a:cs typeface="Arial" pitchFamily="34" charset="-120"/>
              </a:rPr>
              <a:t>H5 stays descriptive</a:t>
            </a:r>
            <a:endParaRPr lang="en-US" sz="1050" dirty="0"/>
          </a:p>
        </p:txBody>
      </p:sp>
      <p:sp>
        <p:nvSpPr>
          <p:cNvPr id="41" name="Shape 38"/>
          <p:cNvSpPr/>
          <p:nvPr/>
        </p:nvSpPr>
        <p:spPr>
          <a:xfrm>
            <a:off x="6153912" y="1143000"/>
            <a:ext cx="5486400" cy="4663440"/>
          </a:xfrm>
          <a:prstGeom prst="roundRect">
            <a:avLst>
              <a:gd name="adj" fmla="val 1176"/>
            </a:avLst>
          </a:prstGeom>
          <a:solidFill>
            <a:srgbClr val="2F3A43"/>
          </a:solidFill>
          <a:ln w="12700">
            <a:solidFill>
              <a:srgbClr val="35D6E8"/>
            </a:solidFill>
            <a:prstDash val="solid"/>
          </a:ln>
        </p:spPr>
      </p:sp>
      <p:sp>
        <p:nvSpPr>
          <p:cNvPr id="42" name="Shape 39"/>
          <p:cNvSpPr/>
          <p:nvPr/>
        </p:nvSpPr>
        <p:spPr>
          <a:xfrm>
            <a:off x="6382512" y="1325880"/>
            <a:ext cx="1463040" cy="292608"/>
          </a:xfrm>
          <a:prstGeom prst="roundRect">
            <a:avLst>
              <a:gd name="adj" fmla="val 15625"/>
            </a:avLst>
          </a:prstGeom>
          <a:solidFill>
            <a:srgbClr val="35D6E8"/>
          </a:solidFill>
          <a:ln w="12700">
            <a:solidFill>
              <a:srgbClr val="35D6E8"/>
            </a:solidFill>
            <a:prstDash val="solid"/>
          </a:ln>
        </p:spPr>
      </p:sp>
      <p:sp>
        <p:nvSpPr>
          <p:cNvPr id="43" name="Text 40"/>
          <p:cNvSpPr txBox="1"/>
          <p:nvPr/>
        </p:nvSpPr>
        <p:spPr>
          <a:xfrm>
            <a:off x="6382512" y="1325880"/>
            <a:ext cx="1463040" cy="292608"/>
          </a:xfrm>
          <a:prstGeom prst="rect">
            <a:avLst/>
          </a:prstGeom>
          <a:noFill/>
          <a:ln/>
        </p:spPr>
        <p:txBody>
          <a:bodyPr wrap="square" lIns="0" tIns="0" rIns="0" bIns="0" rtlCol="0" anchor="ctr"/>
          <a:lstStyle/>
          <a:p>
            <a:pPr algn="ctr" indent="0" marL="0">
              <a:buNone/>
            </a:pPr>
            <a:r>
              <a:rPr lang="en-US" sz="1100" b="1" dirty="0">
                <a:solidFill>
                  <a:srgbClr val="1F2830"/>
                </a:solidFill>
                <a:latin typeface="Arial" pitchFamily="34" charset="0"/>
                <a:ea typeface="Arial" pitchFamily="34" charset="-122"/>
                <a:cs typeface="Arial" pitchFamily="34" charset="-120"/>
              </a:rPr>
              <a:t>FUTURE WORK</a:t>
            </a:r>
            <a:endParaRPr lang="en-US" sz="1100" dirty="0"/>
          </a:p>
        </p:txBody>
      </p:sp>
      <p:sp>
        <p:nvSpPr>
          <p:cNvPr id="44" name="Shape 41"/>
          <p:cNvSpPr/>
          <p:nvPr/>
        </p:nvSpPr>
        <p:spPr>
          <a:xfrm>
            <a:off x="6382512" y="1965960"/>
            <a:ext cx="5029200" cy="1143000"/>
          </a:xfrm>
          <a:prstGeom prst="roundRect">
            <a:avLst>
              <a:gd name="adj" fmla="val 4800"/>
            </a:avLst>
          </a:prstGeom>
          <a:solidFill>
            <a:srgbClr val="44515C"/>
          </a:solidFill>
          <a:ln w="12700">
            <a:solidFill>
              <a:srgbClr val="35D6E8"/>
            </a:solidFill>
            <a:prstDash val="solid"/>
          </a:ln>
        </p:spPr>
      </p:sp>
      <p:sp>
        <p:nvSpPr>
          <p:cNvPr id="45" name="Text 42"/>
          <p:cNvSpPr txBox="1"/>
          <p:nvPr/>
        </p:nvSpPr>
        <p:spPr>
          <a:xfrm>
            <a:off x="6583680" y="2112264"/>
            <a:ext cx="1737360" cy="274320"/>
          </a:xfrm>
          <a:prstGeom prst="rect">
            <a:avLst/>
          </a:prstGeom>
          <a:noFill/>
          <a:ln/>
        </p:spPr>
        <p:txBody>
          <a:bodyPr wrap="square" lIns="0" tIns="0" rIns="0" bIns="0" rtlCol="0" anchor="t"/>
          <a:lstStyle/>
          <a:p>
            <a:pPr indent="0" marL="0">
              <a:buNone/>
            </a:pPr>
            <a:r>
              <a:rPr lang="en-US" sz="1300" b="1" dirty="0">
                <a:solidFill>
                  <a:srgbClr val="35D6E8"/>
                </a:solidFill>
                <a:latin typeface="Arial" pitchFamily="34" charset="0"/>
                <a:ea typeface="Arial" pitchFamily="34" charset="-122"/>
                <a:cs typeface="Arial" pitchFamily="34" charset="-120"/>
              </a:rPr>
              <a:t>Algorithmic</a:t>
            </a:r>
            <a:endParaRPr lang="en-US" sz="1300" dirty="0"/>
          </a:p>
        </p:txBody>
      </p:sp>
      <p:sp>
        <p:nvSpPr>
          <p:cNvPr id="46" name="Text 43"/>
          <p:cNvSpPr txBox="1"/>
          <p:nvPr/>
        </p:nvSpPr>
        <p:spPr>
          <a:xfrm>
            <a:off x="6583680" y="2423160"/>
            <a:ext cx="4617720" cy="457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Reward explanation stability explicitly, not only task return</a:t>
            </a:r>
            <a:endParaRPr lang="en-US" sz="1150" dirty="0"/>
          </a:p>
        </p:txBody>
      </p:sp>
      <p:sp>
        <p:nvSpPr>
          <p:cNvPr id="47" name="Shape 44"/>
          <p:cNvSpPr/>
          <p:nvPr/>
        </p:nvSpPr>
        <p:spPr>
          <a:xfrm>
            <a:off x="8485632" y="2139696"/>
            <a:ext cx="128016" cy="128016"/>
          </a:xfrm>
          <a:prstGeom prst="ellipse">
            <a:avLst/>
          </a:prstGeom>
          <a:solidFill>
            <a:srgbClr val="35D6E8"/>
          </a:solidFill>
          <a:ln w="12700">
            <a:solidFill>
              <a:srgbClr val="35D6E8"/>
            </a:solidFill>
            <a:prstDash val="solid"/>
          </a:ln>
        </p:spPr>
      </p:sp>
      <p:sp>
        <p:nvSpPr>
          <p:cNvPr id="48" name="Shape 45"/>
          <p:cNvSpPr/>
          <p:nvPr/>
        </p:nvSpPr>
        <p:spPr>
          <a:xfrm>
            <a:off x="8549640" y="2203704"/>
            <a:ext cx="658368" cy="0"/>
          </a:xfrm>
          <a:prstGeom prst="line">
            <a:avLst/>
          </a:prstGeom>
          <a:noFill/>
          <a:ln w="12700">
            <a:solidFill>
              <a:srgbClr val="35D6E8"/>
            </a:solidFill>
            <a:prstDash val="solid"/>
          </a:ln>
        </p:spPr>
      </p:sp>
      <p:sp>
        <p:nvSpPr>
          <p:cNvPr id="49" name="Shape 46"/>
          <p:cNvSpPr/>
          <p:nvPr/>
        </p:nvSpPr>
        <p:spPr>
          <a:xfrm>
            <a:off x="9144000" y="2139696"/>
            <a:ext cx="128016" cy="128016"/>
          </a:xfrm>
          <a:prstGeom prst="ellipse">
            <a:avLst/>
          </a:prstGeom>
          <a:solidFill>
            <a:srgbClr val="35D6E8"/>
          </a:solidFill>
          <a:ln w="12700">
            <a:solidFill>
              <a:srgbClr val="35D6E8"/>
            </a:solidFill>
            <a:prstDash val="solid"/>
          </a:ln>
        </p:spPr>
      </p:sp>
      <p:sp>
        <p:nvSpPr>
          <p:cNvPr id="50" name="Shape 47"/>
          <p:cNvSpPr/>
          <p:nvPr/>
        </p:nvSpPr>
        <p:spPr>
          <a:xfrm>
            <a:off x="9208008" y="2203704"/>
            <a:ext cx="658368" cy="0"/>
          </a:xfrm>
          <a:prstGeom prst="line">
            <a:avLst/>
          </a:prstGeom>
          <a:noFill/>
          <a:ln w="12700">
            <a:solidFill>
              <a:srgbClr val="35D6E8"/>
            </a:solidFill>
            <a:prstDash val="dash"/>
          </a:ln>
        </p:spPr>
      </p:sp>
      <p:sp>
        <p:nvSpPr>
          <p:cNvPr id="51" name="Shape 48"/>
          <p:cNvSpPr/>
          <p:nvPr/>
        </p:nvSpPr>
        <p:spPr>
          <a:xfrm>
            <a:off x="9802368" y="2139696"/>
            <a:ext cx="128016" cy="128016"/>
          </a:xfrm>
          <a:prstGeom prst="ellipse">
            <a:avLst/>
          </a:prstGeom>
          <a:solidFill>
            <a:srgbClr val="35D6E8"/>
          </a:solidFill>
          <a:ln w="12700">
            <a:solidFill>
              <a:srgbClr val="35D6E8"/>
            </a:solidFill>
            <a:prstDash val="solid"/>
          </a:ln>
        </p:spPr>
      </p:sp>
      <p:sp>
        <p:nvSpPr>
          <p:cNvPr id="52" name="Shape 49"/>
          <p:cNvSpPr/>
          <p:nvPr/>
        </p:nvSpPr>
        <p:spPr>
          <a:xfrm>
            <a:off x="9866376" y="2203704"/>
            <a:ext cx="658368" cy="0"/>
          </a:xfrm>
          <a:prstGeom prst="line">
            <a:avLst/>
          </a:prstGeom>
          <a:noFill/>
          <a:ln w="12700">
            <a:solidFill>
              <a:srgbClr val="35D6E8"/>
            </a:solidFill>
            <a:prstDash val="solid"/>
          </a:ln>
        </p:spPr>
      </p:sp>
      <p:sp>
        <p:nvSpPr>
          <p:cNvPr id="53" name="Shape 50"/>
          <p:cNvSpPr/>
          <p:nvPr/>
        </p:nvSpPr>
        <p:spPr>
          <a:xfrm>
            <a:off x="10460736" y="2139696"/>
            <a:ext cx="128016" cy="128016"/>
          </a:xfrm>
          <a:prstGeom prst="ellipse">
            <a:avLst/>
          </a:prstGeom>
          <a:solidFill>
            <a:srgbClr val="35D6E8"/>
          </a:solidFill>
          <a:ln w="12700">
            <a:solidFill>
              <a:srgbClr val="35D6E8"/>
            </a:solidFill>
            <a:prstDash val="solid"/>
          </a:ln>
        </p:spPr>
      </p:sp>
      <p:sp>
        <p:nvSpPr>
          <p:cNvPr id="54" name="Shape 51"/>
          <p:cNvSpPr/>
          <p:nvPr/>
        </p:nvSpPr>
        <p:spPr>
          <a:xfrm>
            <a:off x="6382512" y="3264408"/>
            <a:ext cx="5029200" cy="1143000"/>
          </a:xfrm>
          <a:prstGeom prst="roundRect">
            <a:avLst>
              <a:gd name="adj" fmla="val 4800"/>
            </a:avLst>
          </a:prstGeom>
          <a:solidFill>
            <a:srgbClr val="44515C"/>
          </a:solidFill>
          <a:ln w="12700">
            <a:solidFill>
              <a:srgbClr val="5FC98B"/>
            </a:solidFill>
            <a:prstDash val="solid"/>
          </a:ln>
        </p:spPr>
      </p:sp>
      <p:sp>
        <p:nvSpPr>
          <p:cNvPr id="55" name="Text 52"/>
          <p:cNvSpPr txBox="1"/>
          <p:nvPr/>
        </p:nvSpPr>
        <p:spPr>
          <a:xfrm>
            <a:off x="6583680" y="3410712"/>
            <a:ext cx="1737360" cy="274320"/>
          </a:xfrm>
          <a:prstGeom prst="rect">
            <a:avLst/>
          </a:prstGeom>
          <a:noFill/>
          <a:ln/>
        </p:spPr>
        <p:txBody>
          <a:bodyPr wrap="square" lIns="0" tIns="0" rIns="0" bIns="0" rtlCol="0" anchor="t"/>
          <a:lstStyle/>
          <a:p>
            <a:pPr indent="0" marL="0">
              <a:buNone/>
            </a:pPr>
            <a:r>
              <a:rPr lang="en-US" sz="1300" b="1" dirty="0">
                <a:solidFill>
                  <a:srgbClr val="5FC98B"/>
                </a:solidFill>
                <a:latin typeface="Arial" pitchFamily="34" charset="0"/>
                <a:ea typeface="Arial" pitchFamily="34" charset="-122"/>
                <a:cs typeface="Arial" pitchFamily="34" charset="-120"/>
              </a:rPr>
              <a:t>Validation</a:t>
            </a:r>
            <a:endParaRPr lang="en-US" sz="1300" dirty="0"/>
          </a:p>
        </p:txBody>
      </p:sp>
      <p:sp>
        <p:nvSpPr>
          <p:cNvPr id="56" name="Text 53"/>
          <p:cNvSpPr txBox="1"/>
          <p:nvPr/>
        </p:nvSpPr>
        <p:spPr>
          <a:xfrm>
            <a:off x="6583680" y="3721608"/>
            <a:ext cx="4617720" cy="457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More seeds, road networks, calibrated random loss</a:t>
            </a:r>
            <a:endParaRPr lang="en-US" sz="1150" dirty="0"/>
          </a:p>
        </p:txBody>
      </p:sp>
      <p:sp>
        <p:nvSpPr>
          <p:cNvPr id="57" name="Shape 54"/>
          <p:cNvSpPr/>
          <p:nvPr/>
        </p:nvSpPr>
        <p:spPr>
          <a:xfrm>
            <a:off x="8485632" y="3438144"/>
            <a:ext cx="128016" cy="128016"/>
          </a:xfrm>
          <a:prstGeom prst="ellipse">
            <a:avLst/>
          </a:prstGeom>
          <a:solidFill>
            <a:srgbClr val="5FC98B"/>
          </a:solidFill>
          <a:ln w="12700">
            <a:solidFill>
              <a:srgbClr val="5FC98B"/>
            </a:solidFill>
            <a:prstDash val="solid"/>
          </a:ln>
        </p:spPr>
      </p:sp>
      <p:sp>
        <p:nvSpPr>
          <p:cNvPr id="58" name="Shape 55"/>
          <p:cNvSpPr/>
          <p:nvPr/>
        </p:nvSpPr>
        <p:spPr>
          <a:xfrm>
            <a:off x="8549640" y="3502152"/>
            <a:ext cx="658368" cy="0"/>
          </a:xfrm>
          <a:prstGeom prst="line">
            <a:avLst/>
          </a:prstGeom>
          <a:noFill/>
          <a:ln w="12700">
            <a:solidFill>
              <a:srgbClr val="5FC98B"/>
            </a:solidFill>
            <a:prstDash val="solid"/>
          </a:ln>
        </p:spPr>
      </p:sp>
      <p:sp>
        <p:nvSpPr>
          <p:cNvPr id="59" name="Shape 56"/>
          <p:cNvSpPr/>
          <p:nvPr/>
        </p:nvSpPr>
        <p:spPr>
          <a:xfrm>
            <a:off x="9144000" y="3438144"/>
            <a:ext cx="128016" cy="128016"/>
          </a:xfrm>
          <a:prstGeom prst="ellipse">
            <a:avLst/>
          </a:prstGeom>
          <a:solidFill>
            <a:srgbClr val="5FC98B"/>
          </a:solidFill>
          <a:ln w="12700">
            <a:solidFill>
              <a:srgbClr val="5FC98B"/>
            </a:solidFill>
            <a:prstDash val="solid"/>
          </a:ln>
        </p:spPr>
      </p:sp>
      <p:sp>
        <p:nvSpPr>
          <p:cNvPr id="60" name="Shape 57"/>
          <p:cNvSpPr/>
          <p:nvPr/>
        </p:nvSpPr>
        <p:spPr>
          <a:xfrm>
            <a:off x="9208008" y="3502152"/>
            <a:ext cx="658368" cy="0"/>
          </a:xfrm>
          <a:prstGeom prst="line">
            <a:avLst/>
          </a:prstGeom>
          <a:noFill/>
          <a:ln w="12700">
            <a:solidFill>
              <a:srgbClr val="5FC98B"/>
            </a:solidFill>
            <a:prstDash val="dash"/>
          </a:ln>
        </p:spPr>
      </p:sp>
      <p:sp>
        <p:nvSpPr>
          <p:cNvPr id="61" name="Shape 58"/>
          <p:cNvSpPr/>
          <p:nvPr/>
        </p:nvSpPr>
        <p:spPr>
          <a:xfrm>
            <a:off x="9802368" y="3438144"/>
            <a:ext cx="128016" cy="128016"/>
          </a:xfrm>
          <a:prstGeom prst="ellipse">
            <a:avLst/>
          </a:prstGeom>
          <a:solidFill>
            <a:srgbClr val="5FC98B"/>
          </a:solidFill>
          <a:ln w="12700">
            <a:solidFill>
              <a:srgbClr val="5FC98B"/>
            </a:solidFill>
            <a:prstDash val="solid"/>
          </a:ln>
        </p:spPr>
      </p:sp>
      <p:sp>
        <p:nvSpPr>
          <p:cNvPr id="62" name="Shape 59"/>
          <p:cNvSpPr/>
          <p:nvPr/>
        </p:nvSpPr>
        <p:spPr>
          <a:xfrm>
            <a:off x="9866376" y="3502152"/>
            <a:ext cx="658368" cy="0"/>
          </a:xfrm>
          <a:prstGeom prst="line">
            <a:avLst/>
          </a:prstGeom>
          <a:noFill/>
          <a:ln w="12700">
            <a:solidFill>
              <a:srgbClr val="5FC98B"/>
            </a:solidFill>
            <a:prstDash val="solid"/>
          </a:ln>
        </p:spPr>
      </p:sp>
      <p:sp>
        <p:nvSpPr>
          <p:cNvPr id="63" name="Shape 60"/>
          <p:cNvSpPr/>
          <p:nvPr/>
        </p:nvSpPr>
        <p:spPr>
          <a:xfrm>
            <a:off x="10460736" y="3438144"/>
            <a:ext cx="128016" cy="128016"/>
          </a:xfrm>
          <a:prstGeom prst="ellipse">
            <a:avLst/>
          </a:prstGeom>
          <a:solidFill>
            <a:srgbClr val="5FC98B"/>
          </a:solidFill>
          <a:ln w="12700">
            <a:solidFill>
              <a:srgbClr val="5FC98B"/>
            </a:solidFill>
            <a:prstDash val="solid"/>
          </a:ln>
        </p:spPr>
      </p:sp>
      <p:sp>
        <p:nvSpPr>
          <p:cNvPr id="64" name="Shape 61"/>
          <p:cNvSpPr/>
          <p:nvPr/>
        </p:nvSpPr>
        <p:spPr>
          <a:xfrm>
            <a:off x="6382512" y="4562856"/>
            <a:ext cx="5029200" cy="1143000"/>
          </a:xfrm>
          <a:prstGeom prst="roundRect">
            <a:avLst>
              <a:gd name="adj" fmla="val 4800"/>
            </a:avLst>
          </a:prstGeom>
          <a:solidFill>
            <a:srgbClr val="44515C"/>
          </a:solidFill>
          <a:ln w="12700">
            <a:solidFill>
              <a:srgbClr val="F0A030"/>
            </a:solidFill>
            <a:prstDash val="solid"/>
          </a:ln>
        </p:spPr>
      </p:sp>
      <p:sp>
        <p:nvSpPr>
          <p:cNvPr id="65" name="Text 62"/>
          <p:cNvSpPr txBox="1"/>
          <p:nvPr/>
        </p:nvSpPr>
        <p:spPr>
          <a:xfrm>
            <a:off x="6583680" y="4709160"/>
            <a:ext cx="1737360" cy="274320"/>
          </a:xfrm>
          <a:prstGeom prst="rect">
            <a:avLst/>
          </a:prstGeom>
          <a:noFill/>
          <a:ln/>
        </p:spPr>
        <p:txBody>
          <a:bodyPr wrap="square" lIns="0" tIns="0" rIns="0" bIns="0" rtlCol="0" anchor="t"/>
          <a:lstStyle/>
          <a:p>
            <a:pPr indent="0" marL="0">
              <a:buNone/>
            </a:pPr>
            <a:r>
              <a:rPr lang="en-US" sz="1300" b="1" dirty="0">
                <a:solidFill>
                  <a:srgbClr val="F0A030"/>
                </a:solidFill>
                <a:latin typeface="Arial" pitchFamily="34" charset="0"/>
                <a:ea typeface="Arial" pitchFamily="34" charset="-122"/>
                <a:cs typeface="Arial" pitchFamily="34" charset="-120"/>
              </a:rPr>
              <a:t>Human factors</a:t>
            </a:r>
            <a:endParaRPr lang="en-US" sz="1300" dirty="0"/>
          </a:p>
        </p:txBody>
      </p:sp>
      <p:sp>
        <p:nvSpPr>
          <p:cNvPr id="66" name="Text 63"/>
          <p:cNvSpPr txBox="1"/>
          <p:nvPr/>
        </p:nvSpPr>
        <p:spPr>
          <a:xfrm>
            <a:off x="6583680" y="5020056"/>
            <a:ext cx="4617720" cy="457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Do freshness warnings change how operators read the map?</a:t>
            </a:r>
            <a:endParaRPr lang="en-US" sz="1150" dirty="0"/>
          </a:p>
        </p:txBody>
      </p:sp>
      <p:sp>
        <p:nvSpPr>
          <p:cNvPr id="67" name="Shape 64"/>
          <p:cNvSpPr/>
          <p:nvPr/>
        </p:nvSpPr>
        <p:spPr>
          <a:xfrm>
            <a:off x="8485632" y="4736592"/>
            <a:ext cx="128016" cy="128016"/>
          </a:xfrm>
          <a:prstGeom prst="ellipse">
            <a:avLst/>
          </a:prstGeom>
          <a:solidFill>
            <a:srgbClr val="F0A030"/>
          </a:solidFill>
          <a:ln w="12700">
            <a:solidFill>
              <a:srgbClr val="F0A030"/>
            </a:solidFill>
            <a:prstDash val="solid"/>
          </a:ln>
        </p:spPr>
      </p:sp>
      <p:sp>
        <p:nvSpPr>
          <p:cNvPr id="68" name="Shape 65"/>
          <p:cNvSpPr/>
          <p:nvPr/>
        </p:nvSpPr>
        <p:spPr>
          <a:xfrm>
            <a:off x="8549640" y="4800600"/>
            <a:ext cx="658368" cy="0"/>
          </a:xfrm>
          <a:prstGeom prst="line">
            <a:avLst/>
          </a:prstGeom>
          <a:noFill/>
          <a:ln w="12700">
            <a:solidFill>
              <a:srgbClr val="F0A030"/>
            </a:solidFill>
            <a:prstDash val="solid"/>
          </a:ln>
        </p:spPr>
      </p:sp>
      <p:sp>
        <p:nvSpPr>
          <p:cNvPr id="69" name="Shape 66"/>
          <p:cNvSpPr/>
          <p:nvPr/>
        </p:nvSpPr>
        <p:spPr>
          <a:xfrm>
            <a:off x="9144000" y="4736592"/>
            <a:ext cx="128016" cy="128016"/>
          </a:xfrm>
          <a:prstGeom prst="ellipse">
            <a:avLst/>
          </a:prstGeom>
          <a:solidFill>
            <a:srgbClr val="F0A030"/>
          </a:solidFill>
          <a:ln w="12700">
            <a:solidFill>
              <a:srgbClr val="F0A030"/>
            </a:solidFill>
            <a:prstDash val="solid"/>
          </a:ln>
        </p:spPr>
      </p:sp>
      <p:sp>
        <p:nvSpPr>
          <p:cNvPr id="70" name="Shape 67"/>
          <p:cNvSpPr/>
          <p:nvPr/>
        </p:nvSpPr>
        <p:spPr>
          <a:xfrm>
            <a:off x="9208008" y="4800600"/>
            <a:ext cx="658368" cy="0"/>
          </a:xfrm>
          <a:prstGeom prst="line">
            <a:avLst/>
          </a:prstGeom>
          <a:noFill/>
          <a:ln w="12700">
            <a:solidFill>
              <a:srgbClr val="F0A030"/>
            </a:solidFill>
            <a:prstDash val="dash"/>
          </a:ln>
        </p:spPr>
      </p:sp>
      <p:sp>
        <p:nvSpPr>
          <p:cNvPr id="71" name="Shape 68"/>
          <p:cNvSpPr/>
          <p:nvPr/>
        </p:nvSpPr>
        <p:spPr>
          <a:xfrm>
            <a:off x="9802368" y="4736592"/>
            <a:ext cx="128016" cy="128016"/>
          </a:xfrm>
          <a:prstGeom prst="ellipse">
            <a:avLst/>
          </a:prstGeom>
          <a:solidFill>
            <a:srgbClr val="F0A030"/>
          </a:solidFill>
          <a:ln w="12700">
            <a:solidFill>
              <a:srgbClr val="F0A030"/>
            </a:solidFill>
            <a:prstDash val="solid"/>
          </a:ln>
        </p:spPr>
      </p:sp>
      <p:sp>
        <p:nvSpPr>
          <p:cNvPr id="72" name="Shape 69"/>
          <p:cNvSpPr/>
          <p:nvPr/>
        </p:nvSpPr>
        <p:spPr>
          <a:xfrm>
            <a:off x="9866376" y="4800600"/>
            <a:ext cx="658368" cy="0"/>
          </a:xfrm>
          <a:prstGeom prst="line">
            <a:avLst/>
          </a:prstGeom>
          <a:noFill/>
          <a:ln w="12700">
            <a:solidFill>
              <a:srgbClr val="F0A030"/>
            </a:solidFill>
            <a:prstDash val="solid"/>
          </a:ln>
        </p:spPr>
      </p:sp>
      <p:sp>
        <p:nvSpPr>
          <p:cNvPr id="73" name="Shape 70"/>
          <p:cNvSpPr/>
          <p:nvPr/>
        </p:nvSpPr>
        <p:spPr>
          <a:xfrm>
            <a:off x="10460736" y="4736592"/>
            <a:ext cx="128016" cy="128016"/>
          </a:xfrm>
          <a:prstGeom prst="ellipse">
            <a:avLst/>
          </a:prstGeom>
          <a:solidFill>
            <a:srgbClr val="F0A030"/>
          </a:solidFill>
          <a:ln w="12700">
            <a:solidFill>
              <a:srgbClr val="F0A030"/>
            </a:solidFill>
            <a:prstDash val="solid"/>
          </a:ln>
        </p:spPr>
      </p:sp>
      <p:sp>
        <p:nvSpPr>
          <p:cNvPr id="74" name="Text 71"/>
          <p:cNvSpPr txBox="1"/>
          <p:nvPr/>
        </p:nvSpPr>
        <p:spPr>
          <a:xfrm>
            <a:off x="548640" y="6035040"/>
            <a:ext cx="11091672" cy="320040"/>
          </a:xfrm>
          <a:prstGeom prst="rect">
            <a:avLst/>
          </a:prstGeom>
          <a:noFill/>
          <a:ln/>
        </p:spPr>
        <p:txBody>
          <a:bodyPr wrap="square" lIns="0" tIns="0" rIns="0" bIns="0" rtlCol="0" anchor="t"/>
          <a:lstStyle/>
          <a:p>
            <a:pPr algn="ctr" indent="0" marL="0">
              <a:buNone/>
            </a:pPr>
            <a:r>
              <a:rPr lang="en-US" sz="1300" b="1" dirty="0">
                <a:solidFill>
                  <a:srgbClr val="F0A030"/>
                </a:solidFill>
                <a:latin typeface="Arial" pitchFamily="34" charset="0"/>
                <a:ea typeface="Arial" pitchFamily="34" charset="-122"/>
                <a:cs typeface="Arial" pitchFamily="34" charset="-120"/>
              </a:rPr>
              <a:t>The conclusions hold for the tested setting — they are not population estimates for real fleets or cities.</a:t>
            </a:r>
            <a:endParaRPr lang="en-US" sz="1300" dirty="0"/>
          </a:p>
        </p:txBody>
      </p:sp>
      <p:sp>
        <p:nvSpPr>
          <p:cNvPr id="75" name="Text 72"/>
          <p:cNvSpPr txBox="1"/>
          <p:nvPr/>
        </p:nvSpPr>
        <p:spPr>
          <a:xfrm>
            <a:off x="11365992" y="6382512"/>
            <a:ext cx="365760" cy="274320"/>
          </a:xfrm>
          <a:prstGeom prst="rect">
            <a:avLst/>
          </a:prstGeom>
          <a:noFill/>
          <a:ln/>
        </p:spPr>
        <p:txBody>
          <a:bodyPr wrap="square" lIns="0" tIns="0" rIns="0" bIns="0" rtlCol="0" anchor="ctr"/>
          <a:lstStyle/>
          <a:p>
            <a:pPr algn="r" indent="0" marL="0">
              <a:buNone/>
            </a:pPr>
            <a:r>
              <a:rPr lang="en-US" sz="900" dirty="0">
                <a:solidFill>
                  <a:srgbClr val="7C8B96"/>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39454F"/>
        </a:solidFill>
      </p:bgPr>
    </p:bg>
    <p:spTree>
      <p:nvGrpSpPr>
        <p:cNvPr id="1" name=""/>
        <p:cNvGrpSpPr/>
        <p:nvPr/>
      </p:nvGrpSpPr>
      <p:grpSpPr>
        <a:xfrm>
          <a:off x="0" y="0"/>
          <a:ext cx="0" cy="0"/>
          <a:chOff x="0" y="0"/>
          <a:chExt cx="0" cy="0"/>
        </a:xfrm>
      </p:grpSpPr>
      <p:sp>
        <p:nvSpPr>
          <p:cNvPr id="3" name="Shape 0"/>
          <p:cNvSpPr/>
          <p:nvPr/>
        </p:nvSpPr>
        <p:spPr>
          <a:xfrm>
            <a:off x="201168" y="201168"/>
            <a:ext cx="384048" cy="0"/>
          </a:xfrm>
          <a:prstGeom prst="line">
            <a:avLst/>
          </a:prstGeom>
          <a:noFill/>
          <a:ln w="12700">
            <a:solidFill>
              <a:srgbClr val="66757F"/>
            </a:solidFill>
            <a:prstDash val="solid"/>
          </a:ln>
        </p:spPr>
      </p:sp>
      <p:sp>
        <p:nvSpPr>
          <p:cNvPr id="4" name="Shape 1"/>
          <p:cNvSpPr/>
          <p:nvPr/>
        </p:nvSpPr>
        <p:spPr>
          <a:xfrm>
            <a:off x="201168" y="201168"/>
            <a:ext cx="0" cy="384048"/>
          </a:xfrm>
          <a:prstGeom prst="line">
            <a:avLst/>
          </a:prstGeom>
          <a:noFill/>
          <a:ln w="12700">
            <a:solidFill>
              <a:srgbClr val="66757F"/>
            </a:solidFill>
            <a:prstDash val="solid"/>
          </a:ln>
        </p:spPr>
      </p:sp>
      <p:sp>
        <p:nvSpPr>
          <p:cNvPr id="5" name="Shape 2"/>
          <p:cNvSpPr/>
          <p:nvPr/>
        </p:nvSpPr>
        <p:spPr>
          <a:xfrm flipH="1">
            <a:off x="11603736" y="201168"/>
            <a:ext cx="384048" cy="0"/>
          </a:xfrm>
          <a:prstGeom prst="line">
            <a:avLst/>
          </a:prstGeom>
          <a:noFill/>
          <a:ln w="12700">
            <a:solidFill>
              <a:srgbClr val="66757F"/>
            </a:solidFill>
            <a:prstDash val="solid"/>
          </a:ln>
        </p:spPr>
      </p:sp>
      <p:sp>
        <p:nvSpPr>
          <p:cNvPr id="6" name="Shape 3"/>
          <p:cNvSpPr/>
          <p:nvPr/>
        </p:nvSpPr>
        <p:spPr>
          <a:xfrm>
            <a:off x="11987784" y="201168"/>
            <a:ext cx="0" cy="384048"/>
          </a:xfrm>
          <a:prstGeom prst="line">
            <a:avLst/>
          </a:prstGeom>
          <a:noFill/>
          <a:ln w="12700">
            <a:solidFill>
              <a:srgbClr val="66757F"/>
            </a:solidFill>
            <a:prstDash val="solid"/>
          </a:ln>
        </p:spPr>
      </p:sp>
      <p:sp>
        <p:nvSpPr>
          <p:cNvPr id="7" name="Shape 4"/>
          <p:cNvSpPr/>
          <p:nvPr/>
        </p:nvSpPr>
        <p:spPr>
          <a:xfrm>
            <a:off x="201168" y="6656832"/>
            <a:ext cx="384048" cy="0"/>
          </a:xfrm>
          <a:prstGeom prst="line">
            <a:avLst/>
          </a:prstGeom>
          <a:noFill/>
          <a:ln w="12700">
            <a:solidFill>
              <a:srgbClr val="66757F"/>
            </a:solidFill>
            <a:prstDash val="solid"/>
          </a:ln>
        </p:spPr>
      </p:sp>
      <p:sp>
        <p:nvSpPr>
          <p:cNvPr id="8" name="Shape 5"/>
          <p:cNvSpPr/>
          <p:nvPr/>
        </p:nvSpPr>
        <p:spPr>
          <a:xfrm flipV="1">
            <a:off x="201168" y="6272784"/>
            <a:ext cx="0" cy="384048"/>
          </a:xfrm>
          <a:prstGeom prst="line">
            <a:avLst/>
          </a:prstGeom>
          <a:noFill/>
          <a:ln w="12700">
            <a:solidFill>
              <a:srgbClr val="66757F"/>
            </a:solidFill>
            <a:prstDash val="solid"/>
          </a:ln>
        </p:spPr>
      </p:sp>
      <p:sp>
        <p:nvSpPr>
          <p:cNvPr id="9" name="Shape 6"/>
          <p:cNvSpPr/>
          <p:nvPr/>
        </p:nvSpPr>
        <p:spPr>
          <a:xfrm flipH="1">
            <a:off x="11603736" y="6656832"/>
            <a:ext cx="384048" cy="0"/>
          </a:xfrm>
          <a:prstGeom prst="line">
            <a:avLst/>
          </a:prstGeom>
          <a:noFill/>
          <a:ln w="12700">
            <a:solidFill>
              <a:srgbClr val="66757F"/>
            </a:solidFill>
            <a:prstDash val="solid"/>
          </a:ln>
        </p:spPr>
      </p:sp>
      <p:sp>
        <p:nvSpPr>
          <p:cNvPr id="10" name="Shape 7"/>
          <p:cNvSpPr/>
          <p:nvPr/>
        </p:nvSpPr>
        <p:spPr>
          <a:xfrm flipV="1">
            <a:off x="11987784" y="6272784"/>
            <a:ext cx="0" cy="384048"/>
          </a:xfrm>
          <a:prstGeom prst="line">
            <a:avLst/>
          </a:prstGeom>
          <a:noFill/>
          <a:ln w="12700">
            <a:solidFill>
              <a:srgbClr val="66757F"/>
            </a:solidFill>
            <a:prstDash val="solid"/>
          </a:ln>
        </p:spPr>
      </p:sp>
      <p:sp>
        <p:nvSpPr>
          <p:cNvPr id="11" name="Shape 8"/>
          <p:cNvSpPr/>
          <p:nvPr/>
        </p:nvSpPr>
        <p:spPr>
          <a:xfrm>
            <a:off x="6003036" y="182880"/>
            <a:ext cx="182880" cy="0"/>
          </a:xfrm>
          <a:prstGeom prst="line">
            <a:avLst/>
          </a:prstGeom>
          <a:noFill/>
          <a:ln w="12700">
            <a:solidFill>
              <a:srgbClr val="66757F"/>
            </a:solidFill>
            <a:prstDash val="solid"/>
          </a:ln>
        </p:spPr>
      </p:sp>
      <p:sp>
        <p:nvSpPr>
          <p:cNvPr id="12" name="Shape 9"/>
          <p:cNvSpPr/>
          <p:nvPr/>
        </p:nvSpPr>
        <p:spPr>
          <a:xfrm>
            <a:off x="6094476" y="91440"/>
            <a:ext cx="0" cy="182880"/>
          </a:xfrm>
          <a:prstGeom prst="line">
            <a:avLst/>
          </a:prstGeom>
          <a:noFill/>
          <a:ln w="12700">
            <a:solidFill>
              <a:srgbClr val="66757F"/>
            </a:solidFill>
            <a:prstDash val="solid"/>
          </a:ln>
        </p:spPr>
      </p:sp>
      <p:sp>
        <p:nvSpPr>
          <p:cNvPr id="13" name="Shape 10"/>
          <p:cNvSpPr/>
          <p:nvPr/>
        </p:nvSpPr>
        <p:spPr>
          <a:xfrm>
            <a:off x="6003036" y="6675120"/>
            <a:ext cx="182880" cy="0"/>
          </a:xfrm>
          <a:prstGeom prst="line">
            <a:avLst/>
          </a:prstGeom>
          <a:noFill/>
          <a:ln w="12700">
            <a:solidFill>
              <a:srgbClr val="66757F"/>
            </a:solidFill>
            <a:prstDash val="solid"/>
          </a:ln>
        </p:spPr>
      </p:sp>
      <p:sp>
        <p:nvSpPr>
          <p:cNvPr id="14" name="Shape 11"/>
          <p:cNvSpPr/>
          <p:nvPr/>
        </p:nvSpPr>
        <p:spPr>
          <a:xfrm>
            <a:off x="6094476" y="6583680"/>
            <a:ext cx="0" cy="182880"/>
          </a:xfrm>
          <a:prstGeom prst="line">
            <a:avLst/>
          </a:prstGeom>
          <a:noFill/>
          <a:ln w="12700">
            <a:solidFill>
              <a:srgbClr val="66757F"/>
            </a:solidFill>
            <a:prstDash val="solid"/>
          </a:ln>
        </p:spPr>
      </p:sp>
      <p:sp>
        <p:nvSpPr>
          <p:cNvPr id="15" name="Shape 12"/>
          <p:cNvSpPr/>
          <p:nvPr/>
        </p:nvSpPr>
        <p:spPr>
          <a:xfrm>
            <a:off x="91440" y="3429000"/>
            <a:ext cx="182880" cy="0"/>
          </a:xfrm>
          <a:prstGeom prst="line">
            <a:avLst/>
          </a:prstGeom>
          <a:noFill/>
          <a:ln w="12700">
            <a:solidFill>
              <a:srgbClr val="66757F"/>
            </a:solidFill>
            <a:prstDash val="solid"/>
          </a:ln>
        </p:spPr>
      </p:sp>
      <p:sp>
        <p:nvSpPr>
          <p:cNvPr id="16" name="Shape 13"/>
          <p:cNvSpPr/>
          <p:nvPr/>
        </p:nvSpPr>
        <p:spPr>
          <a:xfrm>
            <a:off x="182880" y="3337560"/>
            <a:ext cx="0" cy="182880"/>
          </a:xfrm>
          <a:prstGeom prst="line">
            <a:avLst/>
          </a:prstGeom>
          <a:noFill/>
          <a:ln w="12700">
            <a:solidFill>
              <a:srgbClr val="66757F"/>
            </a:solidFill>
            <a:prstDash val="solid"/>
          </a:ln>
        </p:spPr>
      </p:sp>
      <p:sp>
        <p:nvSpPr>
          <p:cNvPr id="17" name="Shape 14"/>
          <p:cNvSpPr/>
          <p:nvPr/>
        </p:nvSpPr>
        <p:spPr>
          <a:xfrm>
            <a:off x="11914632" y="3429000"/>
            <a:ext cx="182880" cy="0"/>
          </a:xfrm>
          <a:prstGeom prst="line">
            <a:avLst/>
          </a:prstGeom>
          <a:noFill/>
          <a:ln w="12700">
            <a:solidFill>
              <a:srgbClr val="66757F"/>
            </a:solidFill>
            <a:prstDash val="solid"/>
          </a:ln>
        </p:spPr>
      </p:sp>
      <p:sp>
        <p:nvSpPr>
          <p:cNvPr id="18" name="Shape 15"/>
          <p:cNvSpPr/>
          <p:nvPr/>
        </p:nvSpPr>
        <p:spPr>
          <a:xfrm>
            <a:off x="12006072" y="3337560"/>
            <a:ext cx="0" cy="182880"/>
          </a:xfrm>
          <a:prstGeom prst="line">
            <a:avLst/>
          </a:prstGeom>
          <a:noFill/>
          <a:ln w="12700">
            <a:solidFill>
              <a:srgbClr val="66757F"/>
            </a:solidFill>
            <a:prstDash val="solid"/>
          </a:ln>
        </p:spPr>
      </p:sp>
      <p:sp>
        <p:nvSpPr>
          <p:cNvPr id="19" name="Text 16"/>
          <p:cNvSpPr txBox="1"/>
          <p:nvPr/>
        </p:nvSpPr>
        <p:spPr>
          <a:xfrm>
            <a:off x="566928" y="329184"/>
            <a:ext cx="11064240" cy="566928"/>
          </a:xfrm>
          <a:prstGeom prst="rect">
            <a:avLst/>
          </a:prstGeom>
          <a:noFill/>
          <a:ln/>
        </p:spPr>
        <p:txBody>
          <a:bodyPr wrap="square" lIns="0" tIns="0" rIns="0" bIns="0" rtlCol="0" anchor="t"/>
          <a:lstStyle/>
          <a:p>
            <a:pPr indent="0" marL="0">
              <a:buNone/>
            </a:pPr>
            <a:r>
              <a:rPr lang="en-US" sz="2900" b="1" dirty="0">
                <a:solidFill>
                  <a:srgbClr val="FFFFFF"/>
                </a:solidFill>
                <a:latin typeface="Arial" pitchFamily="34" charset="0"/>
                <a:ea typeface="Arial" pitchFamily="34" charset="-122"/>
                <a:cs typeface="Arial" pitchFamily="34" charset="-120"/>
              </a:rPr>
              <a:t>Conclusion</a:t>
            </a:r>
            <a:endParaRPr lang="en-US" sz="2900" dirty="0"/>
          </a:p>
        </p:txBody>
      </p:sp>
      <p:sp>
        <p:nvSpPr>
          <p:cNvPr id="20" name="Shape 17"/>
          <p:cNvSpPr/>
          <p:nvPr/>
        </p:nvSpPr>
        <p:spPr>
          <a:xfrm>
            <a:off x="548640" y="1143000"/>
            <a:ext cx="11091672" cy="1234440"/>
          </a:xfrm>
          <a:prstGeom prst="roundRect">
            <a:avLst>
              <a:gd name="adj" fmla="val 4444"/>
            </a:avLst>
          </a:prstGeom>
          <a:solidFill>
            <a:srgbClr val="44515C"/>
          </a:solidFill>
          <a:ln w="12700">
            <a:solidFill>
              <a:srgbClr val="35D6E8"/>
            </a:solidFill>
            <a:prstDash val="solid"/>
          </a:ln>
        </p:spPr>
      </p:sp>
      <p:sp>
        <p:nvSpPr>
          <p:cNvPr id="21" name="Text 18"/>
          <p:cNvSpPr txBox="1"/>
          <p:nvPr/>
        </p:nvSpPr>
        <p:spPr>
          <a:xfrm>
            <a:off x="868680" y="1517904"/>
            <a:ext cx="10424160" cy="548640"/>
          </a:xfrm>
          <a:prstGeom prst="rect">
            <a:avLst/>
          </a:prstGeom>
          <a:noFill/>
          <a:ln/>
        </p:spPr>
        <p:txBody>
          <a:bodyPr wrap="square" lIns="0" tIns="0" rIns="0" bIns="0" rtlCol="0" anchor="t"/>
          <a:lstStyle/>
          <a:p>
            <a:pPr indent="0" marL="0">
              <a:buNone/>
            </a:pPr>
            <a:r>
              <a:rPr lang="en-US" sz="2100" b="1" dirty="0">
                <a:solidFill>
                  <a:srgbClr val="FFFFFF"/>
                </a:solidFill>
                <a:latin typeface="Arial" pitchFamily="34" charset="0"/>
                <a:ea typeface="Arial" pitchFamily="34" charset="-122"/>
                <a:cs typeface="Arial" pitchFamily="34" charset="-120"/>
              </a:rPr>
              <a:t>Attention can outlive its data — its presence is not proof that it explains the decision.</a:t>
            </a:r>
            <a:endParaRPr lang="en-US" sz="2100" dirty="0"/>
          </a:p>
        </p:txBody>
      </p:sp>
      <p:sp>
        <p:nvSpPr>
          <p:cNvPr id="22" name="Shape 19"/>
          <p:cNvSpPr/>
          <p:nvPr/>
        </p:nvSpPr>
        <p:spPr>
          <a:xfrm>
            <a:off x="548640" y="2788920"/>
            <a:ext cx="2606040" cy="2286000"/>
          </a:xfrm>
          <a:prstGeom prst="roundRect">
            <a:avLst>
              <a:gd name="adj" fmla="val 2400"/>
            </a:avLst>
          </a:prstGeom>
          <a:solidFill>
            <a:srgbClr val="2F3A43"/>
          </a:solidFill>
          <a:ln w="12700">
            <a:solidFill>
              <a:srgbClr val="35D6E8"/>
            </a:solidFill>
            <a:prstDash val="solid"/>
          </a:ln>
        </p:spPr>
      </p:sp>
      <p:sp>
        <p:nvSpPr>
          <p:cNvPr id="23" name="Text 20"/>
          <p:cNvSpPr txBox="1"/>
          <p:nvPr/>
        </p:nvSpPr>
        <p:spPr>
          <a:xfrm>
            <a:off x="777240" y="2999232"/>
            <a:ext cx="1097280" cy="457200"/>
          </a:xfrm>
          <a:prstGeom prst="rect">
            <a:avLst/>
          </a:prstGeom>
          <a:noFill/>
          <a:ln/>
        </p:spPr>
        <p:txBody>
          <a:bodyPr wrap="square" lIns="0" tIns="0" rIns="0" bIns="0" rtlCol="0" anchor="t"/>
          <a:lstStyle/>
          <a:p>
            <a:pPr indent="0" marL="0">
              <a:buNone/>
            </a:pPr>
            <a:r>
              <a:rPr lang="en-US" sz="2800" b="1" dirty="0">
                <a:solidFill>
                  <a:srgbClr val="35D6E8"/>
                </a:solidFill>
                <a:latin typeface="Arial" pitchFamily="34" charset="0"/>
                <a:ea typeface="Arial" pitchFamily="34" charset="-122"/>
                <a:cs typeface="Arial" pitchFamily="34" charset="-120"/>
              </a:rPr>
              <a:t>01</a:t>
            </a:r>
            <a:endParaRPr lang="en-US" sz="2800" dirty="0"/>
          </a:p>
        </p:txBody>
      </p:sp>
      <p:sp>
        <p:nvSpPr>
          <p:cNvPr id="24" name="Text 21"/>
          <p:cNvSpPr txBox="1"/>
          <p:nvPr/>
        </p:nvSpPr>
        <p:spPr>
          <a:xfrm>
            <a:off x="777240" y="3611880"/>
            <a:ext cx="2194560" cy="548640"/>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Paired benchmark</a:t>
            </a:r>
            <a:endParaRPr lang="en-US" sz="1350" dirty="0"/>
          </a:p>
        </p:txBody>
      </p:sp>
      <p:sp>
        <p:nvSpPr>
          <p:cNvPr id="25" name="Text 22"/>
          <p:cNvSpPr txBox="1"/>
          <p:nvPr/>
        </p:nvSpPr>
        <p:spPr>
          <a:xfrm>
            <a:off x="777240" y="4224528"/>
            <a:ext cx="2194560" cy="685800"/>
          </a:xfrm>
          <a:prstGeom prst="rect">
            <a:avLst/>
          </a:prstGeom>
          <a:noFill/>
          <a:ln/>
        </p:spPr>
        <p:txBody>
          <a:bodyPr wrap="square" lIns="0" tIns="0" rIns="0" bIns="0" rtlCol="0" anchor="t"/>
          <a:lstStyle/>
          <a:p>
            <a:pPr indent="0" marL="0">
              <a:lnSpc>
                <a:spcPct val="125000"/>
              </a:lnSpc>
              <a:buNone/>
            </a:pPr>
            <a:r>
              <a:rPr lang="en-US" sz="1150" dirty="0">
                <a:solidFill>
                  <a:srgbClr val="AFBDC8"/>
                </a:solidFill>
                <a:latin typeface="Arial" pitchFamily="34" charset="0"/>
                <a:ea typeface="Arial" pitchFamily="34" charset="-122"/>
                <a:cs typeface="Arial" pitchFamily="34" charset="-120"/>
              </a:rPr>
              <a:t>Two observations of one simulated state</a:t>
            </a:r>
            <a:endParaRPr lang="en-US" sz="1150" dirty="0"/>
          </a:p>
        </p:txBody>
      </p:sp>
      <p:sp>
        <p:nvSpPr>
          <p:cNvPr id="26" name="Shape 23"/>
          <p:cNvSpPr/>
          <p:nvPr/>
        </p:nvSpPr>
        <p:spPr>
          <a:xfrm>
            <a:off x="3374136" y="2788920"/>
            <a:ext cx="2606040" cy="2286000"/>
          </a:xfrm>
          <a:prstGeom prst="roundRect">
            <a:avLst>
              <a:gd name="adj" fmla="val 2400"/>
            </a:avLst>
          </a:prstGeom>
          <a:solidFill>
            <a:srgbClr val="2F3A43"/>
          </a:solidFill>
          <a:ln w="12700">
            <a:solidFill>
              <a:srgbClr val="35D6E8"/>
            </a:solidFill>
            <a:prstDash val="solid"/>
          </a:ln>
        </p:spPr>
      </p:sp>
      <p:sp>
        <p:nvSpPr>
          <p:cNvPr id="27" name="Text 24"/>
          <p:cNvSpPr txBox="1"/>
          <p:nvPr/>
        </p:nvSpPr>
        <p:spPr>
          <a:xfrm>
            <a:off x="3602736" y="2999232"/>
            <a:ext cx="1097280" cy="457200"/>
          </a:xfrm>
          <a:prstGeom prst="rect">
            <a:avLst/>
          </a:prstGeom>
          <a:noFill/>
          <a:ln/>
        </p:spPr>
        <p:txBody>
          <a:bodyPr wrap="square" lIns="0" tIns="0" rIns="0" bIns="0" rtlCol="0" anchor="t"/>
          <a:lstStyle/>
          <a:p>
            <a:pPr indent="0" marL="0">
              <a:buNone/>
            </a:pPr>
            <a:r>
              <a:rPr lang="en-US" sz="2800" b="1" dirty="0">
                <a:solidFill>
                  <a:srgbClr val="35D6E8"/>
                </a:solidFill>
                <a:latin typeface="Arial" pitchFamily="34" charset="0"/>
                <a:ea typeface="Arial" pitchFamily="34" charset="-122"/>
                <a:cs typeface="Arial" pitchFamily="34" charset="-120"/>
              </a:rPr>
              <a:t>02</a:t>
            </a:r>
            <a:endParaRPr lang="en-US" sz="2800" dirty="0"/>
          </a:p>
        </p:txBody>
      </p:sp>
      <p:sp>
        <p:nvSpPr>
          <p:cNvPr id="28" name="Text 25"/>
          <p:cNvSpPr txBox="1"/>
          <p:nvPr/>
        </p:nvSpPr>
        <p:spPr>
          <a:xfrm>
            <a:off x="3602736" y="3611880"/>
            <a:ext cx="2194560" cy="548640"/>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Action-aware protocol</a:t>
            </a:r>
            <a:endParaRPr lang="en-US" sz="1350" dirty="0"/>
          </a:p>
        </p:txBody>
      </p:sp>
      <p:sp>
        <p:nvSpPr>
          <p:cNvPr id="29" name="Text 26"/>
          <p:cNvSpPr txBox="1"/>
          <p:nvPr/>
        </p:nvSpPr>
        <p:spPr>
          <a:xfrm>
            <a:off x="3602736" y="4224528"/>
            <a:ext cx="2194560" cy="685800"/>
          </a:xfrm>
          <a:prstGeom prst="rect">
            <a:avLst/>
          </a:prstGeom>
          <a:noFill/>
          <a:ln/>
        </p:spPr>
        <p:txBody>
          <a:bodyPr wrap="square" lIns="0" tIns="0" rIns="0" bIns="0" rtlCol="0" anchor="t"/>
          <a:lstStyle/>
          <a:p>
            <a:pPr indent="0" marL="0">
              <a:lnSpc>
                <a:spcPct val="125000"/>
              </a:lnSpc>
              <a:buNone/>
            </a:pPr>
            <a:r>
              <a:rPr lang="en-US" sz="1150" dirty="0">
                <a:solidFill>
                  <a:srgbClr val="AFBDC8"/>
                </a:solidFill>
                <a:latin typeface="Arial" pitchFamily="34" charset="0"/>
                <a:ea typeface="Arial" pitchFamily="34" charset="-122"/>
                <a:cs typeface="Arial" pitchFamily="34" charset="-120"/>
              </a:rPr>
              <a:t>Type-matched, chosen-action protected</a:t>
            </a:r>
            <a:endParaRPr lang="en-US" sz="1150" dirty="0"/>
          </a:p>
        </p:txBody>
      </p:sp>
      <p:sp>
        <p:nvSpPr>
          <p:cNvPr id="30" name="Shape 27"/>
          <p:cNvSpPr/>
          <p:nvPr/>
        </p:nvSpPr>
        <p:spPr>
          <a:xfrm>
            <a:off x="6199632" y="2788920"/>
            <a:ext cx="2606040" cy="2286000"/>
          </a:xfrm>
          <a:prstGeom prst="roundRect">
            <a:avLst>
              <a:gd name="adj" fmla="val 2400"/>
            </a:avLst>
          </a:prstGeom>
          <a:solidFill>
            <a:srgbClr val="2F3A43"/>
          </a:solidFill>
          <a:ln w="12700">
            <a:solidFill>
              <a:srgbClr val="F0A030"/>
            </a:solidFill>
            <a:prstDash val="solid"/>
          </a:ln>
        </p:spPr>
      </p:sp>
      <p:sp>
        <p:nvSpPr>
          <p:cNvPr id="31" name="Text 28"/>
          <p:cNvSpPr txBox="1"/>
          <p:nvPr/>
        </p:nvSpPr>
        <p:spPr>
          <a:xfrm>
            <a:off x="6428232" y="2999232"/>
            <a:ext cx="1097280" cy="457200"/>
          </a:xfrm>
          <a:prstGeom prst="rect">
            <a:avLst/>
          </a:prstGeom>
          <a:noFill/>
          <a:ln/>
        </p:spPr>
        <p:txBody>
          <a:bodyPr wrap="square" lIns="0" tIns="0" rIns="0" bIns="0" rtlCol="0" anchor="t"/>
          <a:lstStyle/>
          <a:p>
            <a:pPr indent="0" marL="0">
              <a:buNone/>
            </a:pPr>
            <a:r>
              <a:rPr lang="en-US" sz="2800" b="1" dirty="0">
                <a:solidFill>
                  <a:srgbClr val="F0A030"/>
                </a:solidFill>
                <a:latin typeface="Arial" pitchFamily="34" charset="0"/>
                <a:ea typeface="Arial" pitchFamily="34" charset="-122"/>
                <a:cs typeface="Arial" pitchFamily="34" charset="-120"/>
              </a:rPr>
              <a:t>03</a:t>
            </a:r>
            <a:endParaRPr lang="en-US" sz="2800" dirty="0"/>
          </a:p>
        </p:txBody>
      </p:sp>
      <p:sp>
        <p:nvSpPr>
          <p:cNvPr id="32" name="Text 29"/>
          <p:cNvSpPr txBox="1"/>
          <p:nvPr/>
        </p:nvSpPr>
        <p:spPr>
          <a:xfrm>
            <a:off x="6428232" y="3611880"/>
            <a:ext cx="2194560" cy="548640"/>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Separated evidence</a:t>
            </a:r>
            <a:endParaRPr lang="en-US" sz="1350" dirty="0"/>
          </a:p>
        </p:txBody>
      </p:sp>
      <p:sp>
        <p:nvSpPr>
          <p:cNvPr id="33" name="Text 30"/>
          <p:cNvSpPr txBox="1"/>
          <p:nvPr/>
        </p:nvSpPr>
        <p:spPr>
          <a:xfrm>
            <a:off x="6428232" y="4224528"/>
            <a:ext cx="2194560" cy="685800"/>
          </a:xfrm>
          <a:prstGeom prst="rect">
            <a:avLst/>
          </a:prstGeom>
          <a:noFill/>
          <a:ln/>
        </p:spPr>
        <p:txBody>
          <a:bodyPr wrap="square" lIns="0" tIns="0" rIns="0" bIns="0" rtlCol="0" anchor="t"/>
          <a:lstStyle/>
          <a:p>
            <a:pPr indent="0" marL="0">
              <a:lnSpc>
                <a:spcPct val="125000"/>
              </a:lnSpc>
              <a:buNone/>
            </a:pPr>
            <a:r>
              <a:rPr lang="en-US" sz="1150" dirty="0">
                <a:solidFill>
                  <a:srgbClr val="AFBDC8"/>
                </a:solidFill>
                <a:latin typeface="Arial" pitchFamily="34" charset="0"/>
                <a:ea typeface="Arial" pitchFamily="34" charset="-122"/>
                <a:cs typeface="Arial" pitchFamily="34" charset="-120"/>
              </a:rPr>
              <a:t>Freshness and faithfulness reported apart</a:t>
            </a:r>
            <a:endParaRPr lang="en-US" sz="1150" dirty="0"/>
          </a:p>
        </p:txBody>
      </p:sp>
      <p:sp>
        <p:nvSpPr>
          <p:cNvPr id="34" name="Shape 31"/>
          <p:cNvSpPr/>
          <p:nvPr/>
        </p:nvSpPr>
        <p:spPr>
          <a:xfrm>
            <a:off x="9025128" y="2788920"/>
            <a:ext cx="2606040" cy="2286000"/>
          </a:xfrm>
          <a:prstGeom prst="roundRect">
            <a:avLst>
              <a:gd name="adj" fmla="val 2400"/>
            </a:avLst>
          </a:prstGeom>
          <a:solidFill>
            <a:srgbClr val="2F3A43"/>
          </a:solidFill>
          <a:ln w="12700">
            <a:solidFill>
              <a:srgbClr val="F0A030"/>
            </a:solidFill>
            <a:prstDash val="solid"/>
          </a:ln>
        </p:spPr>
      </p:sp>
      <p:sp>
        <p:nvSpPr>
          <p:cNvPr id="35" name="Text 32"/>
          <p:cNvSpPr txBox="1"/>
          <p:nvPr/>
        </p:nvSpPr>
        <p:spPr>
          <a:xfrm>
            <a:off x="9253728" y="2999232"/>
            <a:ext cx="1097280" cy="457200"/>
          </a:xfrm>
          <a:prstGeom prst="rect">
            <a:avLst/>
          </a:prstGeom>
          <a:noFill/>
          <a:ln/>
        </p:spPr>
        <p:txBody>
          <a:bodyPr wrap="square" lIns="0" tIns="0" rIns="0" bIns="0" rtlCol="0" anchor="t"/>
          <a:lstStyle/>
          <a:p>
            <a:pPr indent="0" marL="0">
              <a:buNone/>
            </a:pPr>
            <a:r>
              <a:rPr lang="en-US" sz="2800" b="1" dirty="0">
                <a:solidFill>
                  <a:srgbClr val="F0A030"/>
                </a:solidFill>
                <a:latin typeface="Arial" pitchFamily="34" charset="0"/>
                <a:ea typeface="Arial" pitchFamily="34" charset="-122"/>
                <a:cs typeface="Arial" pitchFamily="34" charset="-120"/>
              </a:rPr>
              <a:t>04</a:t>
            </a:r>
            <a:endParaRPr lang="en-US" sz="2800" dirty="0"/>
          </a:p>
        </p:txBody>
      </p:sp>
      <p:sp>
        <p:nvSpPr>
          <p:cNvPr id="36" name="Text 33"/>
          <p:cNvSpPr txBox="1"/>
          <p:nvPr/>
        </p:nvSpPr>
        <p:spPr>
          <a:xfrm>
            <a:off x="9253728" y="3611880"/>
            <a:ext cx="2194560" cy="548640"/>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Release audit</a:t>
            </a:r>
            <a:endParaRPr lang="en-US" sz="1350" dirty="0"/>
          </a:p>
        </p:txBody>
      </p:sp>
      <p:sp>
        <p:nvSpPr>
          <p:cNvPr id="37" name="Text 34"/>
          <p:cNvSpPr txBox="1"/>
          <p:nvPr/>
        </p:nvSpPr>
        <p:spPr>
          <a:xfrm>
            <a:off x="9253728" y="4224528"/>
            <a:ext cx="2194560" cy="685800"/>
          </a:xfrm>
          <a:prstGeom prst="rect">
            <a:avLst/>
          </a:prstGeom>
          <a:noFill/>
          <a:ln/>
        </p:spPr>
        <p:txBody>
          <a:bodyPr wrap="square" lIns="0" tIns="0" rIns="0" bIns="0" rtlCol="0" anchor="t"/>
          <a:lstStyle/>
          <a:p>
            <a:pPr indent="0" marL="0">
              <a:lnSpc>
                <a:spcPct val="125000"/>
              </a:lnSpc>
              <a:buNone/>
            </a:pPr>
            <a:r>
              <a:rPr lang="en-US" sz="1150" dirty="0">
                <a:solidFill>
                  <a:srgbClr val="AFBDC8"/>
                </a:solidFill>
                <a:latin typeface="Arial" pitchFamily="34" charset="0"/>
                <a:ea typeface="Arial" pitchFamily="34" charset="-122"/>
                <a:cs typeface="Arial" pitchFamily="34" charset="-120"/>
              </a:rPr>
              <a:t>ELIGIBLE / WITHHOLD / INCOMPLETE</a:t>
            </a:r>
            <a:endParaRPr lang="en-US" sz="1150" dirty="0"/>
          </a:p>
        </p:txBody>
      </p:sp>
      <p:sp>
        <p:nvSpPr>
          <p:cNvPr id="38" name="Text 35"/>
          <p:cNvSpPr txBox="1"/>
          <p:nvPr/>
        </p:nvSpPr>
        <p:spPr>
          <a:xfrm>
            <a:off x="548640" y="5349240"/>
            <a:ext cx="11091672" cy="365760"/>
          </a:xfrm>
          <a:prstGeom prst="rect">
            <a:avLst/>
          </a:prstGeom>
          <a:noFill/>
          <a:ln/>
        </p:spPr>
        <p:txBody>
          <a:bodyPr wrap="square" lIns="0" tIns="0" rIns="0" bIns="0" rtlCol="0" anchor="t"/>
          <a:lstStyle/>
          <a:p>
            <a:pPr algn="ctr" indent="0" marL="0">
              <a:buNone/>
            </a:pPr>
            <a:r>
              <a:rPr lang="en-US" sz="1900" b="1" dirty="0">
                <a:solidFill>
                  <a:srgbClr val="35D6E8"/>
                </a:solidFill>
                <a:latin typeface="Arial" pitchFamily="34" charset="0"/>
                <a:ea typeface="Arial" pitchFamily="34" charset="-122"/>
                <a:cs typeface="Arial" pitchFamily="34" charset="-120"/>
              </a:rPr>
              <a:t>An explanation must be demonstrated, not assumed.</a:t>
            </a:r>
            <a:endParaRPr lang="en-US" sz="1900" dirty="0"/>
          </a:p>
        </p:txBody>
      </p:sp>
      <p:sp>
        <p:nvSpPr>
          <p:cNvPr id="39" name="Text 36"/>
          <p:cNvSpPr txBox="1"/>
          <p:nvPr/>
        </p:nvSpPr>
        <p:spPr>
          <a:xfrm>
            <a:off x="548640" y="5852160"/>
            <a:ext cx="11091672" cy="320040"/>
          </a:xfrm>
          <a:prstGeom prst="rect">
            <a:avLst/>
          </a:prstGeom>
          <a:noFill/>
          <a:ln/>
        </p:spPr>
        <p:txBody>
          <a:bodyPr wrap="square" lIns="0" tIns="0" rIns="0" bIns="0" rtlCol="0" anchor="t"/>
          <a:lstStyle/>
          <a:p>
            <a:pPr algn="ctr" indent="0" marL="0">
              <a:buNone/>
            </a:pPr>
            <a:r>
              <a:rPr lang="en-US" sz="1300" dirty="0">
                <a:solidFill>
                  <a:srgbClr val="AFBDC8"/>
                </a:solidFill>
                <a:latin typeface="Arial" pitchFamily="34" charset="0"/>
                <a:ea typeface="Arial" pitchFamily="34" charset="-122"/>
                <a:cs typeface="Arial" pitchFamily="34" charset="-120"/>
              </a:rPr>
              <a:t>Thank you — the audit framework is open for your inspection.</a:t>
            </a:r>
            <a:endParaRPr lang="en-US" sz="1300" dirty="0"/>
          </a:p>
        </p:txBody>
      </p:sp>
      <p:sp>
        <p:nvSpPr>
          <p:cNvPr id="40" name="Text 37"/>
          <p:cNvSpPr txBox="1"/>
          <p:nvPr/>
        </p:nvSpPr>
        <p:spPr>
          <a:xfrm>
            <a:off x="11365992" y="6382512"/>
            <a:ext cx="365760" cy="274320"/>
          </a:xfrm>
          <a:prstGeom prst="rect">
            <a:avLst/>
          </a:prstGeom>
          <a:noFill/>
          <a:ln/>
        </p:spPr>
        <p:txBody>
          <a:bodyPr wrap="square" lIns="0" tIns="0" rIns="0" bIns="0" rtlCol="0" anchor="ctr"/>
          <a:lstStyle/>
          <a:p>
            <a:pPr algn="r" indent="0" marL="0">
              <a:buNone/>
            </a:pPr>
            <a:r>
              <a:rPr lang="en-US" sz="900" dirty="0">
                <a:solidFill>
                  <a:srgbClr val="7C8B96"/>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39454F"/>
        </a:solidFill>
      </p:bgPr>
    </p:bg>
    <p:spTree>
      <p:nvGrpSpPr>
        <p:cNvPr id="1" name=""/>
        <p:cNvGrpSpPr/>
        <p:nvPr/>
      </p:nvGrpSpPr>
      <p:grpSpPr>
        <a:xfrm>
          <a:off x="0" y="0"/>
          <a:ext cx="0" cy="0"/>
          <a:chOff x="0" y="0"/>
          <a:chExt cx="0" cy="0"/>
        </a:xfrm>
      </p:grpSpPr>
      <p:sp>
        <p:nvSpPr>
          <p:cNvPr id="3" name="Shape 0"/>
          <p:cNvSpPr/>
          <p:nvPr/>
        </p:nvSpPr>
        <p:spPr>
          <a:xfrm>
            <a:off x="201168" y="201168"/>
            <a:ext cx="384048" cy="0"/>
          </a:xfrm>
          <a:prstGeom prst="line">
            <a:avLst/>
          </a:prstGeom>
          <a:noFill/>
          <a:ln w="12700">
            <a:solidFill>
              <a:srgbClr val="66757F"/>
            </a:solidFill>
            <a:prstDash val="solid"/>
          </a:ln>
        </p:spPr>
      </p:sp>
      <p:sp>
        <p:nvSpPr>
          <p:cNvPr id="4" name="Shape 1"/>
          <p:cNvSpPr/>
          <p:nvPr/>
        </p:nvSpPr>
        <p:spPr>
          <a:xfrm>
            <a:off x="201168" y="201168"/>
            <a:ext cx="0" cy="384048"/>
          </a:xfrm>
          <a:prstGeom prst="line">
            <a:avLst/>
          </a:prstGeom>
          <a:noFill/>
          <a:ln w="12700">
            <a:solidFill>
              <a:srgbClr val="66757F"/>
            </a:solidFill>
            <a:prstDash val="solid"/>
          </a:ln>
        </p:spPr>
      </p:sp>
      <p:sp>
        <p:nvSpPr>
          <p:cNvPr id="5" name="Shape 2"/>
          <p:cNvSpPr/>
          <p:nvPr/>
        </p:nvSpPr>
        <p:spPr>
          <a:xfrm flipH="1">
            <a:off x="11603736" y="201168"/>
            <a:ext cx="384048" cy="0"/>
          </a:xfrm>
          <a:prstGeom prst="line">
            <a:avLst/>
          </a:prstGeom>
          <a:noFill/>
          <a:ln w="12700">
            <a:solidFill>
              <a:srgbClr val="66757F"/>
            </a:solidFill>
            <a:prstDash val="solid"/>
          </a:ln>
        </p:spPr>
      </p:sp>
      <p:sp>
        <p:nvSpPr>
          <p:cNvPr id="6" name="Shape 3"/>
          <p:cNvSpPr/>
          <p:nvPr/>
        </p:nvSpPr>
        <p:spPr>
          <a:xfrm>
            <a:off x="11987784" y="201168"/>
            <a:ext cx="0" cy="384048"/>
          </a:xfrm>
          <a:prstGeom prst="line">
            <a:avLst/>
          </a:prstGeom>
          <a:noFill/>
          <a:ln w="12700">
            <a:solidFill>
              <a:srgbClr val="66757F"/>
            </a:solidFill>
            <a:prstDash val="solid"/>
          </a:ln>
        </p:spPr>
      </p:sp>
      <p:sp>
        <p:nvSpPr>
          <p:cNvPr id="7" name="Shape 4"/>
          <p:cNvSpPr/>
          <p:nvPr/>
        </p:nvSpPr>
        <p:spPr>
          <a:xfrm>
            <a:off x="201168" y="6656832"/>
            <a:ext cx="384048" cy="0"/>
          </a:xfrm>
          <a:prstGeom prst="line">
            <a:avLst/>
          </a:prstGeom>
          <a:noFill/>
          <a:ln w="12700">
            <a:solidFill>
              <a:srgbClr val="66757F"/>
            </a:solidFill>
            <a:prstDash val="solid"/>
          </a:ln>
        </p:spPr>
      </p:sp>
      <p:sp>
        <p:nvSpPr>
          <p:cNvPr id="8" name="Shape 5"/>
          <p:cNvSpPr/>
          <p:nvPr/>
        </p:nvSpPr>
        <p:spPr>
          <a:xfrm flipV="1">
            <a:off x="201168" y="6272784"/>
            <a:ext cx="0" cy="384048"/>
          </a:xfrm>
          <a:prstGeom prst="line">
            <a:avLst/>
          </a:prstGeom>
          <a:noFill/>
          <a:ln w="12700">
            <a:solidFill>
              <a:srgbClr val="66757F"/>
            </a:solidFill>
            <a:prstDash val="solid"/>
          </a:ln>
        </p:spPr>
      </p:sp>
      <p:sp>
        <p:nvSpPr>
          <p:cNvPr id="9" name="Shape 6"/>
          <p:cNvSpPr/>
          <p:nvPr/>
        </p:nvSpPr>
        <p:spPr>
          <a:xfrm flipH="1">
            <a:off x="11603736" y="6656832"/>
            <a:ext cx="384048" cy="0"/>
          </a:xfrm>
          <a:prstGeom prst="line">
            <a:avLst/>
          </a:prstGeom>
          <a:noFill/>
          <a:ln w="12700">
            <a:solidFill>
              <a:srgbClr val="66757F"/>
            </a:solidFill>
            <a:prstDash val="solid"/>
          </a:ln>
        </p:spPr>
      </p:sp>
      <p:sp>
        <p:nvSpPr>
          <p:cNvPr id="10" name="Shape 7"/>
          <p:cNvSpPr/>
          <p:nvPr/>
        </p:nvSpPr>
        <p:spPr>
          <a:xfrm flipV="1">
            <a:off x="11987784" y="6272784"/>
            <a:ext cx="0" cy="384048"/>
          </a:xfrm>
          <a:prstGeom prst="line">
            <a:avLst/>
          </a:prstGeom>
          <a:noFill/>
          <a:ln w="12700">
            <a:solidFill>
              <a:srgbClr val="66757F"/>
            </a:solidFill>
            <a:prstDash val="solid"/>
          </a:ln>
        </p:spPr>
      </p:sp>
      <p:sp>
        <p:nvSpPr>
          <p:cNvPr id="11" name="Shape 8"/>
          <p:cNvSpPr/>
          <p:nvPr/>
        </p:nvSpPr>
        <p:spPr>
          <a:xfrm>
            <a:off x="6003036" y="182880"/>
            <a:ext cx="182880" cy="0"/>
          </a:xfrm>
          <a:prstGeom prst="line">
            <a:avLst/>
          </a:prstGeom>
          <a:noFill/>
          <a:ln w="12700">
            <a:solidFill>
              <a:srgbClr val="66757F"/>
            </a:solidFill>
            <a:prstDash val="solid"/>
          </a:ln>
        </p:spPr>
      </p:sp>
      <p:sp>
        <p:nvSpPr>
          <p:cNvPr id="12" name="Shape 9"/>
          <p:cNvSpPr/>
          <p:nvPr/>
        </p:nvSpPr>
        <p:spPr>
          <a:xfrm>
            <a:off x="6094476" y="91440"/>
            <a:ext cx="0" cy="182880"/>
          </a:xfrm>
          <a:prstGeom prst="line">
            <a:avLst/>
          </a:prstGeom>
          <a:noFill/>
          <a:ln w="12700">
            <a:solidFill>
              <a:srgbClr val="66757F"/>
            </a:solidFill>
            <a:prstDash val="solid"/>
          </a:ln>
        </p:spPr>
      </p:sp>
      <p:sp>
        <p:nvSpPr>
          <p:cNvPr id="13" name="Shape 10"/>
          <p:cNvSpPr/>
          <p:nvPr/>
        </p:nvSpPr>
        <p:spPr>
          <a:xfrm>
            <a:off x="6003036" y="6675120"/>
            <a:ext cx="182880" cy="0"/>
          </a:xfrm>
          <a:prstGeom prst="line">
            <a:avLst/>
          </a:prstGeom>
          <a:noFill/>
          <a:ln w="12700">
            <a:solidFill>
              <a:srgbClr val="66757F"/>
            </a:solidFill>
            <a:prstDash val="solid"/>
          </a:ln>
        </p:spPr>
      </p:sp>
      <p:sp>
        <p:nvSpPr>
          <p:cNvPr id="14" name="Shape 11"/>
          <p:cNvSpPr/>
          <p:nvPr/>
        </p:nvSpPr>
        <p:spPr>
          <a:xfrm>
            <a:off x="6094476" y="6583680"/>
            <a:ext cx="0" cy="182880"/>
          </a:xfrm>
          <a:prstGeom prst="line">
            <a:avLst/>
          </a:prstGeom>
          <a:noFill/>
          <a:ln w="12700">
            <a:solidFill>
              <a:srgbClr val="66757F"/>
            </a:solidFill>
            <a:prstDash val="solid"/>
          </a:ln>
        </p:spPr>
      </p:sp>
      <p:sp>
        <p:nvSpPr>
          <p:cNvPr id="15" name="Shape 12"/>
          <p:cNvSpPr/>
          <p:nvPr/>
        </p:nvSpPr>
        <p:spPr>
          <a:xfrm>
            <a:off x="91440" y="3429000"/>
            <a:ext cx="182880" cy="0"/>
          </a:xfrm>
          <a:prstGeom prst="line">
            <a:avLst/>
          </a:prstGeom>
          <a:noFill/>
          <a:ln w="12700">
            <a:solidFill>
              <a:srgbClr val="66757F"/>
            </a:solidFill>
            <a:prstDash val="solid"/>
          </a:ln>
        </p:spPr>
      </p:sp>
      <p:sp>
        <p:nvSpPr>
          <p:cNvPr id="16" name="Shape 13"/>
          <p:cNvSpPr/>
          <p:nvPr/>
        </p:nvSpPr>
        <p:spPr>
          <a:xfrm>
            <a:off x="182880" y="3337560"/>
            <a:ext cx="0" cy="182880"/>
          </a:xfrm>
          <a:prstGeom prst="line">
            <a:avLst/>
          </a:prstGeom>
          <a:noFill/>
          <a:ln w="12700">
            <a:solidFill>
              <a:srgbClr val="66757F"/>
            </a:solidFill>
            <a:prstDash val="solid"/>
          </a:ln>
        </p:spPr>
      </p:sp>
      <p:sp>
        <p:nvSpPr>
          <p:cNvPr id="17" name="Shape 14"/>
          <p:cNvSpPr/>
          <p:nvPr/>
        </p:nvSpPr>
        <p:spPr>
          <a:xfrm>
            <a:off x="11914632" y="3429000"/>
            <a:ext cx="182880" cy="0"/>
          </a:xfrm>
          <a:prstGeom prst="line">
            <a:avLst/>
          </a:prstGeom>
          <a:noFill/>
          <a:ln w="12700">
            <a:solidFill>
              <a:srgbClr val="66757F"/>
            </a:solidFill>
            <a:prstDash val="solid"/>
          </a:ln>
        </p:spPr>
      </p:sp>
      <p:sp>
        <p:nvSpPr>
          <p:cNvPr id="18" name="Shape 15"/>
          <p:cNvSpPr/>
          <p:nvPr/>
        </p:nvSpPr>
        <p:spPr>
          <a:xfrm>
            <a:off x="12006072" y="3337560"/>
            <a:ext cx="0" cy="182880"/>
          </a:xfrm>
          <a:prstGeom prst="line">
            <a:avLst/>
          </a:prstGeom>
          <a:noFill/>
          <a:ln w="12700">
            <a:solidFill>
              <a:srgbClr val="66757F"/>
            </a:solidFill>
            <a:prstDash val="solid"/>
          </a:ln>
        </p:spPr>
      </p:sp>
      <p:sp>
        <p:nvSpPr>
          <p:cNvPr id="19" name="Text 16"/>
          <p:cNvSpPr txBox="1"/>
          <p:nvPr/>
        </p:nvSpPr>
        <p:spPr>
          <a:xfrm>
            <a:off x="566928" y="329184"/>
            <a:ext cx="11064240" cy="566928"/>
          </a:xfrm>
          <a:prstGeom prst="rect">
            <a:avLst/>
          </a:prstGeom>
          <a:noFill/>
          <a:ln/>
        </p:spPr>
        <p:txBody>
          <a:bodyPr wrap="square" lIns="0" tIns="0" rIns="0" bIns="0" rtlCol="0" anchor="t"/>
          <a:lstStyle/>
          <a:p>
            <a:pPr indent="0" marL="0">
              <a:buNone/>
            </a:pPr>
            <a:r>
              <a:rPr lang="en-US" sz="2900" b="1" dirty="0">
                <a:solidFill>
                  <a:srgbClr val="FFFFFF"/>
                </a:solidFill>
                <a:latin typeface="Arial" pitchFamily="34" charset="0"/>
                <a:ea typeface="Arial" pitchFamily="34" charset="-122"/>
                <a:cs typeface="Arial" pitchFamily="34" charset="-120"/>
              </a:rPr>
              <a:t>Backup — Anticipated Questions</a:t>
            </a:r>
            <a:endParaRPr lang="en-US" sz="2900" dirty="0"/>
          </a:p>
        </p:txBody>
      </p:sp>
      <p:sp>
        <p:nvSpPr>
          <p:cNvPr id="20" name="Shape 17"/>
          <p:cNvSpPr/>
          <p:nvPr/>
        </p:nvSpPr>
        <p:spPr>
          <a:xfrm>
            <a:off x="548640" y="1188720"/>
            <a:ext cx="5486400" cy="2240280"/>
          </a:xfrm>
          <a:prstGeom prst="roundRect">
            <a:avLst>
              <a:gd name="adj" fmla="val 2449"/>
            </a:avLst>
          </a:prstGeom>
          <a:solidFill>
            <a:srgbClr val="2F3A43"/>
          </a:solidFill>
          <a:ln w="12700">
            <a:solidFill>
              <a:srgbClr val="35D6E8"/>
            </a:solidFill>
            <a:prstDash val="solid"/>
          </a:ln>
        </p:spPr>
      </p:sp>
      <p:sp>
        <p:nvSpPr>
          <p:cNvPr id="21" name="Shape 18"/>
          <p:cNvSpPr/>
          <p:nvPr/>
        </p:nvSpPr>
        <p:spPr>
          <a:xfrm>
            <a:off x="813816" y="1380744"/>
            <a:ext cx="384048" cy="384048"/>
          </a:xfrm>
          <a:prstGeom prst="ellipse">
            <a:avLst/>
          </a:prstGeom>
          <a:solidFill>
            <a:srgbClr val="35D6E8"/>
          </a:solidFill>
          <a:ln w="12700">
            <a:solidFill>
              <a:srgbClr val="35D6E8"/>
            </a:solidFill>
            <a:prstDash val="solid"/>
          </a:ln>
        </p:spPr>
      </p:sp>
      <p:sp>
        <p:nvSpPr>
          <p:cNvPr id="22" name="Text 19"/>
          <p:cNvSpPr txBox="1"/>
          <p:nvPr/>
        </p:nvSpPr>
        <p:spPr>
          <a:xfrm>
            <a:off x="813816" y="1463040"/>
            <a:ext cx="384048" cy="237744"/>
          </a:xfrm>
          <a:prstGeom prst="rect">
            <a:avLst/>
          </a:prstGeom>
          <a:noFill/>
          <a:ln/>
        </p:spPr>
        <p:txBody>
          <a:bodyPr wrap="square" lIns="0" tIns="0" rIns="0" bIns="0" rtlCol="0" anchor="t"/>
          <a:lstStyle/>
          <a:p>
            <a:pPr algn="ctr" indent="0" marL="0">
              <a:buNone/>
            </a:pPr>
            <a:r>
              <a:rPr lang="en-US" sz="1200" b="1" dirty="0">
                <a:solidFill>
                  <a:srgbClr val="1F2830"/>
                </a:solidFill>
                <a:latin typeface="Arial" pitchFamily="34" charset="0"/>
                <a:ea typeface="Arial" pitchFamily="34" charset="-122"/>
                <a:cs typeface="Arial" pitchFamily="34" charset="-120"/>
              </a:rPr>
              <a:t>Q</a:t>
            </a:r>
            <a:endParaRPr lang="en-US" sz="1200" dirty="0"/>
          </a:p>
        </p:txBody>
      </p:sp>
      <p:sp>
        <p:nvSpPr>
          <p:cNvPr id="23" name="Text 20"/>
          <p:cNvSpPr txBox="1"/>
          <p:nvPr/>
        </p:nvSpPr>
        <p:spPr>
          <a:xfrm>
            <a:off x="1417320" y="1389888"/>
            <a:ext cx="4389120" cy="548640"/>
          </a:xfrm>
          <a:prstGeom prst="rect">
            <a:avLst/>
          </a:prstGeom>
          <a:noFill/>
          <a:ln/>
        </p:spPr>
        <p:txBody>
          <a:bodyPr wrap="square" lIns="0" tIns="0" rIns="0" bIns="0" rtlCol="0" anchor="t"/>
          <a:lstStyle/>
          <a:p>
            <a:pPr indent="0" marL="0">
              <a:lnSpc>
                <a:spcPct val="120000"/>
              </a:lnSpc>
              <a:buNone/>
            </a:pPr>
            <a:r>
              <a:rPr lang="en-US" sz="1300" b="1" dirty="0">
                <a:solidFill>
                  <a:srgbClr val="35D6E8"/>
                </a:solidFill>
                <a:latin typeface="Arial" pitchFamily="34" charset="0"/>
                <a:ea typeface="Arial" pitchFamily="34" charset="-122"/>
                <a:cs typeface="Arial" pitchFamily="34" charset="-120"/>
              </a:rPr>
              <a:t>Does negative DEF mean attention is anti-correlated?</a:t>
            </a:r>
            <a:endParaRPr lang="en-US" sz="1300" dirty="0"/>
          </a:p>
        </p:txBody>
      </p:sp>
      <p:sp>
        <p:nvSpPr>
          <p:cNvPr id="24" name="Text 21"/>
          <p:cNvSpPr txBox="1"/>
          <p:nvPr/>
        </p:nvSpPr>
        <p:spPr>
          <a:xfrm>
            <a:off x="822960" y="2057400"/>
            <a:ext cx="4983480" cy="1051560"/>
          </a:xfrm>
          <a:prstGeom prst="rect">
            <a:avLst/>
          </a:prstGeom>
          <a:noFill/>
          <a:ln/>
        </p:spPr>
        <p:txBody>
          <a:bodyPr wrap="square" lIns="0" tIns="0" rIns="0" bIns="0" rtlCol="0" anchor="t"/>
          <a:lstStyle/>
          <a:p>
            <a:pPr indent="0" marL="0">
              <a:lnSpc>
                <a:spcPct val="135000"/>
              </a:lnSpc>
              <a:buNone/>
            </a:pPr>
            <a:r>
              <a:rPr lang="en-US" sz="1250" dirty="0">
                <a:solidFill>
                  <a:srgbClr val="FFFFFF"/>
                </a:solidFill>
                <a:latin typeface="Arial" pitchFamily="34" charset="0"/>
                <a:ea typeface="Arial" pitchFamily="34" charset="-122"/>
                <a:cs typeface="Arial" pitchFamily="34" charset="-120"/>
              </a:rPr>
              <a:t>No. Small graphs make random and explanation sets overlap, which compresses resolution. The claim is bounded to this evaluator.</a:t>
            </a:r>
            <a:endParaRPr lang="en-US" sz="1250" dirty="0"/>
          </a:p>
        </p:txBody>
      </p:sp>
      <p:sp>
        <p:nvSpPr>
          <p:cNvPr id="25" name="Shape 22"/>
          <p:cNvSpPr/>
          <p:nvPr/>
        </p:nvSpPr>
        <p:spPr>
          <a:xfrm>
            <a:off x="6153912" y="1188720"/>
            <a:ext cx="5486400" cy="2240280"/>
          </a:xfrm>
          <a:prstGeom prst="roundRect">
            <a:avLst>
              <a:gd name="adj" fmla="val 2449"/>
            </a:avLst>
          </a:prstGeom>
          <a:solidFill>
            <a:srgbClr val="2F3A43"/>
          </a:solidFill>
          <a:ln w="12700">
            <a:solidFill>
              <a:srgbClr val="F0A030"/>
            </a:solidFill>
            <a:prstDash val="solid"/>
          </a:ln>
        </p:spPr>
      </p:sp>
      <p:sp>
        <p:nvSpPr>
          <p:cNvPr id="26" name="Shape 23"/>
          <p:cNvSpPr/>
          <p:nvPr/>
        </p:nvSpPr>
        <p:spPr>
          <a:xfrm>
            <a:off x="6419088" y="1380744"/>
            <a:ext cx="384048" cy="384048"/>
          </a:xfrm>
          <a:prstGeom prst="ellipse">
            <a:avLst/>
          </a:prstGeom>
          <a:solidFill>
            <a:srgbClr val="F0A030"/>
          </a:solidFill>
          <a:ln w="12700">
            <a:solidFill>
              <a:srgbClr val="F0A030"/>
            </a:solidFill>
            <a:prstDash val="solid"/>
          </a:ln>
        </p:spPr>
      </p:sp>
      <p:sp>
        <p:nvSpPr>
          <p:cNvPr id="27" name="Text 24"/>
          <p:cNvSpPr txBox="1"/>
          <p:nvPr/>
        </p:nvSpPr>
        <p:spPr>
          <a:xfrm>
            <a:off x="6419088" y="1463040"/>
            <a:ext cx="384048" cy="237744"/>
          </a:xfrm>
          <a:prstGeom prst="rect">
            <a:avLst/>
          </a:prstGeom>
          <a:noFill/>
          <a:ln/>
        </p:spPr>
        <p:txBody>
          <a:bodyPr wrap="square" lIns="0" tIns="0" rIns="0" bIns="0" rtlCol="0" anchor="t"/>
          <a:lstStyle/>
          <a:p>
            <a:pPr algn="ctr" indent="0" marL="0">
              <a:buNone/>
            </a:pPr>
            <a:r>
              <a:rPr lang="en-US" sz="1200" b="1" dirty="0">
                <a:solidFill>
                  <a:srgbClr val="1F2830"/>
                </a:solidFill>
                <a:latin typeface="Arial" pitchFamily="34" charset="0"/>
                <a:ea typeface="Arial" pitchFamily="34" charset="-122"/>
                <a:cs typeface="Arial" pitchFamily="34" charset="-120"/>
              </a:rPr>
              <a:t>Q</a:t>
            </a:r>
            <a:endParaRPr lang="en-US" sz="1200" dirty="0"/>
          </a:p>
        </p:txBody>
      </p:sp>
      <p:sp>
        <p:nvSpPr>
          <p:cNvPr id="28" name="Text 25"/>
          <p:cNvSpPr txBox="1"/>
          <p:nvPr/>
        </p:nvSpPr>
        <p:spPr>
          <a:xfrm>
            <a:off x="7022592" y="1389888"/>
            <a:ext cx="4389120" cy="548640"/>
          </a:xfrm>
          <a:prstGeom prst="rect">
            <a:avLst/>
          </a:prstGeom>
          <a:noFill/>
          <a:ln/>
        </p:spPr>
        <p:txBody>
          <a:bodyPr wrap="square" lIns="0" tIns="0" rIns="0" bIns="0" rtlCol="0" anchor="t"/>
          <a:lstStyle/>
          <a:p>
            <a:pPr indent="0" marL="0">
              <a:lnSpc>
                <a:spcPct val="120000"/>
              </a:lnSpc>
              <a:buNone/>
            </a:pPr>
            <a:r>
              <a:rPr lang="en-US" sz="1300" b="1" dirty="0">
                <a:solidFill>
                  <a:srgbClr val="F0A030"/>
                </a:solidFill>
                <a:latin typeface="Arial" pitchFamily="34" charset="0"/>
                <a:ea typeface="Arial" pitchFamily="34" charset="-122"/>
                <a:cs typeface="Arial" pitchFamily="34" charset="-120"/>
              </a:rPr>
              <a:t>Why not choose a better aggregation?</a:t>
            </a:r>
            <a:endParaRPr lang="en-US" sz="1300" dirty="0"/>
          </a:p>
        </p:txBody>
      </p:sp>
      <p:sp>
        <p:nvSpPr>
          <p:cNvPr id="29" name="Text 26"/>
          <p:cNvSpPr txBox="1"/>
          <p:nvPr/>
        </p:nvSpPr>
        <p:spPr>
          <a:xfrm>
            <a:off x="6428232" y="2057400"/>
            <a:ext cx="4983480" cy="1051560"/>
          </a:xfrm>
          <a:prstGeom prst="rect">
            <a:avLst/>
          </a:prstGeom>
          <a:noFill/>
          <a:ln/>
        </p:spPr>
        <p:txBody>
          <a:bodyPr wrap="square" lIns="0" tIns="0" rIns="0" bIns="0" rtlCol="0" anchor="t"/>
          <a:lstStyle/>
          <a:p>
            <a:pPr indent="0" marL="0">
              <a:lnSpc>
                <a:spcPct val="135000"/>
              </a:lnSpc>
              <a:buNone/>
            </a:pPr>
            <a:r>
              <a:rPr lang="en-US" sz="1250" dirty="0">
                <a:solidFill>
                  <a:srgbClr val="FFFFFF"/>
                </a:solidFill>
                <a:latin typeface="Arial" pitchFamily="34" charset="0"/>
                <a:ea typeface="Arial" pitchFamily="34" charset="-122"/>
                <a:cs typeface="Arial" pitchFamily="34" charset="-120"/>
              </a:rPr>
              <a:t>It was declared before evaluation. Choosing afterwards would be selective reporting; the sensitivity analysis reports the alternatives.</a:t>
            </a:r>
            <a:endParaRPr lang="en-US" sz="1250" dirty="0"/>
          </a:p>
        </p:txBody>
      </p:sp>
      <p:sp>
        <p:nvSpPr>
          <p:cNvPr id="30" name="Shape 27"/>
          <p:cNvSpPr/>
          <p:nvPr/>
        </p:nvSpPr>
        <p:spPr>
          <a:xfrm>
            <a:off x="548640" y="3584448"/>
            <a:ext cx="5486400" cy="2240280"/>
          </a:xfrm>
          <a:prstGeom prst="roundRect">
            <a:avLst>
              <a:gd name="adj" fmla="val 2449"/>
            </a:avLst>
          </a:prstGeom>
          <a:solidFill>
            <a:srgbClr val="2F3A43"/>
          </a:solidFill>
          <a:ln w="12700">
            <a:solidFill>
              <a:srgbClr val="35D6E8"/>
            </a:solidFill>
            <a:prstDash val="solid"/>
          </a:ln>
        </p:spPr>
      </p:sp>
      <p:sp>
        <p:nvSpPr>
          <p:cNvPr id="31" name="Shape 28"/>
          <p:cNvSpPr/>
          <p:nvPr/>
        </p:nvSpPr>
        <p:spPr>
          <a:xfrm>
            <a:off x="813816" y="3776472"/>
            <a:ext cx="384048" cy="384048"/>
          </a:xfrm>
          <a:prstGeom prst="ellipse">
            <a:avLst/>
          </a:prstGeom>
          <a:solidFill>
            <a:srgbClr val="35D6E8"/>
          </a:solidFill>
          <a:ln w="12700">
            <a:solidFill>
              <a:srgbClr val="35D6E8"/>
            </a:solidFill>
            <a:prstDash val="solid"/>
          </a:ln>
        </p:spPr>
      </p:sp>
      <p:sp>
        <p:nvSpPr>
          <p:cNvPr id="32" name="Text 29"/>
          <p:cNvSpPr txBox="1"/>
          <p:nvPr/>
        </p:nvSpPr>
        <p:spPr>
          <a:xfrm>
            <a:off x="813816" y="3858768"/>
            <a:ext cx="384048" cy="237744"/>
          </a:xfrm>
          <a:prstGeom prst="rect">
            <a:avLst/>
          </a:prstGeom>
          <a:noFill/>
          <a:ln/>
        </p:spPr>
        <p:txBody>
          <a:bodyPr wrap="square" lIns="0" tIns="0" rIns="0" bIns="0" rtlCol="0" anchor="t"/>
          <a:lstStyle/>
          <a:p>
            <a:pPr algn="ctr" indent="0" marL="0">
              <a:buNone/>
            </a:pPr>
            <a:r>
              <a:rPr lang="en-US" sz="1200" b="1" dirty="0">
                <a:solidFill>
                  <a:srgbClr val="1F2830"/>
                </a:solidFill>
                <a:latin typeface="Arial" pitchFamily="34" charset="0"/>
                <a:ea typeface="Arial" pitchFamily="34" charset="-122"/>
                <a:cs typeface="Arial" pitchFamily="34" charset="-120"/>
              </a:rPr>
              <a:t>Q</a:t>
            </a:r>
            <a:endParaRPr lang="en-US" sz="1200" dirty="0"/>
          </a:p>
        </p:txBody>
      </p:sp>
      <p:sp>
        <p:nvSpPr>
          <p:cNvPr id="33" name="Text 30"/>
          <p:cNvSpPr txBox="1"/>
          <p:nvPr/>
        </p:nvSpPr>
        <p:spPr>
          <a:xfrm>
            <a:off x="1417320" y="3785616"/>
            <a:ext cx="4389120" cy="548640"/>
          </a:xfrm>
          <a:prstGeom prst="rect">
            <a:avLst/>
          </a:prstGeom>
          <a:noFill/>
          <a:ln/>
        </p:spPr>
        <p:txBody>
          <a:bodyPr wrap="square" lIns="0" tIns="0" rIns="0" bIns="0" rtlCol="0" anchor="t"/>
          <a:lstStyle/>
          <a:p>
            <a:pPr indent="0" marL="0">
              <a:lnSpc>
                <a:spcPct val="120000"/>
              </a:lnSpc>
              <a:buNone/>
            </a:pPr>
            <a:r>
              <a:rPr lang="en-US" sz="1300" b="1" dirty="0">
                <a:solidFill>
                  <a:srgbClr val="35D6E8"/>
                </a:solidFill>
                <a:latin typeface="Arial" pitchFamily="34" charset="0"/>
                <a:ea typeface="Arial" pitchFamily="34" charset="-122"/>
                <a:cs typeface="Arial" pitchFamily="34" charset="-120"/>
              </a:rPr>
              <a:t>Is WITHHOLD a failed experiment?</a:t>
            </a:r>
            <a:endParaRPr lang="en-US" sz="1300" dirty="0"/>
          </a:p>
        </p:txBody>
      </p:sp>
      <p:sp>
        <p:nvSpPr>
          <p:cNvPr id="34" name="Text 31"/>
          <p:cNvSpPr txBox="1"/>
          <p:nvPr/>
        </p:nvSpPr>
        <p:spPr>
          <a:xfrm>
            <a:off x="822960" y="4453128"/>
            <a:ext cx="4983480" cy="1051560"/>
          </a:xfrm>
          <a:prstGeom prst="rect">
            <a:avLst/>
          </a:prstGeom>
          <a:noFill/>
          <a:ln/>
        </p:spPr>
        <p:txBody>
          <a:bodyPr wrap="square" lIns="0" tIns="0" rIns="0" bIns="0" rtlCol="0" anchor="t"/>
          <a:lstStyle/>
          <a:p>
            <a:pPr indent="0" marL="0">
              <a:lnSpc>
                <a:spcPct val="135000"/>
              </a:lnSpc>
              <a:buNone/>
            </a:pPr>
            <a:r>
              <a:rPr lang="en-US" sz="1250" dirty="0">
                <a:solidFill>
                  <a:srgbClr val="FFFFFF"/>
                </a:solidFill>
                <a:latin typeface="Arial" pitchFamily="34" charset="0"/>
                <a:ea typeface="Arial" pitchFamily="34" charset="-122"/>
                <a:cs typeface="Arial" pitchFamily="34" charset="-120"/>
              </a:rPr>
              <a:t>No. The audit completed. Software tests confirm complete passing evidence returns ELIGIBLE, so the rejection path works.</a:t>
            </a:r>
            <a:endParaRPr lang="en-US" sz="1250" dirty="0"/>
          </a:p>
        </p:txBody>
      </p:sp>
      <p:sp>
        <p:nvSpPr>
          <p:cNvPr id="35" name="Shape 32"/>
          <p:cNvSpPr/>
          <p:nvPr/>
        </p:nvSpPr>
        <p:spPr>
          <a:xfrm>
            <a:off x="6153912" y="3584448"/>
            <a:ext cx="5486400" cy="2240280"/>
          </a:xfrm>
          <a:prstGeom prst="roundRect">
            <a:avLst>
              <a:gd name="adj" fmla="val 2449"/>
            </a:avLst>
          </a:prstGeom>
          <a:solidFill>
            <a:srgbClr val="2F3A43"/>
          </a:solidFill>
          <a:ln w="12700">
            <a:solidFill>
              <a:srgbClr val="F0A030"/>
            </a:solidFill>
            <a:prstDash val="solid"/>
          </a:ln>
        </p:spPr>
      </p:sp>
      <p:sp>
        <p:nvSpPr>
          <p:cNvPr id="36" name="Shape 33"/>
          <p:cNvSpPr/>
          <p:nvPr/>
        </p:nvSpPr>
        <p:spPr>
          <a:xfrm>
            <a:off x="6419088" y="3776472"/>
            <a:ext cx="384048" cy="384048"/>
          </a:xfrm>
          <a:prstGeom prst="ellipse">
            <a:avLst/>
          </a:prstGeom>
          <a:solidFill>
            <a:srgbClr val="F0A030"/>
          </a:solidFill>
          <a:ln w="12700">
            <a:solidFill>
              <a:srgbClr val="F0A030"/>
            </a:solidFill>
            <a:prstDash val="solid"/>
          </a:ln>
        </p:spPr>
      </p:sp>
      <p:sp>
        <p:nvSpPr>
          <p:cNvPr id="37" name="Text 34"/>
          <p:cNvSpPr txBox="1"/>
          <p:nvPr/>
        </p:nvSpPr>
        <p:spPr>
          <a:xfrm>
            <a:off x="6419088" y="3858768"/>
            <a:ext cx="384048" cy="237744"/>
          </a:xfrm>
          <a:prstGeom prst="rect">
            <a:avLst/>
          </a:prstGeom>
          <a:noFill/>
          <a:ln/>
        </p:spPr>
        <p:txBody>
          <a:bodyPr wrap="square" lIns="0" tIns="0" rIns="0" bIns="0" rtlCol="0" anchor="t"/>
          <a:lstStyle/>
          <a:p>
            <a:pPr algn="ctr" indent="0" marL="0">
              <a:buNone/>
            </a:pPr>
            <a:r>
              <a:rPr lang="en-US" sz="1200" b="1" dirty="0">
                <a:solidFill>
                  <a:srgbClr val="1F2830"/>
                </a:solidFill>
                <a:latin typeface="Arial" pitchFamily="34" charset="0"/>
                <a:ea typeface="Arial" pitchFamily="34" charset="-122"/>
                <a:cs typeface="Arial" pitchFamily="34" charset="-120"/>
              </a:rPr>
              <a:t>Q</a:t>
            </a:r>
            <a:endParaRPr lang="en-US" sz="1200" dirty="0"/>
          </a:p>
        </p:txBody>
      </p:sp>
      <p:sp>
        <p:nvSpPr>
          <p:cNvPr id="38" name="Text 35"/>
          <p:cNvSpPr txBox="1"/>
          <p:nvPr/>
        </p:nvSpPr>
        <p:spPr>
          <a:xfrm>
            <a:off x="7022592" y="3785616"/>
            <a:ext cx="4389120" cy="548640"/>
          </a:xfrm>
          <a:prstGeom prst="rect">
            <a:avLst/>
          </a:prstGeom>
          <a:noFill/>
          <a:ln/>
        </p:spPr>
        <p:txBody>
          <a:bodyPr wrap="square" lIns="0" tIns="0" rIns="0" bIns="0" rtlCol="0" anchor="t"/>
          <a:lstStyle/>
          <a:p>
            <a:pPr indent="0" marL="0">
              <a:lnSpc>
                <a:spcPct val="120000"/>
              </a:lnSpc>
              <a:buNone/>
            </a:pPr>
            <a:r>
              <a:rPr lang="en-US" sz="1300" b="1" dirty="0">
                <a:solidFill>
                  <a:srgbClr val="F0A030"/>
                </a:solidFill>
                <a:latin typeface="Arial" pitchFamily="34" charset="0"/>
                <a:ea typeface="Arial" pitchFamily="34" charset="-122"/>
                <a:cs typeface="Arial" pitchFamily="34" charset="-120"/>
              </a:rPr>
              <a:t>Why simulation rather than a real fleet?</a:t>
            </a:r>
            <a:endParaRPr lang="en-US" sz="1300" dirty="0"/>
          </a:p>
        </p:txBody>
      </p:sp>
      <p:sp>
        <p:nvSpPr>
          <p:cNvPr id="39" name="Text 36"/>
          <p:cNvSpPr txBox="1"/>
          <p:nvPr/>
        </p:nvSpPr>
        <p:spPr>
          <a:xfrm>
            <a:off x="6428232" y="4453128"/>
            <a:ext cx="4983480" cy="1051560"/>
          </a:xfrm>
          <a:prstGeom prst="rect">
            <a:avLst/>
          </a:prstGeom>
          <a:noFill/>
          <a:ln/>
        </p:spPr>
        <p:txBody>
          <a:bodyPr wrap="square" lIns="0" tIns="0" rIns="0" bIns="0" rtlCol="0" anchor="t"/>
          <a:lstStyle/>
          <a:p>
            <a:pPr indent="0" marL="0">
              <a:lnSpc>
                <a:spcPct val="135000"/>
              </a:lnSpc>
              <a:buNone/>
            </a:pPr>
            <a:r>
              <a:rPr lang="en-US" sz="1250" dirty="0">
                <a:solidFill>
                  <a:srgbClr val="FFFFFF"/>
                </a:solidFill>
                <a:latin typeface="Arial" pitchFamily="34" charset="0"/>
                <a:ea typeface="Arial" pitchFamily="34" charset="-122"/>
                <a:cs typeface="Arial" pitchFamily="34" charset="-120"/>
              </a:rPr>
              <a:t>The clean twin needs the true state at the same step. A real fleet cannot supply that pairing.</a:t>
            </a:r>
            <a:endParaRPr lang="en-US" sz="1250" dirty="0"/>
          </a:p>
        </p:txBody>
      </p:sp>
      <p:sp>
        <p:nvSpPr>
          <p:cNvPr id="40" name="Text 37"/>
          <p:cNvSpPr txBox="1"/>
          <p:nvPr/>
        </p:nvSpPr>
        <p:spPr>
          <a:xfrm>
            <a:off x="548640" y="6035040"/>
            <a:ext cx="11091672" cy="457200"/>
          </a:xfrm>
          <a:prstGeom prst="rect">
            <a:avLst/>
          </a:prstGeom>
          <a:noFill/>
          <a:ln/>
        </p:spPr>
        <p:txBody>
          <a:bodyPr wrap="square" lIns="0" tIns="0" rIns="0" bIns="0" rtlCol="0" anchor="t"/>
          <a:lstStyle/>
          <a:p>
            <a:pPr indent="0" marL="0">
              <a:lnSpc>
                <a:spcPct val="115000"/>
              </a:lnSpc>
              <a:buNone/>
            </a:pPr>
            <a:r>
              <a:rPr lang="en-US" sz="950" i="1" dirty="0">
                <a:solidFill>
                  <a:srgbClr val="93A2AD"/>
                </a:solidFill>
                <a:latin typeface="Arial" pitchFamily="34" charset="0"/>
                <a:ea typeface="Arial" pitchFamily="34" charset="-122"/>
                <a:cs typeface="Arial" pitchFamily="34" charset="-120"/>
              </a:rPr>
              <a:t>Full statistics, hypothesis tables and per-checkpoint results are in Chapter 4 of the dissertation.</a:t>
            </a:r>
            <a:endParaRPr lang="en-US" sz="950" dirty="0"/>
          </a:p>
        </p:txBody>
      </p:sp>
      <p:sp>
        <p:nvSpPr>
          <p:cNvPr id="41" name="Text 38"/>
          <p:cNvSpPr txBox="1"/>
          <p:nvPr/>
        </p:nvSpPr>
        <p:spPr>
          <a:xfrm>
            <a:off x="11365992" y="6382512"/>
            <a:ext cx="365760" cy="274320"/>
          </a:xfrm>
          <a:prstGeom prst="rect">
            <a:avLst/>
          </a:prstGeom>
          <a:noFill/>
          <a:ln/>
        </p:spPr>
        <p:txBody>
          <a:bodyPr wrap="square" lIns="0" tIns="0" rIns="0" bIns="0" rtlCol="0" anchor="ctr"/>
          <a:lstStyle/>
          <a:p>
            <a:pPr algn="r" indent="0" marL="0">
              <a:buNone/>
            </a:pPr>
            <a:r>
              <a:rPr lang="en-US" sz="900" dirty="0">
                <a:solidFill>
                  <a:srgbClr val="7C8B96"/>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Explanations Outlive Their Data - VIVA</dc:title>
  <dc:subject>PptxGenJS Presentation</dc:subject>
  <dc:creator>Hongwei Lin</dc:creator>
  <cp:lastModifiedBy>Hongwei Lin</cp:lastModifiedBy>
  <cp:revision>1</cp:revision>
  <dcterms:created xsi:type="dcterms:W3CDTF">2026-09-08T22:24:15Z</dcterms:created>
  <dcterms:modified xsi:type="dcterms:W3CDTF">2026-09-08T22:24:15Z</dcterms:modified>
</cp:coreProperties>
</file>